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2B2A"/>
                </a:solidFill>
                <a:latin typeface="Calibri"/>
              </a:defRPr>
            </a:pPr>
            <a:r>
              <a:rPr sz="1500" b="0" i="0" u="none" strike="noStrike">
                <a:solidFill>
                  <a:srgbClr val="1E2B2A"/>
                </a:solidFill>
                <a:latin typeface="Calibri"/>
              </a:rPr>
              <a:t>Invoice sample: 9 invoices</a:t>
            </a:r>
          </a:p>
        </c:rich>
      </c:tx>
      <c:layout/>
      <c:overlay val="0"/>
    </c:title>
    <c:autoTitleDeleted val="0"/>
    <c:plotArea>
      <c:layout/>
      <c:doughnutChart>
        <c:varyColors val="1"/>
        <c:ser>
          <c:idx val="0"/>
          <c:order val="0"/>
          <c:tx>
            <c:strRef>
              <c:f>Sheet1!$B$1</c:f>
              <c:strCache>
                <c:ptCount val="1"/>
                <c:pt idx="0">
                  <c:v>Nightly batch</c:v>
                </c:pt>
              </c:strCache>
            </c:strRef>
          </c:tx>
          <c:spPr>
            <a:solidFill>
              <a:schemeClr val="accent1"/>
            </a:solidFill>
            <a:ln w="9525" cap="flat">
              <a:solidFill>
                <a:srgbClr val="F9F9F9"/>
              </a:solidFill>
              <a:prstDash val="solid"/>
              <a:round/>
            </a:ln>
            <a:effectLst/>
          </c:spPr>
          <c:dPt>
            <c:idx val="0"/>
            <c:bubble3D val="0"/>
            <c:spPr>
              <a:solidFill>
                <a:srgbClr val="1F6F6B"/>
              </a:solidFill>
              <a:effectLst/>
            </c:spPr>
          </c:dPt>
          <c:dPt>
            <c:idx val="1"/>
            <c:bubble3D val="0"/>
            <c:spPr>
              <a:solidFill>
                <a:srgbClr val="7FB3AD"/>
              </a:solidFill>
              <a:effectLst/>
            </c:spPr>
          </c:dPt>
          <c:dPt>
            <c:idx val="2"/>
            <c:bubble3D val="0"/>
            <c:spPr>
              <a:solidFill>
                <a:srgbClr val="D9901A"/>
              </a:solidFill>
              <a:effectLst/>
            </c:spPr>
          </c:dPt>
          <c:dLbls>
            <c:dLbl>
              <c:idx val="0"/>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6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Refused by rules</c:v>
                </c:pt>
                <c:pt idx="1">
                  <c:v>Resolved by arithmetic</c:v>
                </c:pt>
                <c:pt idx="2">
                  <c:v>Routed to AI judgment</c:v>
                </c:pt>
              </c:strCache>
            </c:strRef>
          </c:cat>
          <c:val>
            <c:numRef>
              <c:f>Sheet1!$B$2:$B$4</c:f>
              <c:numCache>
                <c:ptCount val="3"/>
                <c:pt idx="0">
                  <c:v>3</c:v>
                </c:pt>
                <c:pt idx="1">
                  <c:v>2</c:v>
                </c:pt>
                <c:pt idx="2">
                  <c:v>4</c:v>
                </c:pt>
              </c:numCache>
            </c:numRef>
          </c:val>
        </c:ser>
        <c:firstSliceAng val="0"/>
        <c:holeSize val="58"/>
      </c:doughnutChart>
      <c:spPr>
        <a:noFill/>
        <a:ln>
          <a:noFill/>
        </a:ln>
        <a:effectLst/>
      </c:spPr>
    </c:plotArea>
    <c:legend>
      <c:legendPos val="b"/>
      <c:overlay val="0"/>
      <c:txPr>
        <a:bodyPr/>
        <a:lstStyle/>
        <a:p>
          <a:pPr>
            <a:defRPr sz="13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E6B6A"/>
                </a:solidFill>
                <a:latin typeface="Calibri"/>
              </a:defRPr>
            </a:pPr>
            <a:r>
              <a:rPr sz="1400" b="0" i="0" u="none" strike="noStrike">
                <a:solidFill>
                  <a:srgbClr val="5E6B6A"/>
                </a:solidFill>
                <a:latin typeface="Calibri"/>
              </a:rPr>
              <a:t>Illustrative: velocity during harness adoption</a:t>
            </a:r>
          </a:p>
        </c:rich>
      </c:tx>
      <c:layout/>
      <c:overlay val="0"/>
    </c:title>
    <c:autoTitleDeleted val="0"/>
    <c:plotArea>
      <c:layout/>
      <c:lineChart>
        <c:varyColors val="0"/>
        <c:ser>
          <c:idx val="0"/>
          <c:order val="0"/>
          <c:tx>
            <c:strRef>
              <c:f>Sheet1!$B$1</c:f>
              <c:strCache>
                <c:ptCount val="1"/>
                <c:pt idx="0">
                  <c:v>Delivery velocity</c:v>
                </c:pt>
              </c:strCache>
            </c:strRef>
          </c:tx>
          <c:spPr>
            <a:solidFill>
              <a:srgbClr val="1F6F6B"/>
            </a:solidFill>
            <a:ln w="38100" cap="flat">
              <a:solidFill>
                <a:srgbClr val="1F6F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6F6B"/>
              </a:solidFill>
              <a:ln w="9525" cap="flat">
                <a:solidFill>
                  <a:srgbClr val="1F6F6B"/>
                </a:solidFill>
                <a:prstDash val="solid"/>
                <a:round/>
              </a:ln>
              <a:effectLst/>
            </c:spPr>
          </c:marker>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Sheet1!$B$2:$B$9</c:f>
              <c:numCache>
                <c:formatCode>General</c:formatCode>
                <c:ptCount val="8"/>
                <c:pt idx="0">
                  <c:v>100</c:v>
                </c:pt>
                <c:pt idx="1">
                  <c:v>82</c:v>
                </c:pt>
                <c:pt idx="2">
                  <c:v>72</c:v>
                </c:pt>
                <c:pt idx="3">
                  <c:v>78</c:v>
                </c:pt>
                <c:pt idx="4">
                  <c:v>98</c:v>
                </c:pt>
                <c:pt idx="5">
                  <c:v>128</c:v>
                </c:pt>
                <c:pt idx="6">
                  <c:v>165</c:v>
                </c:pt>
                <c:pt idx="7">
                  <c:v>210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6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here has used a chatbot. Today is about something different: the agentic harness. Models are rented and commoditizing. The durable IP is the harness: the architecture, rules, and controls that turn organizational know-how into repeatable, defensible execution. The harness governs two worlds: cognitive pipelines that reason through non-linear work such as software creation, and operational execution that runs core workflows with deterministic reliability. As a CTO I build from the ground up, so today we focus on operational execution and total cost of ownership. By the end you will draw a harness on paper and defend where your IP resides.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and leadership move balance sheets; enthusiasm does not. Four facts define the mandate. First, the harness blends two worlds: cognitive pipelines that reason through open-ended work such as software engineering, and operational execution that runs routine workflows reliably. Second, your growth targets already assume agentic acceleration; the contest is execution velocity and market capture. Third, the cost structure rewards design: a one-time design spend yields a low marginal cost of execution, and the spread between token spend and value created becomes margin. Fourth, models are probabilistic. Your job is to bound that variance, control it, and direct it toward economic yield. We need business architects who balance predictable TCO against TVR while building proprietary harness IP.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carry the session. First, the model is rented; the harness is owned. Second, code is the default and AI is reserved for judgment. Third, the business case covers the full lifecycle, and the unit of measure is cost per completed decision. Everything after this slide supports one of these three.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Value Realized is the ceiling: revenue expansion, velocity, and margin unlocked when intelligent systems execute at scale. Total Cost of Ownership is the floor: what it takes to run those systems reliably. Advantage is the spread between the two. We set the TVR target here, then spend the rest of the session on TCO. TVR modeling gets a dedicated session.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artifacts are the components of the live system you will see. Artifacts one through five are the ledgers, budgets, controls, and pipelines that protect the business. Artifact six, the deterministic split, governs the other five, so that is where the hands-on work starts. The next slides take them in order of importance, not number.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TCO stack has seven layers. Token charges are typically the smallest line; human oversight and platform assurance form the operational core. Two layers are one-time capital: design and build, and periodic lifecycle upgrades. Five recur. Treat a vendor model release as a scheduled re-verification cost, not an emergency. A business case that counts only licenses and tokens is a quote, not a TCO.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It is a capital allocation decision. Deterministic steps cost nothing per run once coded, behave identically every time, and satisfy auditors. Probabilistic steps provide reasoning but charge per execution and vary. Default to code for routine logic and deploy AI where judgment creates value. If two competent managers always handle a step the same way, it is a business rule, not a prompt. Moving rules from prompts into code lowers the operating floor permanently.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seven-step method converts a business process into an agentic system. Steps one and two establish the TCO baseline. Step three, defining the unit of work, is the highest-leverage decision. Step five isolates judgment so you pay for tokens only where reasoning creates value. Step seven names the signer and the financial target. In the workshop you apply steps three through six to a live process on paper.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you are about to see runs under one operating standard. It has three parts: a method that converts a described process into a design, a validator that checks every design against 22 rules, and gates that apply the company's thresholds in code. The standard carries the organization's assets: processes, KPIs, budgets, risk tolerance, and security posture. Because those assets live in the standard, the business leader sticks to their knitting: process design. SecOps, DevOps, and OpEx practice arrive with every conversion. The model is rented and available to every competitor. The operating standard is owned, and it is the IP.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run these checks? To be certain the organization's specifics are implemented, on every design and every run, at zero token cost. Three layers. First, the input is screened by a rule before any model reads it; in the demo, an invoice memo that told the system to skip a check was refused. Second, the validator checks every generated design against 22 rules and blocks on any error; two you will recognize: V3 requires a named approver, because the machine never approves its own work, and V12 requires exactly one thinking step, one decision point per unit of work. Third, gates apply the company's thresholds in code during every run. Discovery questions for the room: Who is your named approver? What variance closes without judgment? What exposure needs a second approver? Which decision must stay at one? Each answer is a line in your operating standard.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system. Three moves. First, describe a real business process in plain language. Second, watch the harness split it: fixed rules become code at zero marginal cost; judgment steps route to the model. Third, run a nightly batch and show the cost ledger and evidence store filling in. The next slide shows the numbers from that run. (Demo time as scheduled)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invoice sample. This is live data from the system behind this session. Of nine incoming invoices, deterministic rules refused three and arithmetic completed two, at zero token cost. Four required judgment and went to inference. Average design generation cost is 25.6 cents per workflow across 29 metered runs; 34 designs were generated in total, five of them stubs. Two numbers are not shown yet: inference spend for the four judgment calls, and reviewer time per unit. Those are metered in your own environment; an estimated figure would sit beside measured ones, so they remain open.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 four replaces quarterly guesswork with continuous control. All five assets are deterministic and consume no tokens. They log exact spend, record proof of every decision, enforce named sign-off, and verify integrity before every release. Build them in stage two, during design; each records evidence that cannot be reconstructed later, and that evidence is what proves the result to boards and auditors.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commitments, not enthusiasm. Capture the manual baseline first, or the result cannot be proven. Release NRE one stage at a time. Name a single-threaded approver while enthusiasm is high. Write the exit threshold down before launch; that number is the clearest signal a proposal is honest. Shift procurement from billable hours and API calls to verified completed decisions. Reserve slides follow for questions.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in sequence. Each answers a question that reliably comes from an executive audience; the NRE roadmap and the J-curve are the most likely. If nobody asks, skip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NRE is upfront design capital. Four stages, each with an exit condition. Stage one sets an undisputed baseline so every efficiency gain is measurable. Stage two is the architectural work that creates leverage. Stages three and four move from prototype to autonomous execution. A market or model change reopens stage two intentionally.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engineering is unfamiliar work with little market experience behind it. Told only to do more with less, teams default to ad hoc scripts and hacked prompts, which is technical debt, not IP. Leaders need NRE air cover and should sell the J-curve: velocity dips while engineers learn harness patterns and build reusable standards, then the exchange rate improves. In this system, generating a validated workflow design averages about 26 cents per run. The curve shown is conceptual, not measured.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cost combines compute and human expertise. Token costs are small and falling; human oversight protects quality. When a harness makes a task much cheaper, demand for that task rises: a top-line opportunity and a capacity problem at once. Plan review capacity so your best managers direct throughput instead of performing the work.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per completed decision is the unit metric. Term one is architecture: filter noise deterministically and reserve reasoning for what needs it. Term two is where productivity is won: structured evidence packages shorten review. Term three compounds: verified execution earns higher autonomy. The alert and review-time figures on this slide are illustrative examples, not measurements from this system.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rigor stays; it becomes automated. Five design review gates once took months of calendar coordination and paper sign-off. Gates three and four now run in seconds as machine checks on every iteration, leaving immutable logs. Leaders stay in control where judgment matters: intent at the start and acceptance at release.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public companies and regulated industries, the harness embeds verification in execution: every change, approval, and output leaves a tamper-evident trail. The new issue is the last line. A vendor model upgrade changes your control environment without notice. Treat it as a change event and re-verify automatically. Inference: few organizations do this today, and it is likely to become an audit finding.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metric here originates in an automated control; a KPI with no asset behind it is an intention. Watch the refusal rate: a system that flags exceptions shows its guardrails work, and one that has never refused anything has never been tested. Capture the manual baseline before deployment, and align vendor contracts to verified completed outcomes.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continues after go-live: monthly unit cost, quarterly oversight and autonomy review, and automatic re-verification whenever a vendor updates a model. Name a single-threaded owner and set the exit threshold before launch.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2F"/>
        </a:solidFill>
      </p:bgPr>
    </p:bg>
    <p:spTree>
      <p:nvGrpSpPr>
        <p:cNvPr id="1" name=""/>
        <p:cNvGrpSpPr/>
        <p:nvPr/>
      </p:nvGrpSpPr>
      <p:grpSpPr>
        <a:xfrm>
          <a:off x="0" y="0"/>
          <a:ext cx="0" cy="0"/>
          <a:chOff x="0" y="0"/>
          <a:chExt cx="0" cy="0"/>
        </a:xfrm>
      </p:grpSpPr>
      <p:sp>
        <p:nvSpPr>
          <p:cNvPr id="2" name="Text 0"/>
          <p:cNvSpPr txBox="1"/>
          <p:nvPr/>
        </p:nvSpPr>
        <p:spPr>
          <a:xfrm>
            <a:off x="731520" y="1463040"/>
            <a:ext cx="6400800" cy="320040"/>
          </a:xfrm>
          <a:prstGeom prst="rect">
            <a:avLst/>
          </a:prstGeom>
          <a:noFill/>
          <a:ln/>
        </p:spPr>
        <p:txBody>
          <a:bodyPr wrap="square" lIns="0" tIns="0" rIns="0" bIns="0" rtlCol="0" anchor="ctr"/>
          <a:lstStyle/>
          <a:p>
            <a:pPr indent="0" marL="0">
              <a:buNone/>
            </a:pPr>
            <a:r>
              <a:rPr lang="en-US" sz="1300" b="1" spc="300" kern="0" dirty="0">
                <a:solidFill>
                  <a:srgbClr val="D9901A"/>
                </a:solidFill>
                <a:latin typeface="Calibri" pitchFamily="34" charset="0"/>
                <a:ea typeface="Calibri" pitchFamily="34" charset="-122"/>
                <a:cs typeface="Calibri" pitchFamily="34" charset="-120"/>
              </a:rPr>
              <a:t>EXECUTIVE BRIEFING</a:t>
            </a:r>
            <a:endParaRPr lang="en-US" sz="1300" dirty="0"/>
          </a:p>
        </p:txBody>
      </p:sp>
      <p:sp>
        <p:nvSpPr>
          <p:cNvPr id="3" name="Text 1"/>
          <p:cNvSpPr txBox="1"/>
          <p:nvPr/>
        </p:nvSpPr>
        <p:spPr>
          <a:xfrm>
            <a:off x="731520" y="1874520"/>
            <a:ext cx="676656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Agentic Harness</a:t>
            </a:r>
            <a:endParaRPr lang="en-US" sz="5400" dirty="0"/>
          </a:p>
        </p:txBody>
      </p:sp>
      <p:sp>
        <p:nvSpPr>
          <p:cNvPr id="4" name="Text 2"/>
          <p:cNvSpPr txBox="1"/>
          <p:nvPr/>
        </p:nvSpPr>
        <p:spPr>
          <a:xfrm>
            <a:off x="731520" y="3063240"/>
            <a:ext cx="6217920" cy="914400"/>
          </a:xfrm>
          <a:prstGeom prst="rect">
            <a:avLst/>
          </a:prstGeom>
          <a:noFill/>
          <a:ln/>
        </p:spPr>
        <p:txBody>
          <a:bodyPr wrap="square" lIns="0" tIns="0" rIns="0" bIns="0" rtlCol="0" anchor="t"/>
          <a:lstStyle/>
          <a:p>
            <a:pPr indent="0" marL="0">
              <a:buNone/>
            </a:pPr>
            <a:r>
              <a:rPr lang="en-US" sz="2200" dirty="0">
                <a:solidFill>
                  <a:srgbClr val="C9DAD7"/>
                </a:solidFill>
                <a:latin typeface="Calibri" pitchFamily="34" charset="0"/>
                <a:ea typeface="Calibri" pitchFamily="34" charset="-122"/>
                <a:cs typeface="Calibri" pitchFamily="34" charset="-120"/>
              </a:rPr>
              <a:t>Where durable AI intellectual property lives, and what it costs to own</a:t>
            </a:r>
            <a:endParaRPr lang="en-US" sz="2200" dirty="0"/>
          </a:p>
        </p:txBody>
      </p:sp>
      <p:sp>
        <p:nvSpPr>
          <p:cNvPr id="5" name="Text 3"/>
          <p:cNvSpPr txBox="1"/>
          <p:nvPr/>
        </p:nvSpPr>
        <p:spPr>
          <a:xfrm>
            <a:off x="731520" y="5852160"/>
            <a:ext cx="10058400" cy="320040"/>
          </a:xfrm>
          <a:prstGeom prst="rect">
            <a:avLst/>
          </a:prstGeom>
          <a:noFill/>
          <a:ln/>
        </p:spPr>
        <p:txBody>
          <a:bodyPr wrap="square" lIns="0" tIns="0" rIns="0" bIns="0" rtlCol="0" anchor="ctr"/>
          <a:lstStyle/>
          <a:p>
            <a:pPr indent="0" marL="0">
              <a:buNone/>
            </a:pPr>
            <a:r>
              <a:rPr lang="en-US" sz="1200" dirty="0">
                <a:solidFill>
                  <a:srgbClr val="A9BEBB"/>
                </a:solidFill>
                <a:latin typeface="Calibri" pitchFamily="34" charset="0"/>
                <a:ea typeface="Calibri" pitchFamily="34" charset="-122"/>
                <a:cs typeface="Calibri" pitchFamily="34" charset="-120"/>
              </a:rPr>
              <a:t>Chris “Buzz” O’Neil, MSEE  |  September 23, 2026  |  EDGE Academy, Wichita State University</a:t>
            </a:r>
            <a:endParaRPr lang="en-US" sz="1200" dirty="0"/>
          </a:p>
        </p:txBody>
      </p:sp>
      <p:sp>
        <p:nvSpPr>
          <p:cNvPr id="6" name="Shape 4"/>
          <p:cNvSpPr/>
          <p:nvPr/>
        </p:nvSpPr>
        <p:spPr>
          <a:xfrm>
            <a:off x="7406640" y="1371600"/>
            <a:ext cx="3017520" cy="3017520"/>
          </a:xfrm>
          <a:prstGeom prst="ellipse">
            <a:avLst/>
          </a:prstGeom>
          <a:solidFill>
            <a:srgbClr val="1F6F6B">
              <a:alpha val="85000"/>
            </a:srgbClr>
          </a:solidFill>
          <a:ln w="12700">
            <a:solidFill>
              <a:srgbClr val="1F6F6B"/>
            </a:solidFill>
            <a:prstDash val="solid"/>
          </a:ln>
        </p:spPr>
      </p:sp>
      <p:sp>
        <p:nvSpPr>
          <p:cNvPr id="7" name="Shape 5"/>
          <p:cNvSpPr/>
          <p:nvPr/>
        </p:nvSpPr>
        <p:spPr>
          <a:xfrm>
            <a:off x="8961120" y="1371600"/>
            <a:ext cx="3017520" cy="3017520"/>
          </a:xfrm>
          <a:prstGeom prst="ellipse">
            <a:avLst/>
          </a:prstGeom>
          <a:solidFill>
            <a:srgbClr val="D9901A">
              <a:alpha val="70000"/>
            </a:srgbClr>
          </a:solidFill>
          <a:ln w="12700">
            <a:solidFill>
              <a:srgbClr val="D9901A"/>
            </a:solidFill>
            <a:prstDash val="solid"/>
          </a:ln>
        </p:spPr>
      </p:sp>
      <p:sp>
        <p:nvSpPr>
          <p:cNvPr id="8" name="Text 6"/>
          <p:cNvSpPr txBox="1"/>
          <p:nvPr/>
        </p:nvSpPr>
        <p:spPr>
          <a:xfrm>
            <a:off x="7543800" y="265176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Code</a:t>
            </a:r>
            <a:endParaRPr lang="en-US" sz="1600" dirty="0"/>
          </a:p>
        </p:txBody>
      </p:sp>
      <p:sp>
        <p:nvSpPr>
          <p:cNvPr id="9" name="Text 7"/>
          <p:cNvSpPr txBox="1"/>
          <p:nvPr/>
        </p:nvSpPr>
        <p:spPr>
          <a:xfrm>
            <a:off x="10424160" y="2514600"/>
            <a:ext cx="1463040" cy="731520"/>
          </a:xfrm>
          <a:prstGeom prst="rect">
            <a:avLst/>
          </a:prstGeom>
          <a:noFill/>
          <a:ln/>
        </p:spPr>
        <p:txBody>
          <a:bodyPr wrap="square" lIns="0" tIns="0" rIns="0" bIns="0" rtlCol="0" anchor="ctr"/>
          <a:lstStyle/>
          <a:p>
            <a:pPr algn="ctr" indent="0" marL="0">
              <a:buNone/>
            </a:pPr>
            <a:r>
              <a:rPr lang="en-US" sz="1600" b="1" dirty="0">
                <a:solidFill>
                  <a:srgbClr val="12302F"/>
                </a:solidFill>
                <a:latin typeface="Calibri" pitchFamily="34" charset="0"/>
                <a:ea typeface="Calibri" pitchFamily="34" charset="-122"/>
                <a:cs typeface="Calibri" pitchFamily="34" charset="-120"/>
              </a:rPr>
              <a:t>AI</a:t>
            </a:r>
            <a:endParaRPr lang="en-US" sz="1600" dirty="0"/>
          </a:p>
          <a:p>
            <a:pPr algn="ctr" indent="0" marL="0">
              <a:buNone/>
            </a:pPr>
            <a:r>
              <a:rPr lang="en-US" sz="1600" b="1" dirty="0">
                <a:solidFill>
                  <a:srgbClr val="12302F"/>
                </a:solidFill>
                <a:latin typeface="Calibri" pitchFamily="34" charset="0"/>
                <a:ea typeface="Calibri" pitchFamily="34" charset="-122"/>
                <a:cs typeface="Calibri" pitchFamily="34" charset="-120"/>
              </a:rPr>
              <a:t>judgment</a:t>
            </a:r>
            <a:endParaRPr lang="en-US" sz="1600" dirty="0"/>
          </a:p>
        </p:txBody>
      </p:sp>
      <p:sp>
        <p:nvSpPr>
          <p:cNvPr id="10" name="Text 8"/>
          <p:cNvSpPr txBox="1"/>
          <p:nvPr/>
        </p:nvSpPr>
        <p:spPr>
          <a:xfrm>
            <a:off x="8961120" y="2651760"/>
            <a:ext cx="1463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Harness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THE ASK  |  THE EXECUTIVE MANDATE</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Direct the leverage; own the agentic IP</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2</a:t>
            </a:r>
            <a:endParaRPr lang="en-US" sz="900" dirty="0"/>
          </a:p>
        </p:txBody>
      </p:sp>
      <p:sp>
        <p:nvSpPr>
          <p:cNvPr id="6" name="Text 3"/>
          <p:cNvSpPr txBox="1"/>
          <p:nvPr/>
        </p:nvSpPr>
        <p:spPr>
          <a:xfrm>
            <a:off x="548640" y="1417320"/>
            <a:ext cx="11064240" cy="365760"/>
          </a:xfrm>
          <a:prstGeom prst="rect">
            <a:avLst/>
          </a:prstGeom>
          <a:noFill/>
          <a:ln/>
        </p:spPr>
        <p:txBody>
          <a:bodyPr wrap="square" lIns="0" tIns="0" rIns="0" bIns="0" rtlCol="0" anchor="ctr"/>
          <a:lstStyle/>
          <a:p>
            <a:pPr indent="0" marL="0">
              <a:buNone/>
            </a:pPr>
            <a:r>
              <a:rPr lang="en-US" sz="1700" i="1" dirty="0">
                <a:solidFill>
                  <a:srgbClr val="5E6B6A"/>
                </a:solidFill>
                <a:latin typeface="Calibri" pitchFamily="34" charset="0"/>
                <a:ea typeface="Calibri" pitchFamily="34" charset="-122"/>
                <a:cs typeface="Calibri" pitchFamily="34" charset="-120"/>
              </a:rPr>
              <a:t>We need leaders who direct enterprise scale and build agentic IP.</a:t>
            </a:r>
            <a:endParaRPr lang="en-US" sz="1700" dirty="0"/>
          </a:p>
        </p:txBody>
      </p:sp>
      <p:sp>
        <p:nvSpPr>
          <p:cNvPr id="7" name="Shape 4"/>
          <p:cNvSpPr/>
          <p:nvPr/>
        </p:nvSpPr>
        <p:spPr>
          <a:xfrm>
            <a:off x="548640" y="1965960"/>
            <a:ext cx="5440680" cy="1627632"/>
          </a:xfrm>
          <a:prstGeom prst="rect">
            <a:avLst/>
          </a:prstGeom>
          <a:solidFill>
            <a:srgbClr val="F3F6F5"/>
          </a:solidFill>
          <a:ln w="12700">
            <a:solidFill>
              <a:srgbClr val="F3F6F5"/>
            </a:solidFill>
            <a:prstDash val="solid"/>
          </a:ln>
        </p:spPr>
      </p:sp>
      <p:sp>
        <p:nvSpPr>
          <p:cNvPr id="8" name="Shape 5"/>
          <p:cNvSpPr/>
          <p:nvPr/>
        </p:nvSpPr>
        <p:spPr>
          <a:xfrm>
            <a:off x="822960" y="2240280"/>
            <a:ext cx="548640" cy="548640"/>
          </a:xfrm>
          <a:prstGeom prst="ellipse">
            <a:avLst/>
          </a:prstGeom>
          <a:solidFill>
            <a:srgbClr val="1F6F6B"/>
          </a:solidFill>
          <a:ln w="12700">
            <a:solidFill>
              <a:srgbClr val="1F6F6B"/>
            </a:solidFill>
            <a:prstDash val="solid"/>
          </a:ln>
        </p:spPr>
      </p:sp>
      <p:sp>
        <p:nvSpPr>
          <p:cNvPr id="9" name="Text 6"/>
          <p:cNvSpPr txBox="1"/>
          <p:nvPr/>
        </p:nvSpPr>
        <p:spPr>
          <a:xfrm>
            <a:off x="822960" y="22402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1</a:t>
            </a:r>
            <a:endParaRPr lang="en-US" sz="1560" dirty="0"/>
          </a:p>
        </p:txBody>
      </p:sp>
      <p:sp>
        <p:nvSpPr>
          <p:cNvPr id="10" name="Text 7"/>
          <p:cNvSpPr txBox="1"/>
          <p:nvPr/>
        </p:nvSpPr>
        <p:spPr>
          <a:xfrm>
            <a:off x="1554480" y="2194560"/>
            <a:ext cx="420624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The harness spans two worlds</a:t>
            </a:r>
            <a:endParaRPr lang="en-US" sz="1800" dirty="0"/>
          </a:p>
        </p:txBody>
      </p:sp>
      <p:sp>
        <p:nvSpPr>
          <p:cNvPr id="11" name="Text 8"/>
          <p:cNvSpPr txBox="1"/>
          <p:nvPr/>
        </p:nvSpPr>
        <p:spPr>
          <a:xfrm>
            <a:off x="1554480" y="2651760"/>
            <a:ext cx="4206240" cy="86868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Cognitive pipelines reason through non-linear work such as software creation. Operational execution runs core workflows reliably. IP sits in mastering both.</a:t>
            </a:r>
            <a:endParaRPr lang="en-US" sz="1300" dirty="0"/>
          </a:p>
        </p:txBody>
      </p:sp>
      <p:sp>
        <p:nvSpPr>
          <p:cNvPr id="12" name="Shape 9"/>
          <p:cNvSpPr/>
          <p:nvPr/>
        </p:nvSpPr>
        <p:spPr>
          <a:xfrm>
            <a:off x="6199632" y="1965960"/>
            <a:ext cx="5440680" cy="1627632"/>
          </a:xfrm>
          <a:prstGeom prst="rect">
            <a:avLst/>
          </a:prstGeom>
          <a:solidFill>
            <a:srgbClr val="F3F6F5"/>
          </a:solidFill>
          <a:ln w="12700">
            <a:solidFill>
              <a:srgbClr val="F3F6F5"/>
            </a:solidFill>
            <a:prstDash val="solid"/>
          </a:ln>
        </p:spPr>
      </p:sp>
      <p:sp>
        <p:nvSpPr>
          <p:cNvPr id="13" name="Shape 10"/>
          <p:cNvSpPr/>
          <p:nvPr/>
        </p:nvSpPr>
        <p:spPr>
          <a:xfrm>
            <a:off x="6473952" y="2240280"/>
            <a:ext cx="548640" cy="548640"/>
          </a:xfrm>
          <a:prstGeom prst="ellipse">
            <a:avLst/>
          </a:prstGeom>
          <a:solidFill>
            <a:srgbClr val="1F6F6B"/>
          </a:solidFill>
          <a:ln w="12700">
            <a:solidFill>
              <a:srgbClr val="1F6F6B"/>
            </a:solidFill>
            <a:prstDash val="solid"/>
          </a:ln>
        </p:spPr>
      </p:sp>
      <p:sp>
        <p:nvSpPr>
          <p:cNvPr id="14" name="Text 11"/>
          <p:cNvSpPr txBox="1"/>
          <p:nvPr/>
        </p:nvSpPr>
        <p:spPr>
          <a:xfrm>
            <a:off x="6473952" y="22402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2</a:t>
            </a:r>
            <a:endParaRPr lang="en-US" sz="1560" dirty="0"/>
          </a:p>
        </p:txBody>
      </p:sp>
      <p:sp>
        <p:nvSpPr>
          <p:cNvPr id="15" name="Text 12"/>
          <p:cNvSpPr txBox="1"/>
          <p:nvPr/>
        </p:nvSpPr>
        <p:spPr>
          <a:xfrm>
            <a:off x="7205472" y="2194560"/>
            <a:ext cx="420624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Budgets already assume acceleration</a:t>
            </a:r>
            <a:endParaRPr lang="en-US" sz="1800" dirty="0"/>
          </a:p>
        </p:txBody>
      </p:sp>
      <p:sp>
        <p:nvSpPr>
          <p:cNvPr id="16" name="Text 13"/>
          <p:cNvSpPr txBox="1"/>
          <p:nvPr/>
        </p:nvSpPr>
        <p:spPr>
          <a:xfrm>
            <a:off x="7205472" y="2651760"/>
            <a:ext cx="4206240" cy="86868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Headcount plans, expansion targets, and revenue forecasts assume agentic systems speed output. The contest is execution velocity.</a:t>
            </a:r>
            <a:endParaRPr lang="en-US" sz="1300" dirty="0"/>
          </a:p>
        </p:txBody>
      </p:sp>
      <p:sp>
        <p:nvSpPr>
          <p:cNvPr id="17" name="Shape 14"/>
          <p:cNvSpPr/>
          <p:nvPr/>
        </p:nvSpPr>
        <p:spPr>
          <a:xfrm>
            <a:off x="548640" y="3749040"/>
            <a:ext cx="5440680" cy="1627632"/>
          </a:xfrm>
          <a:prstGeom prst="rect">
            <a:avLst/>
          </a:prstGeom>
          <a:solidFill>
            <a:srgbClr val="F3F6F5"/>
          </a:solidFill>
          <a:ln w="12700">
            <a:solidFill>
              <a:srgbClr val="F3F6F5"/>
            </a:solidFill>
            <a:prstDash val="solid"/>
          </a:ln>
        </p:spPr>
      </p:sp>
      <p:sp>
        <p:nvSpPr>
          <p:cNvPr id="18" name="Shape 15"/>
          <p:cNvSpPr/>
          <p:nvPr/>
        </p:nvSpPr>
        <p:spPr>
          <a:xfrm>
            <a:off x="822960" y="4023360"/>
            <a:ext cx="548640" cy="548640"/>
          </a:xfrm>
          <a:prstGeom prst="ellipse">
            <a:avLst/>
          </a:prstGeom>
          <a:solidFill>
            <a:srgbClr val="1F6F6B"/>
          </a:solidFill>
          <a:ln w="12700">
            <a:solidFill>
              <a:srgbClr val="1F6F6B"/>
            </a:solidFill>
            <a:prstDash val="solid"/>
          </a:ln>
        </p:spPr>
      </p:sp>
      <p:sp>
        <p:nvSpPr>
          <p:cNvPr id="19" name="Text 16"/>
          <p:cNvSpPr txBox="1"/>
          <p:nvPr/>
        </p:nvSpPr>
        <p:spPr>
          <a:xfrm>
            <a:off x="822960" y="402336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3</a:t>
            </a:r>
            <a:endParaRPr lang="en-US" sz="1560" dirty="0"/>
          </a:p>
        </p:txBody>
      </p:sp>
      <p:sp>
        <p:nvSpPr>
          <p:cNvPr id="20" name="Text 17"/>
          <p:cNvSpPr txBox="1"/>
          <p:nvPr/>
        </p:nvSpPr>
        <p:spPr>
          <a:xfrm>
            <a:off x="1554480" y="3977640"/>
            <a:ext cx="420624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The cost structure rewards design</a:t>
            </a:r>
            <a:endParaRPr lang="en-US" sz="1800" dirty="0"/>
          </a:p>
        </p:txBody>
      </p:sp>
      <p:sp>
        <p:nvSpPr>
          <p:cNvPr id="21" name="Text 18"/>
          <p:cNvSpPr txBox="1"/>
          <p:nvPr/>
        </p:nvSpPr>
        <p:spPr>
          <a:xfrm>
            <a:off x="1554480" y="4434840"/>
            <a:ext cx="4206240" cy="86868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One-time NRE builds lasting IP. Per-unit compute is small. Leaders who manage that spread convert low token cost into margin.</a:t>
            </a:r>
            <a:endParaRPr lang="en-US" sz="1300" dirty="0"/>
          </a:p>
        </p:txBody>
      </p:sp>
      <p:sp>
        <p:nvSpPr>
          <p:cNvPr id="22" name="Shape 19"/>
          <p:cNvSpPr/>
          <p:nvPr/>
        </p:nvSpPr>
        <p:spPr>
          <a:xfrm>
            <a:off x="6199632" y="3749040"/>
            <a:ext cx="5440680" cy="1627632"/>
          </a:xfrm>
          <a:prstGeom prst="rect">
            <a:avLst/>
          </a:prstGeom>
          <a:solidFill>
            <a:srgbClr val="FCEFD9"/>
          </a:solidFill>
          <a:ln w="12700">
            <a:solidFill>
              <a:srgbClr val="FCEFD9"/>
            </a:solidFill>
            <a:prstDash val="solid"/>
          </a:ln>
        </p:spPr>
      </p:sp>
      <p:sp>
        <p:nvSpPr>
          <p:cNvPr id="23" name="Shape 20"/>
          <p:cNvSpPr/>
          <p:nvPr/>
        </p:nvSpPr>
        <p:spPr>
          <a:xfrm>
            <a:off x="6473952" y="4023360"/>
            <a:ext cx="548640" cy="548640"/>
          </a:xfrm>
          <a:prstGeom prst="ellipse">
            <a:avLst/>
          </a:prstGeom>
          <a:solidFill>
            <a:srgbClr val="D9901A"/>
          </a:solidFill>
          <a:ln w="12700">
            <a:solidFill>
              <a:srgbClr val="D9901A"/>
            </a:solidFill>
            <a:prstDash val="solid"/>
          </a:ln>
        </p:spPr>
      </p:sp>
      <p:sp>
        <p:nvSpPr>
          <p:cNvPr id="24" name="Text 21"/>
          <p:cNvSpPr txBox="1"/>
          <p:nvPr/>
        </p:nvSpPr>
        <p:spPr>
          <a:xfrm>
            <a:off x="6473952" y="4023360"/>
            <a:ext cx="548640" cy="548640"/>
          </a:xfrm>
          <a:prstGeom prst="rect">
            <a:avLst/>
          </a:prstGeom>
          <a:noFill/>
          <a:ln/>
        </p:spPr>
        <p:txBody>
          <a:bodyPr wrap="square" lIns="0" tIns="0" rIns="0" bIns="0" rtlCol="0" anchor="ctr"/>
          <a:lstStyle/>
          <a:p>
            <a:pPr algn="ctr" indent="0" marL="0">
              <a:buNone/>
            </a:pPr>
            <a:r>
              <a:rPr lang="en-US" sz="1560" b="1" dirty="0">
                <a:solidFill>
                  <a:srgbClr val="12302F"/>
                </a:solidFill>
                <a:latin typeface="Cambria" pitchFamily="34" charset="0"/>
                <a:ea typeface="Cambria" pitchFamily="34" charset="-122"/>
                <a:cs typeface="Cambria" pitchFamily="34" charset="-120"/>
              </a:rPr>
              <a:t>4</a:t>
            </a:r>
            <a:endParaRPr lang="en-US" sz="1560" dirty="0"/>
          </a:p>
        </p:txBody>
      </p:sp>
      <p:sp>
        <p:nvSpPr>
          <p:cNvPr id="25" name="Text 22"/>
          <p:cNvSpPr txBox="1"/>
          <p:nvPr/>
        </p:nvSpPr>
        <p:spPr>
          <a:xfrm>
            <a:off x="7205472" y="3977640"/>
            <a:ext cx="420624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Output varies; leaders bound it</a:t>
            </a:r>
            <a:endParaRPr lang="en-US" sz="1800" dirty="0"/>
          </a:p>
        </p:txBody>
      </p:sp>
      <p:sp>
        <p:nvSpPr>
          <p:cNvPr id="26" name="Text 23"/>
          <p:cNvSpPr txBox="1"/>
          <p:nvPr/>
        </p:nvSpPr>
        <p:spPr>
          <a:xfrm>
            <a:off x="7205472" y="4434840"/>
            <a:ext cx="4206240" cy="86868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Governance, deterministic guardrails, and written accountability turn variable output into a defensible asset.</a:t>
            </a:r>
            <a:endParaRPr lang="en-US" sz="1300" dirty="0"/>
          </a:p>
        </p:txBody>
      </p:sp>
      <p:sp>
        <p:nvSpPr>
          <p:cNvPr id="27" name="Shape 24"/>
          <p:cNvSpPr/>
          <p:nvPr/>
        </p:nvSpPr>
        <p:spPr>
          <a:xfrm>
            <a:off x="548640" y="5669280"/>
            <a:ext cx="11091672" cy="566928"/>
          </a:xfrm>
          <a:prstGeom prst="rect">
            <a:avLst/>
          </a:prstGeom>
          <a:solidFill>
            <a:srgbClr val="F3F6F5"/>
          </a:solidFill>
          <a:ln w="12700">
            <a:solidFill>
              <a:srgbClr val="F3F6F5"/>
            </a:solidFill>
            <a:prstDash val="solid"/>
          </a:ln>
        </p:spPr>
      </p:sp>
      <p:sp>
        <p:nvSpPr>
          <p:cNvPr id="28" name="Text 25"/>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The mandate: </a:t>
            </a:r>
            <a:pPr indent="0" marL="0">
              <a:buNone/>
            </a:pPr>
            <a:r>
              <a:rPr lang="en-US" sz="1500" dirty="0">
                <a:solidFill>
                  <a:srgbClr val="1E2B2A"/>
                </a:solidFill>
                <a:latin typeface="Calibri" pitchFamily="34" charset="0"/>
                <a:ea typeface="Calibri" pitchFamily="34" charset="-122"/>
                <a:cs typeface="Calibri" pitchFamily="34" charset="-120"/>
              </a:rPr>
              <a:t>balance predictable TCO against TVR while building proprietary harness IP.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Three decisions define the harness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3</a:t>
            </a:r>
            <a:endParaRPr lang="en-US" sz="900" dirty="0"/>
          </a:p>
        </p:txBody>
      </p:sp>
      <p:sp>
        <p:nvSpPr>
          <p:cNvPr id="6" name="Shape 3"/>
          <p:cNvSpPr/>
          <p:nvPr/>
        </p:nvSpPr>
        <p:spPr>
          <a:xfrm>
            <a:off x="548640" y="1783080"/>
            <a:ext cx="3520440" cy="3520440"/>
          </a:xfrm>
          <a:prstGeom prst="rect">
            <a:avLst/>
          </a:prstGeom>
          <a:solidFill>
            <a:srgbClr val="F3F6F5"/>
          </a:solidFill>
          <a:ln w="12700">
            <a:solidFill>
              <a:srgbClr val="F3F6F5"/>
            </a:solidFill>
            <a:prstDash val="solid"/>
          </a:ln>
        </p:spPr>
      </p:sp>
      <p:sp>
        <p:nvSpPr>
          <p:cNvPr id="7" name="Shape 4"/>
          <p:cNvSpPr/>
          <p:nvPr/>
        </p:nvSpPr>
        <p:spPr>
          <a:xfrm>
            <a:off x="868680" y="2103120"/>
            <a:ext cx="731520" cy="731520"/>
          </a:xfrm>
          <a:prstGeom prst="ellipse">
            <a:avLst/>
          </a:prstGeom>
          <a:solidFill>
            <a:srgbClr val="1F6F6B"/>
          </a:solidFill>
          <a:ln w="12700">
            <a:solidFill>
              <a:srgbClr val="1F6F6B"/>
            </a:solidFill>
            <a:prstDash val="solid"/>
          </a:ln>
        </p:spPr>
      </p:sp>
      <p:sp>
        <p:nvSpPr>
          <p:cNvPr id="8" name="Text 5"/>
          <p:cNvSpPr txBox="1"/>
          <p:nvPr/>
        </p:nvSpPr>
        <p:spPr>
          <a:xfrm>
            <a:off x="868680" y="210312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1</a:t>
            </a:r>
            <a:endParaRPr lang="en-US" sz="2080" dirty="0"/>
          </a:p>
        </p:txBody>
      </p:sp>
      <p:sp>
        <p:nvSpPr>
          <p:cNvPr id="9" name="Text 6"/>
          <p:cNvSpPr txBox="1"/>
          <p:nvPr/>
        </p:nvSpPr>
        <p:spPr>
          <a:xfrm>
            <a:off x="868680" y="3017520"/>
            <a:ext cx="2926080" cy="822960"/>
          </a:xfrm>
          <a:prstGeom prst="rect">
            <a:avLst/>
          </a:prstGeom>
          <a:noFill/>
          <a:ln/>
        </p:spPr>
        <p:txBody>
          <a:bodyPr wrap="square" lIns="0" tIns="0" rIns="0" bIns="0" rtlCol="0" anchor="t"/>
          <a:lstStyle/>
          <a:p>
            <a:pPr indent="0" marL="0">
              <a:buNone/>
            </a:pPr>
            <a:r>
              <a:rPr lang="en-US" sz="2000" b="1" dirty="0">
                <a:solidFill>
                  <a:srgbClr val="1E2B2A"/>
                </a:solidFill>
                <a:latin typeface="Cambria" pitchFamily="34" charset="0"/>
                <a:ea typeface="Cambria" pitchFamily="34" charset="-122"/>
                <a:cs typeface="Cambria" pitchFamily="34" charset="-120"/>
              </a:rPr>
              <a:t>Own the harness; rent the model</a:t>
            </a:r>
            <a:endParaRPr lang="en-US" sz="2000" dirty="0"/>
          </a:p>
        </p:txBody>
      </p:sp>
      <p:sp>
        <p:nvSpPr>
          <p:cNvPr id="10" name="Text 7"/>
          <p:cNvSpPr txBox="1"/>
          <p:nvPr/>
        </p:nvSpPr>
        <p:spPr>
          <a:xfrm>
            <a:off x="868680" y="3886200"/>
            <a:ext cx="2926080" cy="1280160"/>
          </a:xfrm>
          <a:prstGeom prst="rect">
            <a:avLst/>
          </a:prstGeom>
          <a:noFill/>
          <a:ln/>
        </p:spPr>
        <p:txBody>
          <a:bodyPr wrap="square" lIns="0" tIns="0" rIns="0" bIns="0" rtlCol="0" anchor="t"/>
          <a:lstStyle/>
          <a:p>
            <a:pPr indent="0" marL="0">
              <a:buNone/>
            </a:pPr>
            <a:r>
              <a:rPr lang="en-US" sz="1500" dirty="0">
                <a:solidFill>
                  <a:srgbClr val="5E6B6A"/>
                </a:solidFill>
                <a:latin typeface="Calibri" pitchFamily="34" charset="0"/>
                <a:ea typeface="Calibri" pitchFamily="34" charset="-122"/>
                <a:cs typeface="Calibri" pitchFamily="34" charset="-120"/>
              </a:rPr>
              <a:t>Models commoditize. Your IP is the architecture, rules, and controls that make output repeatable and defensible.</a:t>
            </a:r>
            <a:endParaRPr lang="en-US" sz="1500" dirty="0"/>
          </a:p>
        </p:txBody>
      </p:sp>
      <p:sp>
        <p:nvSpPr>
          <p:cNvPr id="11" name="Shape 8"/>
          <p:cNvSpPr/>
          <p:nvPr/>
        </p:nvSpPr>
        <p:spPr>
          <a:xfrm>
            <a:off x="4370832" y="1783080"/>
            <a:ext cx="3520440" cy="3520440"/>
          </a:xfrm>
          <a:prstGeom prst="rect">
            <a:avLst/>
          </a:prstGeom>
          <a:solidFill>
            <a:srgbClr val="F3F6F5"/>
          </a:solidFill>
          <a:ln w="12700">
            <a:solidFill>
              <a:srgbClr val="F3F6F5"/>
            </a:solidFill>
            <a:prstDash val="solid"/>
          </a:ln>
        </p:spPr>
      </p:sp>
      <p:sp>
        <p:nvSpPr>
          <p:cNvPr id="12" name="Shape 9"/>
          <p:cNvSpPr/>
          <p:nvPr/>
        </p:nvSpPr>
        <p:spPr>
          <a:xfrm>
            <a:off x="4690872" y="2103120"/>
            <a:ext cx="731520" cy="731520"/>
          </a:xfrm>
          <a:prstGeom prst="ellipse">
            <a:avLst/>
          </a:prstGeom>
          <a:solidFill>
            <a:srgbClr val="D9901A"/>
          </a:solidFill>
          <a:ln w="12700">
            <a:solidFill>
              <a:srgbClr val="D9901A"/>
            </a:solidFill>
            <a:prstDash val="solid"/>
          </a:ln>
        </p:spPr>
      </p:sp>
      <p:sp>
        <p:nvSpPr>
          <p:cNvPr id="13" name="Text 10"/>
          <p:cNvSpPr txBox="1"/>
          <p:nvPr/>
        </p:nvSpPr>
        <p:spPr>
          <a:xfrm>
            <a:off x="4690872" y="2103120"/>
            <a:ext cx="731520" cy="731520"/>
          </a:xfrm>
          <a:prstGeom prst="rect">
            <a:avLst/>
          </a:prstGeom>
          <a:noFill/>
          <a:ln/>
        </p:spPr>
        <p:txBody>
          <a:bodyPr wrap="square" lIns="0" tIns="0" rIns="0" bIns="0" rtlCol="0" anchor="ctr"/>
          <a:lstStyle/>
          <a:p>
            <a:pPr algn="ctr" indent="0" marL="0">
              <a:buNone/>
            </a:pPr>
            <a:r>
              <a:rPr lang="en-US" sz="2080" b="1" dirty="0">
                <a:solidFill>
                  <a:srgbClr val="12302F"/>
                </a:solidFill>
                <a:latin typeface="Cambria" pitchFamily="34" charset="0"/>
                <a:ea typeface="Cambria" pitchFamily="34" charset="-122"/>
                <a:cs typeface="Cambria" pitchFamily="34" charset="-120"/>
              </a:rPr>
              <a:t>2</a:t>
            </a:r>
            <a:endParaRPr lang="en-US" sz="2080" dirty="0"/>
          </a:p>
        </p:txBody>
      </p:sp>
      <p:sp>
        <p:nvSpPr>
          <p:cNvPr id="14" name="Text 11"/>
          <p:cNvSpPr txBox="1"/>
          <p:nvPr/>
        </p:nvSpPr>
        <p:spPr>
          <a:xfrm>
            <a:off x="4690872" y="3017520"/>
            <a:ext cx="2926080" cy="822960"/>
          </a:xfrm>
          <a:prstGeom prst="rect">
            <a:avLst/>
          </a:prstGeom>
          <a:noFill/>
          <a:ln/>
        </p:spPr>
        <p:txBody>
          <a:bodyPr wrap="square" lIns="0" tIns="0" rIns="0" bIns="0" rtlCol="0" anchor="t"/>
          <a:lstStyle/>
          <a:p>
            <a:pPr indent="0" marL="0">
              <a:buNone/>
            </a:pPr>
            <a:r>
              <a:rPr lang="en-US" sz="2000" b="1" dirty="0">
                <a:solidFill>
                  <a:srgbClr val="1E2B2A"/>
                </a:solidFill>
                <a:latin typeface="Cambria" pitchFamily="34" charset="0"/>
                <a:ea typeface="Cambria" pitchFamily="34" charset="-122"/>
                <a:cs typeface="Cambria" pitchFamily="34" charset="-120"/>
              </a:rPr>
              <a:t>Code by default; AI for judgment</a:t>
            </a:r>
            <a:endParaRPr lang="en-US" sz="2000" dirty="0"/>
          </a:p>
        </p:txBody>
      </p:sp>
      <p:sp>
        <p:nvSpPr>
          <p:cNvPr id="15" name="Text 12"/>
          <p:cNvSpPr txBox="1"/>
          <p:nvPr/>
        </p:nvSpPr>
        <p:spPr>
          <a:xfrm>
            <a:off x="4690872" y="3886200"/>
            <a:ext cx="2926080" cy="1280160"/>
          </a:xfrm>
          <a:prstGeom prst="rect">
            <a:avLst/>
          </a:prstGeom>
          <a:noFill/>
          <a:ln/>
        </p:spPr>
        <p:txBody>
          <a:bodyPr wrap="square" lIns="0" tIns="0" rIns="0" bIns="0" rtlCol="0" anchor="t"/>
          <a:lstStyle/>
          <a:p>
            <a:pPr indent="0" marL="0">
              <a:buNone/>
            </a:pPr>
            <a:r>
              <a:rPr lang="en-US" sz="1500" dirty="0">
                <a:solidFill>
                  <a:srgbClr val="5E6B6A"/>
                </a:solidFill>
                <a:latin typeface="Calibri" pitchFamily="34" charset="0"/>
                <a:ea typeface="Calibri" pitchFamily="34" charset="-122"/>
                <a:cs typeface="Calibri" pitchFamily="34" charset="-120"/>
              </a:rPr>
              <a:t>If two top performers always give the same answer, write it in code. Pay for inference only where judgment creates value.</a:t>
            </a:r>
            <a:endParaRPr lang="en-US" sz="1500" dirty="0"/>
          </a:p>
        </p:txBody>
      </p:sp>
      <p:sp>
        <p:nvSpPr>
          <p:cNvPr id="16" name="Shape 13"/>
          <p:cNvSpPr/>
          <p:nvPr/>
        </p:nvSpPr>
        <p:spPr>
          <a:xfrm>
            <a:off x="8193024" y="1783080"/>
            <a:ext cx="3520440" cy="3520440"/>
          </a:xfrm>
          <a:prstGeom prst="rect">
            <a:avLst/>
          </a:prstGeom>
          <a:solidFill>
            <a:srgbClr val="F3F6F5"/>
          </a:solidFill>
          <a:ln w="12700">
            <a:solidFill>
              <a:srgbClr val="F3F6F5"/>
            </a:solidFill>
            <a:prstDash val="solid"/>
          </a:ln>
        </p:spPr>
      </p:sp>
      <p:sp>
        <p:nvSpPr>
          <p:cNvPr id="17" name="Shape 14"/>
          <p:cNvSpPr/>
          <p:nvPr/>
        </p:nvSpPr>
        <p:spPr>
          <a:xfrm>
            <a:off x="8513064" y="2103120"/>
            <a:ext cx="731520" cy="731520"/>
          </a:xfrm>
          <a:prstGeom prst="ellipse">
            <a:avLst/>
          </a:prstGeom>
          <a:solidFill>
            <a:srgbClr val="1F6F6B"/>
          </a:solidFill>
          <a:ln w="12700">
            <a:solidFill>
              <a:srgbClr val="1F6F6B"/>
            </a:solidFill>
            <a:prstDash val="solid"/>
          </a:ln>
        </p:spPr>
      </p:sp>
      <p:sp>
        <p:nvSpPr>
          <p:cNvPr id="18" name="Text 15"/>
          <p:cNvSpPr txBox="1"/>
          <p:nvPr/>
        </p:nvSpPr>
        <p:spPr>
          <a:xfrm>
            <a:off x="8513064" y="210312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3</a:t>
            </a:r>
            <a:endParaRPr lang="en-US" sz="2080" dirty="0"/>
          </a:p>
        </p:txBody>
      </p:sp>
      <p:sp>
        <p:nvSpPr>
          <p:cNvPr id="19" name="Text 16"/>
          <p:cNvSpPr txBox="1"/>
          <p:nvPr/>
        </p:nvSpPr>
        <p:spPr>
          <a:xfrm>
            <a:off x="8513064" y="3017520"/>
            <a:ext cx="2926080" cy="822960"/>
          </a:xfrm>
          <a:prstGeom prst="rect">
            <a:avLst/>
          </a:prstGeom>
          <a:noFill/>
          <a:ln/>
        </p:spPr>
        <p:txBody>
          <a:bodyPr wrap="square" lIns="0" tIns="0" rIns="0" bIns="0" rtlCol="0" anchor="t"/>
          <a:lstStyle/>
          <a:p>
            <a:pPr indent="0" marL="0">
              <a:buNone/>
            </a:pPr>
            <a:r>
              <a:rPr lang="en-US" sz="2000" b="1" dirty="0">
                <a:solidFill>
                  <a:srgbClr val="1E2B2A"/>
                </a:solidFill>
                <a:latin typeface="Cambria" pitchFamily="34" charset="0"/>
                <a:ea typeface="Cambria" pitchFamily="34" charset="-122"/>
                <a:cs typeface="Cambria" pitchFamily="34" charset="-120"/>
              </a:rPr>
              <a:t>Budget the full lifecycle</a:t>
            </a:r>
            <a:endParaRPr lang="en-US" sz="2000" dirty="0"/>
          </a:p>
        </p:txBody>
      </p:sp>
      <p:sp>
        <p:nvSpPr>
          <p:cNvPr id="20" name="Text 17"/>
          <p:cNvSpPr txBox="1"/>
          <p:nvPr/>
        </p:nvSpPr>
        <p:spPr>
          <a:xfrm>
            <a:off x="8513064" y="3886200"/>
            <a:ext cx="2926080" cy="1280160"/>
          </a:xfrm>
          <a:prstGeom prst="rect">
            <a:avLst/>
          </a:prstGeom>
          <a:noFill/>
          <a:ln/>
        </p:spPr>
        <p:txBody>
          <a:bodyPr wrap="square" lIns="0" tIns="0" rIns="0" bIns="0" rtlCol="0" anchor="t"/>
          <a:lstStyle/>
          <a:p>
            <a:pPr indent="0" marL="0">
              <a:buNone/>
            </a:pPr>
            <a:r>
              <a:rPr lang="en-US" sz="1500" dirty="0">
                <a:solidFill>
                  <a:srgbClr val="5E6B6A"/>
                </a:solidFill>
                <a:latin typeface="Calibri" pitchFamily="34" charset="0"/>
                <a:ea typeface="Calibri" pitchFamily="34" charset="-122"/>
                <a:cs typeface="Calibri" pitchFamily="34" charset="-120"/>
              </a:rPr>
              <a:t>Tokens are one line of seven. Review, platform, and assurance drive TCO. Measure cost per completed decision.</a:t>
            </a:r>
            <a:endParaRPr lang="en-US" sz="1500" dirty="0"/>
          </a:p>
        </p:txBody>
      </p:sp>
      <p:sp>
        <p:nvSpPr>
          <p:cNvPr id="21" name="Shape 18"/>
          <p:cNvSpPr/>
          <p:nvPr/>
        </p:nvSpPr>
        <p:spPr>
          <a:xfrm>
            <a:off x="548640" y="5669280"/>
            <a:ext cx="11091672" cy="566928"/>
          </a:xfrm>
          <a:prstGeom prst="rect">
            <a:avLst/>
          </a:prstGeom>
          <a:solidFill>
            <a:srgbClr val="F3F6F5"/>
          </a:solidFill>
          <a:ln w="12700">
            <a:solidFill>
              <a:srgbClr val="F3F6F5"/>
            </a:solidFill>
            <a:prstDash val="solid"/>
          </a:ln>
        </p:spPr>
      </p:sp>
      <p:sp>
        <p:nvSpPr>
          <p:cNvPr id="22" name="Text 19"/>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Session objective: </a:t>
            </a:r>
            <a:pPr indent="0" marL="0">
              <a:buNone/>
            </a:pPr>
            <a:r>
              <a:rPr lang="en-US" sz="1500" dirty="0">
                <a:solidFill>
                  <a:srgbClr val="1E2B2A"/>
                </a:solidFill>
                <a:latin typeface="Calibri" pitchFamily="34" charset="0"/>
                <a:ea typeface="Calibri" pitchFamily="34" charset="-122"/>
                <a:cs typeface="Calibri" pitchFamily="34" charset="-120"/>
              </a:rPr>
              <a:t>draw an autonomous harness on paper and defend where your IP resides.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THE ECONOMICS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Value and cost are separate levers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4</a:t>
            </a:r>
            <a:endParaRPr lang="en-US" sz="900" dirty="0"/>
          </a:p>
        </p:txBody>
      </p:sp>
      <p:sp>
        <p:nvSpPr>
          <p:cNvPr id="6" name="Shape 3"/>
          <p:cNvSpPr/>
          <p:nvPr/>
        </p:nvSpPr>
        <p:spPr>
          <a:xfrm>
            <a:off x="548640" y="1783080"/>
            <a:ext cx="5394960" cy="3657600"/>
          </a:xfrm>
          <a:prstGeom prst="rect">
            <a:avLst/>
          </a:prstGeom>
          <a:solidFill>
            <a:srgbClr val="FCEFD9"/>
          </a:solidFill>
          <a:ln w="12700">
            <a:solidFill>
              <a:srgbClr val="FCEFD9"/>
            </a:solidFill>
            <a:prstDash val="solid"/>
          </a:ln>
        </p:spPr>
      </p:sp>
      <p:sp>
        <p:nvSpPr>
          <p:cNvPr id="7" name="Text 4"/>
          <p:cNvSpPr txBox="1"/>
          <p:nvPr/>
        </p:nvSpPr>
        <p:spPr>
          <a:xfrm>
            <a:off x="914400" y="2011680"/>
            <a:ext cx="2194560" cy="320040"/>
          </a:xfrm>
          <a:prstGeom prst="rect">
            <a:avLst/>
          </a:prstGeom>
          <a:solidFill>
            <a:srgbClr val="D9901A"/>
          </a:solidFill>
          <a:ln/>
        </p:spPr>
        <p:txBody>
          <a:bodyPr wrap="square" lIns="0" tIns="0" rIns="0" bIns="0" rtlCol="0" anchor="ctr"/>
          <a:lstStyle/>
          <a:p>
            <a:pPr algn="ctr" indent="0" marL="0">
              <a:buNone/>
            </a:pPr>
            <a:r>
              <a:rPr lang="en-US" sz="1100" b="1" dirty="0">
                <a:solidFill>
                  <a:srgbClr val="12302F"/>
                </a:solidFill>
                <a:latin typeface="Calibri" pitchFamily="34" charset="0"/>
                <a:ea typeface="Calibri" pitchFamily="34" charset="-122"/>
                <a:cs typeface="Calibri" pitchFamily="34" charset="-120"/>
              </a:rPr>
              <a:t>THE CEILING</a:t>
            </a:r>
            <a:endParaRPr lang="en-US" sz="1100" dirty="0"/>
          </a:p>
        </p:txBody>
      </p:sp>
      <p:sp>
        <p:nvSpPr>
          <p:cNvPr id="8" name="Text 5"/>
          <p:cNvSpPr txBox="1"/>
          <p:nvPr/>
        </p:nvSpPr>
        <p:spPr>
          <a:xfrm>
            <a:off x="914400" y="2468880"/>
            <a:ext cx="4754880" cy="502920"/>
          </a:xfrm>
          <a:prstGeom prst="rect">
            <a:avLst/>
          </a:prstGeom>
          <a:noFill/>
          <a:ln/>
        </p:spPr>
        <p:txBody>
          <a:bodyPr wrap="square" lIns="0" tIns="0" rIns="0" bIns="0" rtlCol="0" anchor="ctr"/>
          <a:lstStyle/>
          <a:p>
            <a:pPr indent="0" marL="0">
              <a:buNone/>
            </a:pPr>
            <a:r>
              <a:rPr lang="en-US" sz="2400" b="1" dirty="0">
                <a:solidFill>
                  <a:srgbClr val="1E2B2A"/>
                </a:solidFill>
                <a:latin typeface="Cambria" pitchFamily="34" charset="0"/>
                <a:ea typeface="Cambria" pitchFamily="34" charset="-122"/>
                <a:cs typeface="Cambria" pitchFamily="34" charset="-120"/>
              </a:rPr>
              <a:t>Total Value Realized</a:t>
            </a:r>
            <a:endParaRPr lang="en-US" sz="2400" dirty="0"/>
          </a:p>
        </p:txBody>
      </p:sp>
      <p:sp>
        <p:nvSpPr>
          <p:cNvPr id="9" name="Text 6"/>
          <p:cNvSpPr txBox="1"/>
          <p:nvPr/>
        </p:nvSpPr>
        <p:spPr>
          <a:xfrm>
            <a:off x="914400" y="2971800"/>
            <a:ext cx="4754880" cy="365760"/>
          </a:xfrm>
          <a:prstGeom prst="rect">
            <a:avLst/>
          </a:prstGeom>
          <a:noFill/>
          <a:ln/>
        </p:spPr>
        <p:txBody>
          <a:bodyPr wrap="square" lIns="0" tIns="0" rIns="0" bIns="0" rtlCol="0" anchor="ctr"/>
          <a:lstStyle/>
          <a:p>
            <a:pPr indent="0" marL="0">
              <a:buNone/>
            </a:pPr>
            <a:r>
              <a:rPr lang="en-US" sz="1400" i="1" dirty="0">
                <a:solidFill>
                  <a:srgbClr val="5E6B6A"/>
                </a:solidFill>
                <a:latin typeface="Calibri" pitchFamily="34" charset="0"/>
                <a:ea typeface="Calibri" pitchFamily="34" charset="-122"/>
                <a:cs typeface="Calibri" pitchFamily="34" charset="-120"/>
              </a:rPr>
              <a:t>Top-line and margin upside</a:t>
            </a:r>
            <a:endParaRPr lang="en-US" sz="1400" dirty="0"/>
          </a:p>
        </p:txBody>
      </p:sp>
      <p:sp>
        <p:nvSpPr>
          <p:cNvPr id="10" name="Text 7"/>
          <p:cNvSpPr txBox="1"/>
          <p:nvPr/>
        </p:nvSpPr>
        <p:spPr>
          <a:xfrm>
            <a:off x="914400" y="3474720"/>
            <a:ext cx="475488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Velocity: cycle times from weeks to minutes</a:t>
            </a:r>
            <a:endParaRPr lang="en-US" sz="1500" dirty="0"/>
          </a:p>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Throughput: higher volume with existing teams</a:t>
            </a:r>
            <a:endParaRPr lang="en-US" sz="1500" dirty="0"/>
          </a:p>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Speed: proposals and products iterated in real time</a:t>
            </a:r>
            <a:endParaRPr lang="en-US" sz="1500" dirty="0"/>
          </a:p>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Margin: spread between compute spend and yield</a:t>
            </a:r>
            <a:endParaRPr lang="en-US" sz="1500" dirty="0"/>
          </a:p>
        </p:txBody>
      </p:sp>
      <p:sp>
        <p:nvSpPr>
          <p:cNvPr id="11" name="Shape 8"/>
          <p:cNvSpPr/>
          <p:nvPr/>
        </p:nvSpPr>
        <p:spPr>
          <a:xfrm>
            <a:off x="6245352" y="1783080"/>
            <a:ext cx="5394960" cy="3657600"/>
          </a:xfrm>
          <a:prstGeom prst="rect">
            <a:avLst/>
          </a:prstGeom>
          <a:solidFill>
            <a:srgbClr val="DCEBE8"/>
          </a:solidFill>
          <a:ln w="12700">
            <a:solidFill>
              <a:srgbClr val="DCEBE8"/>
            </a:solidFill>
            <a:prstDash val="solid"/>
          </a:ln>
        </p:spPr>
      </p:sp>
      <p:sp>
        <p:nvSpPr>
          <p:cNvPr id="12" name="Text 9"/>
          <p:cNvSpPr txBox="1"/>
          <p:nvPr/>
        </p:nvSpPr>
        <p:spPr>
          <a:xfrm>
            <a:off x="6611112" y="2011680"/>
            <a:ext cx="2194560" cy="320040"/>
          </a:xfrm>
          <a:prstGeom prst="rect">
            <a:avLst/>
          </a:prstGeom>
          <a:solidFill>
            <a:srgbClr val="1F6F6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TODAY'S FOCUS</a:t>
            </a:r>
            <a:endParaRPr lang="en-US" sz="1100" dirty="0"/>
          </a:p>
        </p:txBody>
      </p:sp>
      <p:sp>
        <p:nvSpPr>
          <p:cNvPr id="13" name="Text 10"/>
          <p:cNvSpPr txBox="1"/>
          <p:nvPr/>
        </p:nvSpPr>
        <p:spPr>
          <a:xfrm>
            <a:off x="6611112" y="2468880"/>
            <a:ext cx="4754880" cy="502920"/>
          </a:xfrm>
          <a:prstGeom prst="rect">
            <a:avLst/>
          </a:prstGeom>
          <a:noFill/>
          <a:ln/>
        </p:spPr>
        <p:txBody>
          <a:bodyPr wrap="square" lIns="0" tIns="0" rIns="0" bIns="0" rtlCol="0" anchor="ctr"/>
          <a:lstStyle/>
          <a:p>
            <a:pPr indent="0" marL="0">
              <a:buNone/>
            </a:pPr>
            <a:r>
              <a:rPr lang="en-US" sz="2400" b="1" dirty="0">
                <a:solidFill>
                  <a:srgbClr val="1E2B2A"/>
                </a:solidFill>
                <a:latin typeface="Cambria" pitchFamily="34" charset="0"/>
                <a:ea typeface="Cambria" pitchFamily="34" charset="-122"/>
                <a:cs typeface="Cambria" pitchFamily="34" charset="-120"/>
              </a:rPr>
              <a:t>Total Cost of Ownership</a:t>
            </a:r>
            <a:endParaRPr lang="en-US" sz="2400" dirty="0"/>
          </a:p>
        </p:txBody>
      </p:sp>
      <p:sp>
        <p:nvSpPr>
          <p:cNvPr id="14" name="Text 11"/>
          <p:cNvSpPr txBox="1"/>
          <p:nvPr/>
        </p:nvSpPr>
        <p:spPr>
          <a:xfrm>
            <a:off x="6611112" y="2971800"/>
            <a:ext cx="4754880" cy="365760"/>
          </a:xfrm>
          <a:prstGeom prst="rect">
            <a:avLst/>
          </a:prstGeom>
          <a:noFill/>
          <a:ln/>
        </p:spPr>
        <p:txBody>
          <a:bodyPr wrap="square" lIns="0" tIns="0" rIns="0" bIns="0" rtlCol="0" anchor="ctr"/>
          <a:lstStyle/>
          <a:p>
            <a:pPr indent="0" marL="0">
              <a:buNone/>
            </a:pPr>
            <a:r>
              <a:rPr lang="en-US" sz="1400" i="1" dirty="0">
                <a:solidFill>
                  <a:srgbClr val="5E6B6A"/>
                </a:solidFill>
                <a:latin typeface="Calibri" pitchFamily="34" charset="0"/>
                <a:ea typeface="Calibri" pitchFamily="34" charset="-122"/>
                <a:cs typeface="Calibri" pitchFamily="34" charset="-120"/>
              </a:rPr>
              <a:t>The operating floor</a:t>
            </a:r>
            <a:endParaRPr lang="en-US" sz="1400" dirty="0"/>
          </a:p>
        </p:txBody>
      </p:sp>
      <p:sp>
        <p:nvSpPr>
          <p:cNvPr id="15" name="Text 12"/>
          <p:cNvSpPr txBox="1"/>
          <p:nvPr/>
        </p:nvSpPr>
        <p:spPr>
          <a:xfrm>
            <a:off x="6611112" y="3474720"/>
            <a:ext cx="475488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OpEx, token consumption, and system overhead</a:t>
            </a:r>
            <a:endParaRPr lang="en-US" sz="1500" dirty="0"/>
          </a:p>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Predictable, optimized infrastructure spend</a:t>
            </a:r>
            <a:endParaRPr lang="en-US" sz="1500" dirty="0"/>
          </a:p>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Grounded baseline and cost containment</a:t>
            </a:r>
            <a:endParaRPr lang="en-US" sz="1500" dirty="0"/>
          </a:p>
          <a:p>
            <a:pPr marL="342900" indent="-342900">
              <a:spcAft>
                <a:spcPts val="600"/>
              </a:spcAft>
              <a:buSzPct val="100000"/>
              <a:buChar char="•"/>
            </a:pPr>
            <a:r>
              <a:rPr lang="en-US" sz="1500" dirty="0">
                <a:solidFill>
                  <a:srgbClr val="1E2B2A"/>
                </a:solidFill>
                <a:latin typeface="Calibri" pitchFamily="34" charset="0"/>
                <a:ea typeface="Calibri" pitchFamily="34" charset="-122"/>
                <a:cs typeface="Calibri" pitchFamily="34" charset="-120"/>
              </a:rPr>
              <a:t>Reliability that makes the TVR target credible</a:t>
            </a:r>
            <a:endParaRPr lang="en-US" sz="1500" dirty="0"/>
          </a:p>
        </p:txBody>
      </p:sp>
      <p:sp>
        <p:nvSpPr>
          <p:cNvPr id="16" name="Shape 13"/>
          <p:cNvSpPr/>
          <p:nvPr/>
        </p:nvSpPr>
        <p:spPr>
          <a:xfrm>
            <a:off x="548640" y="5669280"/>
            <a:ext cx="11091672" cy="566928"/>
          </a:xfrm>
          <a:prstGeom prst="rect">
            <a:avLst/>
          </a:prstGeom>
          <a:solidFill>
            <a:srgbClr val="F3F6F5"/>
          </a:solidFill>
          <a:ln w="12700">
            <a:solidFill>
              <a:srgbClr val="F3F6F5"/>
            </a:solidFill>
            <a:prstDash val="solid"/>
          </a:ln>
        </p:spPr>
      </p:sp>
      <p:sp>
        <p:nvSpPr>
          <p:cNvPr id="17" name="Text 14"/>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Advantage is the spread. </a:t>
            </a:r>
            <a:pPr indent="0" marL="0">
              <a:buNone/>
            </a:pPr>
            <a:r>
              <a:rPr lang="en-US" sz="1500" dirty="0">
                <a:solidFill>
                  <a:srgbClr val="1E2B2A"/>
                </a:solidFill>
                <a:latin typeface="Calibri" pitchFamily="34" charset="0"/>
                <a:ea typeface="Calibri" pitchFamily="34" charset="-122"/>
                <a:cs typeface="Calibri" pitchFamily="34" charset="-120"/>
              </a:rPr>
              <a:t>This session covers TCO; TVR modeling gets its own session.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THE BLUEPRINT</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Six artifacts form the operating blueprint</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5</a:t>
            </a:r>
            <a:endParaRPr lang="en-US" sz="900" dirty="0"/>
          </a:p>
        </p:txBody>
      </p:sp>
      <p:sp>
        <p:nvSpPr>
          <p:cNvPr id="6" name="Shape 3"/>
          <p:cNvSpPr/>
          <p:nvPr/>
        </p:nvSpPr>
        <p:spPr>
          <a:xfrm>
            <a:off x="548640" y="1783080"/>
            <a:ext cx="3520440" cy="1691640"/>
          </a:xfrm>
          <a:prstGeom prst="rect">
            <a:avLst/>
          </a:prstGeom>
          <a:solidFill>
            <a:srgbClr val="F3F6F5"/>
          </a:solidFill>
          <a:ln w="6350">
            <a:solidFill>
              <a:srgbClr val="F3F6F5"/>
            </a:solidFill>
            <a:prstDash val="solid"/>
          </a:ln>
        </p:spPr>
      </p:sp>
      <p:sp>
        <p:nvSpPr>
          <p:cNvPr id="7" name="Shape 4"/>
          <p:cNvSpPr/>
          <p:nvPr/>
        </p:nvSpPr>
        <p:spPr>
          <a:xfrm>
            <a:off x="822960" y="2057400"/>
            <a:ext cx="548640" cy="548640"/>
          </a:xfrm>
          <a:prstGeom prst="ellipse">
            <a:avLst/>
          </a:prstGeom>
          <a:solidFill>
            <a:srgbClr val="1F6F6B"/>
          </a:solidFill>
          <a:ln w="12700">
            <a:solidFill>
              <a:srgbClr val="1F6F6B"/>
            </a:solidFill>
            <a:prstDash val="solid"/>
          </a:ln>
        </p:spPr>
      </p:sp>
      <p:sp>
        <p:nvSpPr>
          <p:cNvPr id="8" name="Text 5"/>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1</a:t>
            </a:r>
            <a:endParaRPr lang="en-US" sz="1560" dirty="0"/>
          </a:p>
        </p:txBody>
      </p:sp>
      <p:sp>
        <p:nvSpPr>
          <p:cNvPr id="9" name="Text 6"/>
          <p:cNvSpPr txBox="1"/>
          <p:nvPr/>
        </p:nvSpPr>
        <p:spPr>
          <a:xfrm>
            <a:off x="1508760" y="2057400"/>
            <a:ext cx="2423160" cy="54864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Total cost of ownership</a:t>
            </a:r>
            <a:endParaRPr lang="en-US" sz="1700" dirty="0"/>
          </a:p>
        </p:txBody>
      </p:sp>
      <p:sp>
        <p:nvSpPr>
          <p:cNvPr id="10" name="Text 7"/>
          <p:cNvSpPr txBox="1"/>
          <p:nvPr/>
        </p:nvSpPr>
        <p:spPr>
          <a:xfrm>
            <a:off x="822960" y="2697480"/>
            <a:ext cx="301752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Lifetime economics beyond token fees; the cost-to-serve baseline</a:t>
            </a:r>
            <a:endParaRPr lang="en-US" sz="1300" dirty="0"/>
          </a:p>
        </p:txBody>
      </p:sp>
      <p:sp>
        <p:nvSpPr>
          <p:cNvPr id="11" name="Shape 8"/>
          <p:cNvSpPr/>
          <p:nvPr/>
        </p:nvSpPr>
        <p:spPr>
          <a:xfrm>
            <a:off x="4370832" y="1783080"/>
            <a:ext cx="3520440" cy="1691640"/>
          </a:xfrm>
          <a:prstGeom prst="rect">
            <a:avLst/>
          </a:prstGeom>
          <a:solidFill>
            <a:srgbClr val="F3F6F5"/>
          </a:solidFill>
          <a:ln w="6350">
            <a:solidFill>
              <a:srgbClr val="F3F6F5"/>
            </a:solidFill>
            <a:prstDash val="solid"/>
          </a:ln>
        </p:spPr>
      </p:sp>
      <p:sp>
        <p:nvSpPr>
          <p:cNvPr id="12" name="Shape 9"/>
          <p:cNvSpPr/>
          <p:nvPr/>
        </p:nvSpPr>
        <p:spPr>
          <a:xfrm>
            <a:off x="4645152" y="2057400"/>
            <a:ext cx="548640" cy="548640"/>
          </a:xfrm>
          <a:prstGeom prst="ellipse">
            <a:avLst/>
          </a:prstGeom>
          <a:solidFill>
            <a:srgbClr val="1F6F6B"/>
          </a:solidFill>
          <a:ln w="12700">
            <a:solidFill>
              <a:srgbClr val="1F6F6B"/>
            </a:solidFill>
            <a:prstDash val="solid"/>
          </a:ln>
        </p:spPr>
      </p:sp>
      <p:sp>
        <p:nvSpPr>
          <p:cNvPr id="13" name="Text 10"/>
          <p:cNvSpPr txBox="1"/>
          <p:nvPr/>
        </p:nvSpPr>
        <p:spPr>
          <a:xfrm>
            <a:off x="4645152" y="205740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2</a:t>
            </a:r>
            <a:endParaRPr lang="en-US" sz="1560" dirty="0"/>
          </a:p>
        </p:txBody>
      </p:sp>
      <p:sp>
        <p:nvSpPr>
          <p:cNvPr id="14" name="Text 11"/>
          <p:cNvSpPr txBox="1"/>
          <p:nvPr/>
        </p:nvSpPr>
        <p:spPr>
          <a:xfrm>
            <a:off x="5330952" y="2057400"/>
            <a:ext cx="2423160" cy="54864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NRE budget</a:t>
            </a:r>
            <a:endParaRPr lang="en-US" sz="1700" dirty="0"/>
          </a:p>
        </p:txBody>
      </p:sp>
      <p:sp>
        <p:nvSpPr>
          <p:cNvPr id="15" name="Text 12"/>
          <p:cNvSpPr txBox="1"/>
          <p:nvPr/>
        </p:nvSpPr>
        <p:spPr>
          <a:xfrm>
            <a:off x="4645152" y="2697480"/>
            <a:ext cx="301752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One-time design spend released against staged exit gates</a:t>
            </a:r>
            <a:endParaRPr lang="en-US" sz="1300" dirty="0"/>
          </a:p>
        </p:txBody>
      </p:sp>
      <p:sp>
        <p:nvSpPr>
          <p:cNvPr id="16" name="Shape 13"/>
          <p:cNvSpPr/>
          <p:nvPr/>
        </p:nvSpPr>
        <p:spPr>
          <a:xfrm>
            <a:off x="8193024" y="1783080"/>
            <a:ext cx="3520440" cy="1691640"/>
          </a:xfrm>
          <a:prstGeom prst="rect">
            <a:avLst/>
          </a:prstGeom>
          <a:solidFill>
            <a:srgbClr val="F3F6F5"/>
          </a:solidFill>
          <a:ln w="6350">
            <a:solidFill>
              <a:srgbClr val="F3F6F5"/>
            </a:solidFill>
            <a:prstDash val="solid"/>
          </a:ln>
        </p:spPr>
      </p:sp>
      <p:sp>
        <p:nvSpPr>
          <p:cNvPr id="17" name="Shape 14"/>
          <p:cNvSpPr/>
          <p:nvPr/>
        </p:nvSpPr>
        <p:spPr>
          <a:xfrm>
            <a:off x="8467344" y="2057400"/>
            <a:ext cx="548640" cy="548640"/>
          </a:xfrm>
          <a:prstGeom prst="ellipse">
            <a:avLst/>
          </a:prstGeom>
          <a:solidFill>
            <a:srgbClr val="1F6F6B"/>
          </a:solidFill>
          <a:ln w="12700">
            <a:solidFill>
              <a:srgbClr val="1F6F6B"/>
            </a:solidFill>
            <a:prstDash val="solid"/>
          </a:ln>
        </p:spPr>
      </p:sp>
      <p:sp>
        <p:nvSpPr>
          <p:cNvPr id="18" name="Text 15"/>
          <p:cNvSpPr txBox="1"/>
          <p:nvPr/>
        </p:nvSpPr>
        <p:spPr>
          <a:xfrm>
            <a:off x="8467344" y="205740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3</a:t>
            </a:r>
            <a:endParaRPr lang="en-US" sz="1560" dirty="0"/>
          </a:p>
        </p:txBody>
      </p:sp>
      <p:sp>
        <p:nvSpPr>
          <p:cNvPr id="19" name="Text 16"/>
          <p:cNvSpPr txBox="1"/>
          <p:nvPr/>
        </p:nvSpPr>
        <p:spPr>
          <a:xfrm>
            <a:off x="9153144" y="2057400"/>
            <a:ext cx="2423160" cy="54864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Expected OpEx</a:t>
            </a:r>
            <a:endParaRPr lang="en-US" sz="1700" dirty="0"/>
          </a:p>
        </p:txBody>
      </p:sp>
      <p:sp>
        <p:nvSpPr>
          <p:cNvPr id="20" name="Text 17"/>
          <p:cNvSpPr txBox="1"/>
          <p:nvPr/>
        </p:nvSpPr>
        <p:spPr>
          <a:xfrm>
            <a:off x="8467344" y="2697480"/>
            <a:ext cx="301752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Compute spend plus reviewer minutes; predicts recurring cost</a:t>
            </a:r>
            <a:endParaRPr lang="en-US" sz="1300" dirty="0"/>
          </a:p>
        </p:txBody>
      </p:sp>
      <p:sp>
        <p:nvSpPr>
          <p:cNvPr id="21" name="Shape 18"/>
          <p:cNvSpPr/>
          <p:nvPr/>
        </p:nvSpPr>
        <p:spPr>
          <a:xfrm>
            <a:off x="548640" y="3703320"/>
            <a:ext cx="3520440" cy="1691640"/>
          </a:xfrm>
          <a:prstGeom prst="rect">
            <a:avLst/>
          </a:prstGeom>
          <a:solidFill>
            <a:srgbClr val="F3F6F5"/>
          </a:solidFill>
          <a:ln w="6350">
            <a:solidFill>
              <a:srgbClr val="F3F6F5"/>
            </a:solidFill>
            <a:prstDash val="solid"/>
          </a:ln>
        </p:spPr>
      </p:sp>
      <p:sp>
        <p:nvSpPr>
          <p:cNvPr id="22" name="Shape 19"/>
          <p:cNvSpPr/>
          <p:nvPr/>
        </p:nvSpPr>
        <p:spPr>
          <a:xfrm>
            <a:off x="822960" y="3977640"/>
            <a:ext cx="548640" cy="548640"/>
          </a:xfrm>
          <a:prstGeom prst="ellipse">
            <a:avLst/>
          </a:prstGeom>
          <a:solidFill>
            <a:srgbClr val="1F6F6B"/>
          </a:solidFill>
          <a:ln w="12700">
            <a:solidFill>
              <a:srgbClr val="1F6F6B"/>
            </a:solidFill>
            <a:prstDash val="solid"/>
          </a:ln>
        </p:spPr>
      </p:sp>
      <p:sp>
        <p:nvSpPr>
          <p:cNvPr id="23" name="Text 20"/>
          <p:cNvSpPr txBox="1"/>
          <p:nvPr/>
        </p:nvSpPr>
        <p:spPr>
          <a:xfrm>
            <a:off x="822960" y="397764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4</a:t>
            </a:r>
            <a:endParaRPr lang="en-US" sz="1560" dirty="0"/>
          </a:p>
        </p:txBody>
      </p:sp>
      <p:sp>
        <p:nvSpPr>
          <p:cNvPr id="24" name="Text 21"/>
          <p:cNvSpPr txBox="1"/>
          <p:nvPr/>
        </p:nvSpPr>
        <p:spPr>
          <a:xfrm>
            <a:off x="1508760" y="3977640"/>
            <a:ext cx="2423160" cy="54864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Standing controls</a:t>
            </a:r>
            <a:endParaRPr lang="en-US" sz="1700" dirty="0"/>
          </a:p>
        </p:txBody>
      </p:sp>
      <p:sp>
        <p:nvSpPr>
          <p:cNvPr id="25" name="Text 22"/>
          <p:cNvSpPr txBox="1"/>
          <p:nvPr/>
        </p:nvSpPr>
        <p:spPr>
          <a:xfrm>
            <a:off x="822960" y="4617720"/>
            <a:ext cx="301752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Automatic logs of spend, proof, and approvals</a:t>
            </a:r>
            <a:endParaRPr lang="en-US" sz="1300" dirty="0"/>
          </a:p>
        </p:txBody>
      </p:sp>
      <p:sp>
        <p:nvSpPr>
          <p:cNvPr id="26" name="Shape 23"/>
          <p:cNvSpPr/>
          <p:nvPr/>
        </p:nvSpPr>
        <p:spPr>
          <a:xfrm>
            <a:off x="4370832" y="3703320"/>
            <a:ext cx="3520440" cy="1691640"/>
          </a:xfrm>
          <a:prstGeom prst="rect">
            <a:avLst/>
          </a:prstGeom>
          <a:solidFill>
            <a:srgbClr val="F3F6F5"/>
          </a:solidFill>
          <a:ln w="6350">
            <a:solidFill>
              <a:srgbClr val="F3F6F5"/>
            </a:solidFill>
            <a:prstDash val="solid"/>
          </a:ln>
        </p:spPr>
      </p:sp>
      <p:sp>
        <p:nvSpPr>
          <p:cNvPr id="27" name="Shape 24"/>
          <p:cNvSpPr/>
          <p:nvPr/>
        </p:nvSpPr>
        <p:spPr>
          <a:xfrm>
            <a:off x="4645152" y="3977640"/>
            <a:ext cx="548640" cy="548640"/>
          </a:xfrm>
          <a:prstGeom prst="ellipse">
            <a:avLst/>
          </a:prstGeom>
          <a:solidFill>
            <a:srgbClr val="1F6F6B"/>
          </a:solidFill>
          <a:ln w="12700">
            <a:solidFill>
              <a:srgbClr val="1F6F6B"/>
            </a:solidFill>
            <a:prstDash val="solid"/>
          </a:ln>
        </p:spPr>
      </p:sp>
      <p:sp>
        <p:nvSpPr>
          <p:cNvPr id="28" name="Text 25"/>
          <p:cNvSpPr txBox="1"/>
          <p:nvPr/>
        </p:nvSpPr>
        <p:spPr>
          <a:xfrm>
            <a:off x="4645152" y="397764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5</a:t>
            </a:r>
            <a:endParaRPr lang="en-US" sz="1560" dirty="0"/>
          </a:p>
        </p:txBody>
      </p:sp>
      <p:sp>
        <p:nvSpPr>
          <p:cNvPr id="29" name="Text 26"/>
          <p:cNvSpPr txBox="1"/>
          <p:nvPr/>
        </p:nvSpPr>
        <p:spPr>
          <a:xfrm>
            <a:off x="5330952" y="3977640"/>
            <a:ext cx="2423160" cy="54864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Pipeline design</a:t>
            </a:r>
            <a:endParaRPr lang="en-US" sz="1700" dirty="0"/>
          </a:p>
        </p:txBody>
      </p:sp>
      <p:sp>
        <p:nvSpPr>
          <p:cNvPr id="30" name="Text 27"/>
          <p:cNvSpPr txBox="1"/>
          <p:nvPr/>
        </p:nvSpPr>
        <p:spPr>
          <a:xfrm>
            <a:off x="4645152" y="4617720"/>
            <a:ext cx="301752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Institutional best practice encoded as executable rules</a:t>
            </a:r>
            <a:endParaRPr lang="en-US" sz="1300" dirty="0"/>
          </a:p>
        </p:txBody>
      </p:sp>
      <p:sp>
        <p:nvSpPr>
          <p:cNvPr id="31" name="Shape 28"/>
          <p:cNvSpPr/>
          <p:nvPr/>
        </p:nvSpPr>
        <p:spPr>
          <a:xfrm>
            <a:off x="8193024" y="3703320"/>
            <a:ext cx="3520440" cy="1691640"/>
          </a:xfrm>
          <a:prstGeom prst="rect">
            <a:avLst/>
          </a:prstGeom>
          <a:solidFill>
            <a:srgbClr val="FCEFD9"/>
          </a:solidFill>
          <a:ln w="19050">
            <a:solidFill>
              <a:srgbClr val="D9901A"/>
            </a:solidFill>
            <a:prstDash val="solid"/>
          </a:ln>
        </p:spPr>
      </p:sp>
      <p:sp>
        <p:nvSpPr>
          <p:cNvPr id="32" name="Shape 29"/>
          <p:cNvSpPr/>
          <p:nvPr/>
        </p:nvSpPr>
        <p:spPr>
          <a:xfrm>
            <a:off x="8467344" y="3977640"/>
            <a:ext cx="548640" cy="548640"/>
          </a:xfrm>
          <a:prstGeom prst="ellipse">
            <a:avLst/>
          </a:prstGeom>
          <a:solidFill>
            <a:srgbClr val="D9901A"/>
          </a:solidFill>
          <a:ln w="12700">
            <a:solidFill>
              <a:srgbClr val="D9901A"/>
            </a:solidFill>
            <a:prstDash val="solid"/>
          </a:ln>
        </p:spPr>
      </p:sp>
      <p:sp>
        <p:nvSpPr>
          <p:cNvPr id="33" name="Text 30"/>
          <p:cNvSpPr txBox="1"/>
          <p:nvPr/>
        </p:nvSpPr>
        <p:spPr>
          <a:xfrm>
            <a:off x="8467344" y="3977640"/>
            <a:ext cx="548640" cy="548640"/>
          </a:xfrm>
          <a:prstGeom prst="rect">
            <a:avLst/>
          </a:prstGeom>
          <a:noFill/>
          <a:ln/>
        </p:spPr>
        <p:txBody>
          <a:bodyPr wrap="square" lIns="0" tIns="0" rIns="0" bIns="0" rtlCol="0" anchor="ctr"/>
          <a:lstStyle/>
          <a:p>
            <a:pPr algn="ctr" indent="0" marL="0">
              <a:buNone/>
            </a:pPr>
            <a:r>
              <a:rPr lang="en-US" sz="1560" b="1" dirty="0">
                <a:solidFill>
                  <a:srgbClr val="12302F"/>
                </a:solidFill>
                <a:latin typeface="Cambria" pitchFamily="34" charset="0"/>
                <a:ea typeface="Cambria" pitchFamily="34" charset="-122"/>
                <a:cs typeface="Cambria" pitchFamily="34" charset="-120"/>
              </a:rPr>
              <a:t>6</a:t>
            </a:r>
            <a:endParaRPr lang="en-US" sz="1560" dirty="0"/>
          </a:p>
        </p:txBody>
      </p:sp>
      <p:sp>
        <p:nvSpPr>
          <p:cNvPr id="34" name="Text 31"/>
          <p:cNvSpPr txBox="1"/>
          <p:nvPr/>
        </p:nvSpPr>
        <p:spPr>
          <a:xfrm>
            <a:off x="9153144" y="3977640"/>
            <a:ext cx="2423160" cy="54864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Deterministic split</a:t>
            </a:r>
            <a:endParaRPr lang="en-US" sz="1700" dirty="0"/>
          </a:p>
        </p:txBody>
      </p:sp>
      <p:sp>
        <p:nvSpPr>
          <p:cNvPr id="35" name="Text 32"/>
          <p:cNvSpPr txBox="1"/>
          <p:nvPr/>
        </p:nvSpPr>
        <p:spPr>
          <a:xfrm>
            <a:off x="8467344" y="4617720"/>
            <a:ext cx="301752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Separates $0 rules from AI judgment; governs artifacts 1 to 5</a:t>
            </a:r>
            <a:endParaRPr lang="en-US" sz="1300" dirty="0"/>
          </a:p>
        </p:txBody>
      </p:sp>
      <p:sp>
        <p:nvSpPr>
          <p:cNvPr id="36" name="Shape 33"/>
          <p:cNvSpPr/>
          <p:nvPr/>
        </p:nvSpPr>
        <p:spPr>
          <a:xfrm>
            <a:off x="548640" y="5669280"/>
            <a:ext cx="11091672" cy="566928"/>
          </a:xfrm>
          <a:prstGeom prst="rect">
            <a:avLst/>
          </a:prstGeom>
          <a:solidFill>
            <a:srgbClr val="F3F6F5"/>
          </a:solidFill>
          <a:ln w="12700">
            <a:solidFill>
              <a:srgbClr val="F3F6F5"/>
            </a:solidFill>
            <a:prstDash val="solid"/>
          </a:ln>
        </p:spPr>
      </p:sp>
      <p:sp>
        <p:nvSpPr>
          <p:cNvPr id="37" name="Text 34"/>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Start with artifact 6. </a:t>
            </a:r>
            <a:pPr indent="0" marL="0">
              <a:buNone/>
            </a:pPr>
            <a:r>
              <a:rPr lang="en-US" sz="1500" dirty="0">
                <a:solidFill>
                  <a:srgbClr val="1E2B2A"/>
                </a:solidFill>
                <a:latin typeface="Calibri" pitchFamily="34" charset="0"/>
                <a:ea typeface="Calibri" pitchFamily="34" charset="-122"/>
                <a:cs typeface="Calibri" pitchFamily="34" charset="-120"/>
              </a:rPr>
              <a:t>Artifacts 1 to 5 protect the business; the split governs them all.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ARTIFACT 1  |  TOTAL COST OF OWNERSHIP</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Budget all seven cost layers, not just tokens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6</a:t>
            </a:r>
            <a:endParaRPr lang="en-US" sz="900" dirty="0"/>
          </a:p>
        </p:txBody>
      </p:sp>
      <p:sp>
        <p:nvSpPr>
          <p:cNvPr id="6" name="Text 3"/>
          <p:cNvSpPr txBox="1"/>
          <p:nvPr/>
        </p:nvSpPr>
        <p:spPr>
          <a:xfrm>
            <a:off x="548640" y="1691640"/>
            <a:ext cx="4572000" cy="274320"/>
          </a:xfrm>
          <a:prstGeom prst="rect">
            <a:avLst/>
          </a:prstGeom>
          <a:noFill/>
          <a:ln/>
        </p:spPr>
        <p:txBody>
          <a:bodyPr wrap="square" lIns="0" tIns="0" rIns="0" bIns="0" rtlCol="0" anchor="ctr"/>
          <a:lstStyle/>
          <a:p>
            <a:pPr indent="0" marL="0">
              <a:buNone/>
            </a:pPr>
            <a:r>
              <a:rPr lang="en-US" sz="1200" b="1" dirty="0">
                <a:solidFill>
                  <a:srgbClr val="9A6208"/>
                </a:solidFill>
                <a:latin typeface="Calibri" pitchFamily="34" charset="0"/>
                <a:ea typeface="Calibri" pitchFamily="34" charset="-122"/>
                <a:cs typeface="Calibri" pitchFamily="34" charset="-120"/>
              </a:rPr>
              <a:t>ONE-TIME CAPITAL (NRE)</a:t>
            </a:r>
            <a:endParaRPr lang="en-US" sz="1200" dirty="0"/>
          </a:p>
        </p:txBody>
      </p:sp>
      <p:sp>
        <p:nvSpPr>
          <p:cNvPr id="7" name="Shape 4"/>
          <p:cNvSpPr/>
          <p:nvPr/>
        </p:nvSpPr>
        <p:spPr>
          <a:xfrm>
            <a:off x="548640" y="2011680"/>
            <a:ext cx="2743200" cy="1417320"/>
          </a:xfrm>
          <a:prstGeom prst="rect">
            <a:avLst/>
          </a:prstGeom>
          <a:solidFill>
            <a:srgbClr val="FCEFD9"/>
          </a:solidFill>
          <a:ln w="12700">
            <a:solidFill>
              <a:srgbClr val="FCEFD9"/>
            </a:solidFill>
            <a:prstDash val="solid"/>
          </a:ln>
        </p:spPr>
      </p:sp>
      <p:sp>
        <p:nvSpPr>
          <p:cNvPr id="8" name="Text 5"/>
          <p:cNvSpPr txBox="1"/>
          <p:nvPr/>
        </p:nvSpPr>
        <p:spPr>
          <a:xfrm>
            <a:off x="731520" y="2148840"/>
            <a:ext cx="237744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Design and build</a:t>
            </a:r>
            <a:endParaRPr lang="en-US" sz="1600" dirty="0"/>
          </a:p>
        </p:txBody>
      </p:sp>
      <p:sp>
        <p:nvSpPr>
          <p:cNvPr id="9" name="Text 6"/>
          <p:cNvSpPr txBox="1"/>
          <p:nvPr/>
        </p:nvSpPr>
        <p:spPr>
          <a:xfrm>
            <a:off x="731520" y="2514600"/>
            <a:ext cx="237744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NRE, one-time</a:t>
            </a:r>
            <a:endParaRPr lang="en-US" sz="1100" dirty="0"/>
          </a:p>
        </p:txBody>
      </p:sp>
      <p:sp>
        <p:nvSpPr>
          <p:cNvPr id="10" name="Text 7"/>
          <p:cNvSpPr txBox="1"/>
          <p:nvPr/>
        </p:nvSpPr>
        <p:spPr>
          <a:xfrm>
            <a:off x="731520" y="2788920"/>
            <a:ext cx="237744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Process mapping, decomposition, guardrails</a:t>
            </a:r>
            <a:endParaRPr lang="en-US" sz="1200" dirty="0"/>
          </a:p>
        </p:txBody>
      </p:sp>
      <p:sp>
        <p:nvSpPr>
          <p:cNvPr id="11" name="Shape 8"/>
          <p:cNvSpPr/>
          <p:nvPr/>
        </p:nvSpPr>
        <p:spPr>
          <a:xfrm>
            <a:off x="3429000" y="2011680"/>
            <a:ext cx="2743200" cy="1417320"/>
          </a:xfrm>
          <a:prstGeom prst="rect">
            <a:avLst/>
          </a:prstGeom>
          <a:solidFill>
            <a:srgbClr val="FCEFD9"/>
          </a:solidFill>
          <a:ln w="12700">
            <a:solidFill>
              <a:srgbClr val="FCEFD9"/>
            </a:solidFill>
            <a:prstDash val="solid"/>
          </a:ln>
        </p:spPr>
      </p:sp>
      <p:sp>
        <p:nvSpPr>
          <p:cNvPr id="12" name="Text 9"/>
          <p:cNvSpPr txBox="1"/>
          <p:nvPr/>
        </p:nvSpPr>
        <p:spPr>
          <a:xfrm>
            <a:off x="3611880" y="2148840"/>
            <a:ext cx="237744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Lifecycle upgrades</a:t>
            </a:r>
            <a:endParaRPr lang="en-US" sz="1600" dirty="0"/>
          </a:p>
        </p:txBody>
      </p:sp>
      <p:sp>
        <p:nvSpPr>
          <p:cNvPr id="13" name="Text 10"/>
          <p:cNvSpPr txBox="1"/>
          <p:nvPr/>
        </p:nvSpPr>
        <p:spPr>
          <a:xfrm>
            <a:off x="3611880" y="2514600"/>
            <a:ext cx="237744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NRE, periodic</a:t>
            </a:r>
            <a:endParaRPr lang="en-US" sz="1100" dirty="0"/>
          </a:p>
        </p:txBody>
      </p:sp>
      <p:sp>
        <p:nvSpPr>
          <p:cNvPr id="14" name="Text 11"/>
          <p:cNvSpPr txBox="1"/>
          <p:nvPr/>
        </p:nvSpPr>
        <p:spPr>
          <a:xfrm>
            <a:off x="3611880" y="2788920"/>
            <a:ext cx="237744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Migration to new models; feature refresh</a:t>
            </a:r>
            <a:endParaRPr lang="en-US" sz="1200" dirty="0"/>
          </a:p>
        </p:txBody>
      </p:sp>
      <p:sp>
        <p:nvSpPr>
          <p:cNvPr id="15" name="Text 12"/>
          <p:cNvSpPr txBox="1"/>
          <p:nvPr/>
        </p:nvSpPr>
        <p:spPr>
          <a:xfrm>
            <a:off x="548640" y="3611880"/>
            <a:ext cx="5486400" cy="274320"/>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RECURRING OPERATING COST (OpEx)</a:t>
            </a:r>
            <a:endParaRPr lang="en-US" sz="1200" dirty="0"/>
          </a:p>
        </p:txBody>
      </p:sp>
      <p:sp>
        <p:nvSpPr>
          <p:cNvPr id="16" name="Shape 13"/>
          <p:cNvSpPr/>
          <p:nvPr/>
        </p:nvSpPr>
        <p:spPr>
          <a:xfrm>
            <a:off x="548640" y="3931920"/>
            <a:ext cx="2103120" cy="1417320"/>
          </a:xfrm>
          <a:prstGeom prst="rect">
            <a:avLst/>
          </a:prstGeom>
          <a:solidFill>
            <a:srgbClr val="F3F6F5"/>
          </a:solidFill>
          <a:ln w="12700">
            <a:solidFill>
              <a:srgbClr val="F3F6F5"/>
            </a:solidFill>
            <a:prstDash val="solid"/>
          </a:ln>
        </p:spPr>
      </p:sp>
      <p:sp>
        <p:nvSpPr>
          <p:cNvPr id="17" name="Text 14"/>
          <p:cNvSpPr txBox="1"/>
          <p:nvPr/>
        </p:nvSpPr>
        <p:spPr>
          <a:xfrm>
            <a:off x="731520" y="4069080"/>
            <a:ext cx="173736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Inference</a:t>
            </a:r>
            <a:endParaRPr lang="en-US" sz="1600" dirty="0"/>
          </a:p>
        </p:txBody>
      </p:sp>
      <p:sp>
        <p:nvSpPr>
          <p:cNvPr id="18" name="Text 15"/>
          <p:cNvSpPr txBox="1"/>
          <p:nvPr/>
        </p:nvSpPr>
        <p:spPr>
          <a:xfrm>
            <a:off x="731520" y="4434840"/>
            <a:ext cx="173736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Variable</a:t>
            </a:r>
            <a:endParaRPr lang="en-US" sz="1100" dirty="0"/>
          </a:p>
        </p:txBody>
      </p:sp>
      <p:sp>
        <p:nvSpPr>
          <p:cNvPr id="19" name="Text 16"/>
          <p:cNvSpPr txBox="1"/>
          <p:nvPr/>
        </p:nvSpPr>
        <p:spPr>
          <a:xfrm>
            <a:off x="731520" y="4709160"/>
            <a:ext cx="173736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Input, reasoning, output, and cache tokens</a:t>
            </a:r>
            <a:endParaRPr lang="en-US" sz="1200" dirty="0"/>
          </a:p>
        </p:txBody>
      </p:sp>
      <p:sp>
        <p:nvSpPr>
          <p:cNvPr id="20" name="Shape 17"/>
          <p:cNvSpPr/>
          <p:nvPr/>
        </p:nvSpPr>
        <p:spPr>
          <a:xfrm>
            <a:off x="2788920" y="3931920"/>
            <a:ext cx="2103120" cy="1417320"/>
          </a:xfrm>
          <a:prstGeom prst="rect">
            <a:avLst/>
          </a:prstGeom>
          <a:solidFill>
            <a:srgbClr val="F3F6F5"/>
          </a:solidFill>
          <a:ln w="12700">
            <a:solidFill>
              <a:srgbClr val="F3F6F5"/>
            </a:solidFill>
            <a:prstDash val="solid"/>
          </a:ln>
        </p:spPr>
      </p:sp>
      <p:sp>
        <p:nvSpPr>
          <p:cNvPr id="21" name="Text 18"/>
          <p:cNvSpPr txBox="1"/>
          <p:nvPr/>
        </p:nvSpPr>
        <p:spPr>
          <a:xfrm>
            <a:off x="2971800" y="4069080"/>
            <a:ext cx="173736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Human review</a:t>
            </a:r>
            <a:endParaRPr lang="en-US" sz="1600" dirty="0"/>
          </a:p>
        </p:txBody>
      </p:sp>
      <p:sp>
        <p:nvSpPr>
          <p:cNvPr id="22" name="Text 19"/>
          <p:cNvSpPr txBox="1"/>
          <p:nvPr/>
        </p:nvSpPr>
        <p:spPr>
          <a:xfrm>
            <a:off x="2971800" y="4434840"/>
            <a:ext cx="173736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Variable</a:t>
            </a:r>
            <a:endParaRPr lang="en-US" sz="1100" dirty="0"/>
          </a:p>
        </p:txBody>
      </p:sp>
      <p:sp>
        <p:nvSpPr>
          <p:cNvPr id="23" name="Text 20"/>
          <p:cNvSpPr txBox="1"/>
          <p:nvPr/>
        </p:nvSpPr>
        <p:spPr>
          <a:xfrm>
            <a:off x="2971800" y="4709160"/>
            <a:ext cx="173736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Oversight, approvals, escalations</a:t>
            </a:r>
            <a:endParaRPr lang="en-US" sz="1200" dirty="0"/>
          </a:p>
        </p:txBody>
      </p:sp>
      <p:sp>
        <p:nvSpPr>
          <p:cNvPr id="24" name="Shape 21"/>
          <p:cNvSpPr/>
          <p:nvPr/>
        </p:nvSpPr>
        <p:spPr>
          <a:xfrm>
            <a:off x="5029200" y="3931920"/>
            <a:ext cx="2103120" cy="1417320"/>
          </a:xfrm>
          <a:prstGeom prst="rect">
            <a:avLst/>
          </a:prstGeom>
          <a:solidFill>
            <a:srgbClr val="F3F6F5"/>
          </a:solidFill>
          <a:ln w="12700">
            <a:solidFill>
              <a:srgbClr val="F3F6F5"/>
            </a:solidFill>
            <a:prstDash val="solid"/>
          </a:ln>
        </p:spPr>
      </p:sp>
      <p:sp>
        <p:nvSpPr>
          <p:cNvPr id="25" name="Text 22"/>
          <p:cNvSpPr txBox="1"/>
          <p:nvPr/>
        </p:nvSpPr>
        <p:spPr>
          <a:xfrm>
            <a:off x="5212080" y="4069080"/>
            <a:ext cx="173736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Quality safeguards</a:t>
            </a:r>
            <a:endParaRPr lang="en-US" sz="1600" dirty="0"/>
          </a:p>
        </p:txBody>
      </p:sp>
      <p:sp>
        <p:nvSpPr>
          <p:cNvPr id="26" name="Text 23"/>
          <p:cNvSpPr txBox="1"/>
          <p:nvPr/>
        </p:nvSpPr>
        <p:spPr>
          <a:xfrm>
            <a:off x="5212080" y="4434840"/>
            <a:ext cx="173736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Variable</a:t>
            </a:r>
            <a:endParaRPr lang="en-US" sz="1100" dirty="0"/>
          </a:p>
        </p:txBody>
      </p:sp>
      <p:sp>
        <p:nvSpPr>
          <p:cNvPr id="27" name="Text 24"/>
          <p:cNvSpPr txBox="1"/>
          <p:nvPr/>
        </p:nvSpPr>
        <p:spPr>
          <a:xfrm>
            <a:off x="5212080" y="4709160"/>
            <a:ext cx="173736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Exception handling and feedback loops</a:t>
            </a:r>
            <a:endParaRPr lang="en-US" sz="1200" dirty="0"/>
          </a:p>
        </p:txBody>
      </p:sp>
      <p:sp>
        <p:nvSpPr>
          <p:cNvPr id="28" name="Shape 25"/>
          <p:cNvSpPr/>
          <p:nvPr/>
        </p:nvSpPr>
        <p:spPr>
          <a:xfrm>
            <a:off x="7269480" y="3931920"/>
            <a:ext cx="2103120" cy="1417320"/>
          </a:xfrm>
          <a:prstGeom prst="rect">
            <a:avLst/>
          </a:prstGeom>
          <a:solidFill>
            <a:srgbClr val="F3F6F5"/>
          </a:solidFill>
          <a:ln w="12700">
            <a:solidFill>
              <a:srgbClr val="F3F6F5"/>
            </a:solidFill>
            <a:prstDash val="solid"/>
          </a:ln>
        </p:spPr>
      </p:sp>
      <p:sp>
        <p:nvSpPr>
          <p:cNvPr id="29" name="Text 26"/>
          <p:cNvSpPr txBox="1"/>
          <p:nvPr/>
        </p:nvSpPr>
        <p:spPr>
          <a:xfrm>
            <a:off x="7452360" y="4069080"/>
            <a:ext cx="173736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Platform</a:t>
            </a:r>
            <a:endParaRPr lang="en-US" sz="1600" dirty="0"/>
          </a:p>
        </p:txBody>
      </p:sp>
      <p:sp>
        <p:nvSpPr>
          <p:cNvPr id="30" name="Text 27"/>
          <p:cNvSpPr txBox="1"/>
          <p:nvPr/>
        </p:nvSpPr>
        <p:spPr>
          <a:xfrm>
            <a:off x="7452360" y="4434840"/>
            <a:ext cx="173736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Fixed</a:t>
            </a:r>
            <a:endParaRPr lang="en-US" sz="1100" dirty="0"/>
          </a:p>
        </p:txBody>
      </p:sp>
      <p:sp>
        <p:nvSpPr>
          <p:cNvPr id="31" name="Text 28"/>
          <p:cNvSpPr txBox="1"/>
          <p:nvPr/>
        </p:nvSpPr>
        <p:spPr>
          <a:xfrm>
            <a:off x="7452360" y="4709160"/>
            <a:ext cx="173736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Hosting, logging, evidence, identity</a:t>
            </a:r>
            <a:endParaRPr lang="en-US" sz="1200" dirty="0"/>
          </a:p>
        </p:txBody>
      </p:sp>
      <p:sp>
        <p:nvSpPr>
          <p:cNvPr id="32" name="Shape 29"/>
          <p:cNvSpPr/>
          <p:nvPr/>
        </p:nvSpPr>
        <p:spPr>
          <a:xfrm>
            <a:off x="9509760" y="3931920"/>
            <a:ext cx="2103120" cy="1417320"/>
          </a:xfrm>
          <a:prstGeom prst="rect">
            <a:avLst/>
          </a:prstGeom>
          <a:solidFill>
            <a:srgbClr val="F3F6F5"/>
          </a:solidFill>
          <a:ln w="12700">
            <a:solidFill>
              <a:srgbClr val="F3F6F5"/>
            </a:solidFill>
            <a:prstDash val="solid"/>
          </a:ln>
        </p:spPr>
      </p:sp>
      <p:sp>
        <p:nvSpPr>
          <p:cNvPr id="33" name="Text 30"/>
          <p:cNvSpPr txBox="1"/>
          <p:nvPr/>
        </p:nvSpPr>
        <p:spPr>
          <a:xfrm>
            <a:off x="9692640" y="4069080"/>
            <a:ext cx="1737360" cy="365760"/>
          </a:xfrm>
          <a:prstGeom prst="rect">
            <a:avLst/>
          </a:prstGeom>
          <a:noFill/>
          <a:ln/>
        </p:spPr>
        <p:txBody>
          <a:bodyPr wrap="square" lIns="0" tIns="0" rIns="0" bIns="0" rtlCol="0" anchor="ctr"/>
          <a:lstStyle/>
          <a:p>
            <a:pPr indent="0" marL="0">
              <a:buNone/>
            </a:pPr>
            <a:r>
              <a:rPr lang="en-US" sz="1600" b="1" dirty="0">
                <a:solidFill>
                  <a:srgbClr val="1E2B2A"/>
                </a:solidFill>
                <a:latin typeface="Cambria" pitchFamily="34" charset="0"/>
                <a:ea typeface="Cambria" pitchFamily="34" charset="-122"/>
                <a:cs typeface="Cambria" pitchFamily="34" charset="-120"/>
              </a:rPr>
              <a:t>Assurance</a:t>
            </a:r>
            <a:endParaRPr lang="en-US" sz="1600" dirty="0"/>
          </a:p>
        </p:txBody>
      </p:sp>
      <p:sp>
        <p:nvSpPr>
          <p:cNvPr id="34" name="Text 31"/>
          <p:cNvSpPr txBox="1"/>
          <p:nvPr/>
        </p:nvSpPr>
        <p:spPr>
          <a:xfrm>
            <a:off x="9692640" y="4434840"/>
            <a:ext cx="1737360" cy="256032"/>
          </a:xfrm>
          <a:prstGeom prst="rect">
            <a:avLst/>
          </a:prstGeom>
          <a:noFill/>
          <a:ln/>
        </p:spPr>
        <p:txBody>
          <a:bodyPr wrap="square" lIns="0" tIns="0" rIns="0" bIns="0" rtlCol="0" anchor="ctr"/>
          <a:lstStyle/>
          <a:p>
            <a:pPr indent="0" marL="0">
              <a:buNone/>
            </a:pPr>
            <a:r>
              <a:rPr lang="en-US" sz="1100" b="1" dirty="0">
                <a:solidFill>
                  <a:srgbClr val="1F6F6B"/>
                </a:solidFill>
                <a:latin typeface="Calibri" pitchFamily="34" charset="0"/>
                <a:ea typeface="Calibri" pitchFamily="34" charset="-122"/>
                <a:cs typeface="Calibri" pitchFamily="34" charset="-120"/>
              </a:rPr>
              <a:t>Fixed</a:t>
            </a:r>
            <a:endParaRPr lang="en-US" sz="1100" dirty="0"/>
          </a:p>
        </p:txBody>
      </p:sp>
      <p:sp>
        <p:nvSpPr>
          <p:cNvPr id="35" name="Text 32"/>
          <p:cNvSpPr txBox="1"/>
          <p:nvPr/>
        </p:nvSpPr>
        <p:spPr>
          <a:xfrm>
            <a:off x="9692640" y="4709160"/>
            <a:ext cx="1737360" cy="548640"/>
          </a:xfrm>
          <a:prstGeom prst="rect">
            <a:avLst/>
          </a:prstGeom>
          <a:noFill/>
          <a:ln/>
        </p:spPr>
        <p:txBody>
          <a:bodyPr wrap="square" lIns="0" tIns="0" rIns="0" bIns="0" rtlCol="0" anchor="t"/>
          <a:lstStyle/>
          <a:p>
            <a:pPr indent="0" marL="0">
              <a:buNone/>
            </a:pPr>
            <a:r>
              <a:rPr lang="en-US" sz="1200" dirty="0">
                <a:solidFill>
                  <a:srgbClr val="5E6B6A"/>
                </a:solidFill>
                <a:latin typeface="Calibri" pitchFamily="34" charset="0"/>
                <a:ea typeface="Calibri" pitchFamily="34" charset="-122"/>
                <a:cs typeface="Calibri" pitchFamily="34" charset="-120"/>
              </a:rPr>
              <a:t>Sampling; regression on model updates</a:t>
            </a:r>
            <a:endParaRPr lang="en-US" sz="1200" dirty="0"/>
          </a:p>
        </p:txBody>
      </p:sp>
      <p:sp>
        <p:nvSpPr>
          <p:cNvPr id="36" name="Text 33"/>
          <p:cNvSpPr txBox="1"/>
          <p:nvPr/>
        </p:nvSpPr>
        <p:spPr>
          <a:xfrm>
            <a:off x="6766560" y="2011680"/>
            <a:ext cx="2194560" cy="1417320"/>
          </a:xfrm>
          <a:prstGeom prst="rect">
            <a:avLst/>
          </a:prstGeom>
          <a:noFill/>
          <a:ln/>
        </p:spPr>
        <p:txBody>
          <a:bodyPr wrap="square" lIns="0" tIns="0" rIns="0" bIns="0" rtlCol="0" anchor="ctr"/>
          <a:lstStyle/>
          <a:p>
            <a:pPr indent="0" marL="0">
              <a:buNone/>
            </a:pPr>
            <a:r>
              <a:rPr lang="en-US" sz="5400" b="1" dirty="0">
                <a:solidFill>
                  <a:srgbClr val="9A6208"/>
                </a:solidFill>
                <a:latin typeface="Cambria" pitchFamily="34" charset="0"/>
                <a:ea typeface="Cambria" pitchFamily="34" charset="-122"/>
                <a:cs typeface="Cambria" pitchFamily="34" charset="-120"/>
              </a:rPr>
              <a:t>2</a:t>
            </a:r>
            <a:endParaRPr lang="en-US" sz="5400" dirty="0"/>
          </a:p>
          <a:p>
            <a:pPr indent="0" marL="0">
              <a:buNone/>
            </a:pPr>
            <a:r>
              <a:rPr lang="en-US" sz="1400" dirty="0">
                <a:solidFill>
                  <a:srgbClr val="5E6B6A"/>
                </a:solidFill>
              </a:rPr>
              <a:t>layers are one-time</a:t>
            </a:r>
            <a:endParaRPr lang="en-US" sz="5400" dirty="0"/>
          </a:p>
        </p:txBody>
      </p:sp>
      <p:sp>
        <p:nvSpPr>
          <p:cNvPr id="37" name="Text 34"/>
          <p:cNvSpPr txBox="1"/>
          <p:nvPr/>
        </p:nvSpPr>
        <p:spPr>
          <a:xfrm>
            <a:off x="9144000" y="2011680"/>
            <a:ext cx="2194560" cy="1417320"/>
          </a:xfrm>
          <a:prstGeom prst="rect">
            <a:avLst/>
          </a:prstGeom>
          <a:noFill/>
          <a:ln/>
        </p:spPr>
        <p:txBody>
          <a:bodyPr wrap="square" lIns="0" tIns="0" rIns="0" bIns="0" rtlCol="0" anchor="ctr"/>
          <a:lstStyle/>
          <a:p>
            <a:pPr indent="0" marL="0">
              <a:buNone/>
            </a:pPr>
            <a:r>
              <a:rPr lang="en-US" sz="5400" b="1" dirty="0">
                <a:solidFill>
                  <a:srgbClr val="1F6F6B"/>
                </a:solidFill>
                <a:latin typeface="Cambria" pitchFamily="34" charset="0"/>
                <a:ea typeface="Cambria" pitchFamily="34" charset="-122"/>
                <a:cs typeface="Cambria" pitchFamily="34" charset="-120"/>
              </a:rPr>
              <a:t>5</a:t>
            </a:r>
            <a:endParaRPr lang="en-US" sz="5400" dirty="0"/>
          </a:p>
          <a:p>
            <a:pPr indent="0" marL="0">
              <a:buNone/>
            </a:pPr>
            <a:r>
              <a:rPr lang="en-US" sz="1400" dirty="0">
                <a:solidFill>
                  <a:srgbClr val="5E6B6A"/>
                </a:solidFill>
              </a:rPr>
              <a:t>layers recur</a:t>
            </a:r>
            <a:endParaRPr lang="en-US" sz="5400" dirty="0"/>
          </a:p>
        </p:txBody>
      </p:sp>
      <p:sp>
        <p:nvSpPr>
          <p:cNvPr id="38" name="Shape 35"/>
          <p:cNvSpPr/>
          <p:nvPr/>
        </p:nvSpPr>
        <p:spPr>
          <a:xfrm>
            <a:off x="548640" y="5669280"/>
            <a:ext cx="11091672" cy="566928"/>
          </a:xfrm>
          <a:prstGeom prst="rect">
            <a:avLst/>
          </a:prstGeom>
          <a:solidFill>
            <a:srgbClr val="F3F6F5"/>
          </a:solidFill>
          <a:ln w="12700">
            <a:solidFill>
              <a:srgbClr val="F3F6F5"/>
            </a:solidFill>
            <a:prstDash val="solid"/>
          </a:ln>
        </p:spPr>
      </p:sp>
      <p:sp>
        <p:nvSpPr>
          <p:cNvPr id="39" name="Text 36"/>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A business case that counts only licenses and tokens is a quote.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ARTIFACT 6  |  THE DETERMINISTIC SPLIT</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Deterministic by default; probabilistic where it pays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7</a:t>
            </a:r>
            <a:endParaRPr lang="en-US" sz="900" dirty="0"/>
          </a:p>
        </p:txBody>
      </p:sp>
      <p:sp>
        <p:nvSpPr>
          <p:cNvPr id="6" name="Shape 3"/>
          <p:cNvSpPr/>
          <p:nvPr/>
        </p:nvSpPr>
        <p:spPr>
          <a:xfrm>
            <a:off x="548640" y="1737360"/>
            <a:ext cx="5394960" cy="3611880"/>
          </a:xfrm>
          <a:prstGeom prst="rect">
            <a:avLst/>
          </a:prstGeom>
          <a:solidFill>
            <a:srgbClr val="DCEBE8"/>
          </a:solidFill>
          <a:ln w="12700">
            <a:solidFill>
              <a:srgbClr val="DCEBE8"/>
            </a:solidFill>
            <a:prstDash val="solid"/>
          </a:ln>
        </p:spPr>
      </p:sp>
      <p:sp>
        <p:nvSpPr>
          <p:cNvPr id="7" name="Text 4"/>
          <p:cNvSpPr txBox="1"/>
          <p:nvPr/>
        </p:nvSpPr>
        <p:spPr>
          <a:xfrm>
            <a:off x="914400" y="1920240"/>
            <a:ext cx="4663440" cy="457200"/>
          </a:xfrm>
          <a:prstGeom prst="rect">
            <a:avLst/>
          </a:prstGeom>
          <a:noFill/>
          <a:ln/>
        </p:spPr>
        <p:txBody>
          <a:bodyPr wrap="square" lIns="0" tIns="0" rIns="0" bIns="0" rtlCol="0" anchor="ctr"/>
          <a:lstStyle/>
          <a:p>
            <a:pPr indent="0" marL="0">
              <a:buNone/>
            </a:pPr>
            <a:r>
              <a:rPr lang="en-US" sz="2400" b="1" dirty="0">
                <a:solidFill>
                  <a:srgbClr val="1E2B2A"/>
                </a:solidFill>
                <a:latin typeface="Cambria" pitchFamily="34" charset="0"/>
                <a:ea typeface="Cambria" pitchFamily="34" charset="-122"/>
                <a:cs typeface="Cambria" pitchFamily="34" charset="-120"/>
              </a:rPr>
              <a:t>Deterministic</a:t>
            </a:r>
            <a:endParaRPr lang="en-US" sz="2400" dirty="0"/>
          </a:p>
        </p:txBody>
      </p:sp>
      <p:sp>
        <p:nvSpPr>
          <p:cNvPr id="8" name="Text 5"/>
          <p:cNvSpPr txBox="1"/>
          <p:nvPr/>
        </p:nvSpPr>
        <p:spPr>
          <a:xfrm>
            <a:off x="914400" y="2377440"/>
            <a:ext cx="4663440" cy="320040"/>
          </a:xfrm>
          <a:prstGeom prst="rect">
            <a:avLst/>
          </a:prstGeom>
          <a:noFill/>
          <a:ln/>
        </p:spPr>
        <p:txBody>
          <a:bodyPr wrap="square" lIns="0" tIns="0" rIns="0" bIns="0" rtlCol="0" anchor="ctr"/>
          <a:lstStyle/>
          <a:p>
            <a:pPr indent="0" marL="0">
              <a:buNone/>
            </a:pPr>
            <a:r>
              <a:rPr lang="en-US" sz="1400" b="1" i="1" dirty="0">
                <a:solidFill>
                  <a:srgbClr val="1F6F6B"/>
                </a:solidFill>
                <a:latin typeface="Calibri" pitchFamily="34" charset="0"/>
                <a:ea typeface="Calibri" pitchFamily="34" charset="-122"/>
                <a:cs typeface="Calibri" pitchFamily="34" charset="-120"/>
              </a:rPr>
              <a:t>The floor</a:t>
            </a:r>
            <a:endParaRPr lang="en-US" sz="1400" dirty="0"/>
          </a:p>
        </p:txBody>
      </p:sp>
      <p:sp>
        <p:nvSpPr>
          <p:cNvPr id="9" name="Text 6"/>
          <p:cNvSpPr txBox="1"/>
          <p:nvPr/>
        </p:nvSpPr>
        <p:spPr>
          <a:xfrm>
            <a:off x="914400" y="2834640"/>
            <a:ext cx="1417320" cy="548640"/>
          </a:xfrm>
          <a:prstGeom prst="rect">
            <a:avLst/>
          </a:prstGeom>
          <a:noFill/>
          <a:ln/>
        </p:spPr>
        <p:txBody>
          <a:bodyPr wrap="square" lIns="0" tIns="0" rIns="0" bIns="0" rtlCol="0" anchor="t"/>
          <a:lstStyle/>
          <a:p>
            <a:pPr indent="0" marL="0">
              <a:buNone/>
            </a:pPr>
            <a:r>
              <a:rPr lang="en-US" sz="1100" b="1" dirty="0">
                <a:solidFill>
                  <a:srgbClr val="1F6F6B"/>
                </a:solidFill>
                <a:latin typeface="Calibri" pitchFamily="34" charset="0"/>
                <a:ea typeface="Calibri" pitchFamily="34" charset="-122"/>
                <a:cs typeface="Calibri" pitchFamily="34" charset="-120"/>
              </a:rPr>
              <a:t>BEHAVIOR</a:t>
            </a:r>
            <a:endParaRPr lang="en-US" sz="1100" dirty="0"/>
          </a:p>
        </p:txBody>
      </p:sp>
      <p:sp>
        <p:nvSpPr>
          <p:cNvPr id="10" name="Text 7"/>
          <p:cNvSpPr txBox="1"/>
          <p:nvPr/>
        </p:nvSpPr>
        <p:spPr>
          <a:xfrm>
            <a:off x="2331720" y="2834640"/>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Same input, same output, every time</a:t>
            </a:r>
            <a:endParaRPr lang="en-US" sz="1400" dirty="0"/>
          </a:p>
        </p:txBody>
      </p:sp>
      <p:sp>
        <p:nvSpPr>
          <p:cNvPr id="11" name="Text 8"/>
          <p:cNvSpPr txBox="1"/>
          <p:nvPr/>
        </p:nvSpPr>
        <p:spPr>
          <a:xfrm>
            <a:off x="914400" y="3456432"/>
            <a:ext cx="1417320" cy="548640"/>
          </a:xfrm>
          <a:prstGeom prst="rect">
            <a:avLst/>
          </a:prstGeom>
          <a:noFill/>
          <a:ln/>
        </p:spPr>
        <p:txBody>
          <a:bodyPr wrap="square" lIns="0" tIns="0" rIns="0" bIns="0" rtlCol="0" anchor="t"/>
          <a:lstStyle/>
          <a:p>
            <a:pPr indent="0" marL="0">
              <a:buNone/>
            </a:pPr>
            <a:r>
              <a:rPr lang="en-US" sz="1100" b="1" dirty="0">
                <a:solidFill>
                  <a:srgbClr val="1F6F6B"/>
                </a:solidFill>
                <a:latin typeface="Calibri" pitchFamily="34" charset="0"/>
                <a:ea typeface="Calibri" pitchFamily="34" charset="-122"/>
                <a:cs typeface="Calibri" pitchFamily="34" charset="-120"/>
              </a:rPr>
              <a:t>MARGINAL COST</a:t>
            </a:r>
            <a:endParaRPr lang="en-US" sz="1100" dirty="0"/>
          </a:p>
        </p:txBody>
      </p:sp>
      <p:sp>
        <p:nvSpPr>
          <p:cNvPr id="12" name="Text 9"/>
          <p:cNvSpPr txBox="1"/>
          <p:nvPr/>
        </p:nvSpPr>
        <p:spPr>
          <a:xfrm>
            <a:off x="2331720" y="3456432"/>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$0 per run once coded</a:t>
            </a:r>
            <a:endParaRPr lang="en-US" sz="1400" dirty="0"/>
          </a:p>
        </p:txBody>
      </p:sp>
      <p:sp>
        <p:nvSpPr>
          <p:cNvPr id="13" name="Text 10"/>
          <p:cNvSpPr txBox="1"/>
          <p:nvPr/>
        </p:nvSpPr>
        <p:spPr>
          <a:xfrm>
            <a:off x="914400" y="4078224"/>
            <a:ext cx="1417320" cy="548640"/>
          </a:xfrm>
          <a:prstGeom prst="rect">
            <a:avLst/>
          </a:prstGeom>
          <a:noFill/>
          <a:ln/>
        </p:spPr>
        <p:txBody>
          <a:bodyPr wrap="square" lIns="0" tIns="0" rIns="0" bIns="0" rtlCol="0" anchor="t"/>
          <a:lstStyle/>
          <a:p>
            <a:pPr indent="0" marL="0">
              <a:buNone/>
            </a:pPr>
            <a:r>
              <a:rPr lang="en-US" sz="1100" b="1" dirty="0">
                <a:solidFill>
                  <a:srgbClr val="1F6F6B"/>
                </a:solidFill>
                <a:latin typeface="Calibri" pitchFamily="34" charset="0"/>
                <a:ea typeface="Calibri" pitchFamily="34" charset="-122"/>
                <a:cs typeface="Calibri" pitchFamily="34" charset="-120"/>
              </a:rPr>
              <a:t>ASSURANCE</a:t>
            </a:r>
            <a:endParaRPr lang="en-US" sz="1100" dirty="0"/>
          </a:p>
        </p:txBody>
      </p:sp>
      <p:sp>
        <p:nvSpPr>
          <p:cNvPr id="14" name="Text 11"/>
          <p:cNvSpPr txBox="1"/>
          <p:nvPr/>
        </p:nvSpPr>
        <p:spPr>
          <a:xfrm>
            <a:off x="2331720" y="4078224"/>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Fully testable and auditable</a:t>
            </a:r>
            <a:endParaRPr lang="en-US" sz="1400" dirty="0"/>
          </a:p>
        </p:txBody>
      </p:sp>
      <p:sp>
        <p:nvSpPr>
          <p:cNvPr id="15" name="Text 12"/>
          <p:cNvSpPr txBox="1"/>
          <p:nvPr/>
        </p:nvSpPr>
        <p:spPr>
          <a:xfrm>
            <a:off x="914400" y="4700016"/>
            <a:ext cx="1417320" cy="548640"/>
          </a:xfrm>
          <a:prstGeom prst="rect">
            <a:avLst/>
          </a:prstGeom>
          <a:noFill/>
          <a:ln/>
        </p:spPr>
        <p:txBody>
          <a:bodyPr wrap="square" lIns="0" tIns="0" rIns="0" bIns="0" rtlCol="0" anchor="t"/>
          <a:lstStyle/>
          <a:p>
            <a:pPr indent="0" marL="0">
              <a:buNone/>
            </a:pPr>
            <a:r>
              <a:rPr lang="en-US" sz="1100" b="1" dirty="0">
                <a:solidFill>
                  <a:srgbClr val="1F6F6B"/>
                </a:solidFill>
                <a:latin typeface="Calibri" pitchFamily="34" charset="0"/>
                <a:ea typeface="Calibri" pitchFamily="34" charset="-122"/>
                <a:cs typeface="Calibri" pitchFamily="34" charset="-120"/>
              </a:rPr>
              <a:t>USE FOR</a:t>
            </a:r>
            <a:endParaRPr lang="en-US" sz="1100" dirty="0"/>
          </a:p>
        </p:txBody>
      </p:sp>
      <p:sp>
        <p:nvSpPr>
          <p:cNvPr id="16" name="Text 13"/>
          <p:cNvSpPr txBox="1"/>
          <p:nvPr/>
        </p:nvSpPr>
        <p:spPr>
          <a:xfrm>
            <a:off x="2331720" y="4700016"/>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Code, SQL, thresholds, checksums, routing, arithmetic</a:t>
            </a:r>
            <a:endParaRPr lang="en-US" sz="1400" dirty="0"/>
          </a:p>
        </p:txBody>
      </p:sp>
      <p:sp>
        <p:nvSpPr>
          <p:cNvPr id="17" name="Shape 14"/>
          <p:cNvSpPr/>
          <p:nvPr/>
        </p:nvSpPr>
        <p:spPr>
          <a:xfrm>
            <a:off x="6245352" y="1737360"/>
            <a:ext cx="5394960" cy="3611880"/>
          </a:xfrm>
          <a:prstGeom prst="rect">
            <a:avLst/>
          </a:prstGeom>
          <a:solidFill>
            <a:srgbClr val="FCEFD9"/>
          </a:solidFill>
          <a:ln w="12700">
            <a:solidFill>
              <a:srgbClr val="FCEFD9"/>
            </a:solidFill>
            <a:prstDash val="solid"/>
          </a:ln>
        </p:spPr>
      </p:sp>
      <p:sp>
        <p:nvSpPr>
          <p:cNvPr id="18" name="Text 15"/>
          <p:cNvSpPr txBox="1"/>
          <p:nvPr/>
        </p:nvSpPr>
        <p:spPr>
          <a:xfrm>
            <a:off x="6611112" y="1920240"/>
            <a:ext cx="4663440" cy="457200"/>
          </a:xfrm>
          <a:prstGeom prst="rect">
            <a:avLst/>
          </a:prstGeom>
          <a:noFill/>
          <a:ln/>
        </p:spPr>
        <p:txBody>
          <a:bodyPr wrap="square" lIns="0" tIns="0" rIns="0" bIns="0" rtlCol="0" anchor="ctr"/>
          <a:lstStyle/>
          <a:p>
            <a:pPr indent="0" marL="0">
              <a:buNone/>
            </a:pPr>
            <a:r>
              <a:rPr lang="en-US" sz="2400" b="1" dirty="0">
                <a:solidFill>
                  <a:srgbClr val="1E2B2A"/>
                </a:solidFill>
                <a:latin typeface="Cambria" pitchFamily="34" charset="0"/>
                <a:ea typeface="Cambria" pitchFamily="34" charset="-122"/>
                <a:cs typeface="Cambria" pitchFamily="34" charset="-120"/>
              </a:rPr>
              <a:t>Probabilistic</a:t>
            </a:r>
            <a:endParaRPr lang="en-US" sz="2400" dirty="0"/>
          </a:p>
        </p:txBody>
      </p:sp>
      <p:sp>
        <p:nvSpPr>
          <p:cNvPr id="19" name="Text 16"/>
          <p:cNvSpPr txBox="1"/>
          <p:nvPr/>
        </p:nvSpPr>
        <p:spPr>
          <a:xfrm>
            <a:off x="6611112" y="2377440"/>
            <a:ext cx="4663440" cy="320040"/>
          </a:xfrm>
          <a:prstGeom prst="rect">
            <a:avLst/>
          </a:prstGeom>
          <a:noFill/>
          <a:ln/>
        </p:spPr>
        <p:txBody>
          <a:bodyPr wrap="square" lIns="0" tIns="0" rIns="0" bIns="0" rtlCol="0" anchor="ctr"/>
          <a:lstStyle/>
          <a:p>
            <a:pPr indent="0" marL="0">
              <a:buNone/>
            </a:pPr>
            <a:r>
              <a:rPr lang="en-US" sz="1400" b="1" i="1" dirty="0">
                <a:solidFill>
                  <a:srgbClr val="9A6208"/>
                </a:solidFill>
                <a:latin typeface="Calibri" pitchFamily="34" charset="0"/>
                <a:ea typeface="Calibri" pitchFamily="34" charset="-122"/>
                <a:cs typeface="Calibri" pitchFamily="34" charset="-120"/>
              </a:rPr>
              <a:t>The multiplier</a:t>
            </a:r>
            <a:endParaRPr lang="en-US" sz="1400" dirty="0"/>
          </a:p>
        </p:txBody>
      </p:sp>
      <p:sp>
        <p:nvSpPr>
          <p:cNvPr id="20" name="Text 17"/>
          <p:cNvSpPr txBox="1"/>
          <p:nvPr/>
        </p:nvSpPr>
        <p:spPr>
          <a:xfrm>
            <a:off x="6611112" y="2834640"/>
            <a:ext cx="1417320" cy="548640"/>
          </a:xfrm>
          <a:prstGeom prst="rect">
            <a:avLst/>
          </a:prstGeom>
          <a:noFill/>
          <a:ln/>
        </p:spPr>
        <p:txBody>
          <a:bodyPr wrap="square" lIns="0" tIns="0" rIns="0" bIns="0" rtlCol="0" anchor="t"/>
          <a:lstStyle/>
          <a:p>
            <a:pPr indent="0" marL="0">
              <a:buNone/>
            </a:pPr>
            <a:r>
              <a:rPr lang="en-US" sz="1100" b="1" dirty="0">
                <a:solidFill>
                  <a:srgbClr val="9A6208"/>
                </a:solidFill>
                <a:latin typeface="Calibri" pitchFamily="34" charset="0"/>
                <a:ea typeface="Calibri" pitchFamily="34" charset="-122"/>
                <a:cs typeface="Calibri" pitchFamily="34" charset="-120"/>
              </a:rPr>
              <a:t>BEHAVIOR</a:t>
            </a:r>
            <a:endParaRPr lang="en-US" sz="1100" dirty="0"/>
          </a:p>
        </p:txBody>
      </p:sp>
      <p:sp>
        <p:nvSpPr>
          <p:cNvPr id="21" name="Text 18"/>
          <p:cNvSpPr txBox="1"/>
          <p:nvPr/>
        </p:nvSpPr>
        <p:spPr>
          <a:xfrm>
            <a:off x="8028432" y="2834640"/>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Synthesis; output varies by run</a:t>
            </a:r>
            <a:endParaRPr lang="en-US" sz="1400" dirty="0"/>
          </a:p>
        </p:txBody>
      </p:sp>
      <p:sp>
        <p:nvSpPr>
          <p:cNvPr id="22" name="Text 19"/>
          <p:cNvSpPr txBox="1"/>
          <p:nvPr/>
        </p:nvSpPr>
        <p:spPr>
          <a:xfrm>
            <a:off x="6611112" y="3456432"/>
            <a:ext cx="1417320" cy="548640"/>
          </a:xfrm>
          <a:prstGeom prst="rect">
            <a:avLst/>
          </a:prstGeom>
          <a:noFill/>
          <a:ln/>
        </p:spPr>
        <p:txBody>
          <a:bodyPr wrap="square" lIns="0" tIns="0" rIns="0" bIns="0" rtlCol="0" anchor="t"/>
          <a:lstStyle/>
          <a:p>
            <a:pPr indent="0" marL="0">
              <a:buNone/>
            </a:pPr>
            <a:r>
              <a:rPr lang="en-US" sz="1100" b="1" dirty="0">
                <a:solidFill>
                  <a:srgbClr val="9A6208"/>
                </a:solidFill>
                <a:latin typeface="Calibri" pitchFamily="34" charset="0"/>
                <a:ea typeface="Calibri" pitchFamily="34" charset="-122"/>
                <a:cs typeface="Calibri" pitchFamily="34" charset="-120"/>
              </a:rPr>
              <a:t>MARGINAL COST</a:t>
            </a:r>
            <a:endParaRPr lang="en-US" sz="1100" dirty="0"/>
          </a:p>
        </p:txBody>
      </p:sp>
      <p:sp>
        <p:nvSpPr>
          <p:cNvPr id="23" name="Text 20"/>
          <p:cNvSpPr txBox="1"/>
          <p:nvPr/>
        </p:nvSpPr>
        <p:spPr>
          <a:xfrm>
            <a:off x="8028432" y="3456432"/>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Token charge per run</a:t>
            </a:r>
            <a:endParaRPr lang="en-US" sz="1400" dirty="0"/>
          </a:p>
        </p:txBody>
      </p:sp>
      <p:sp>
        <p:nvSpPr>
          <p:cNvPr id="24" name="Text 21"/>
          <p:cNvSpPr txBox="1"/>
          <p:nvPr/>
        </p:nvSpPr>
        <p:spPr>
          <a:xfrm>
            <a:off x="6611112" y="4078224"/>
            <a:ext cx="1417320" cy="548640"/>
          </a:xfrm>
          <a:prstGeom prst="rect">
            <a:avLst/>
          </a:prstGeom>
          <a:noFill/>
          <a:ln/>
        </p:spPr>
        <p:txBody>
          <a:bodyPr wrap="square" lIns="0" tIns="0" rIns="0" bIns="0" rtlCol="0" anchor="t"/>
          <a:lstStyle/>
          <a:p>
            <a:pPr indent="0" marL="0">
              <a:buNone/>
            </a:pPr>
            <a:r>
              <a:rPr lang="en-US" sz="1100" b="1" dirty="0">
                <a:solidFill>
                  <a:srgbClr val="9A6208"/>
                </a:solidFill>
                <a:latin typeface="Calibri" pitchFamily="34" charset="0"/>
                <a:ea typeface="Calibri" pitchFamily="34" charset="-122"/>
                <a:cs typeface="Calibri" pitchFamily="34" charset="-120"/>
              </a:rPr>
              <a:t>ASSURANCE</a:t>
            </a:r>
            <a:endParaRPr lang="en-US" sz="1100" dirty="0"/>
          </a:p>
        </p:txBody>
      </p:sp>
      <p:sp>
        <p:nvSpPr>
          <p:cNvPr id="25" name="Text 22"/>
          <p:cNvSpPr txBox="1"/>
          <p:nvPr/>
        </p:nvSpPr>
        <p:spPr>
          <a:xfrm>
            <a:off x="8028432" y="4078224"/>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Requires guardrails and review</a:t>
            </a:r>
            <a:endParaRPr lang="en-US" sz="1400" dirty="0"/>
          </a:p>
        </p:txBody>
      </p:sp>
      <p:sp>
        <p:nvSpPr>
          <p:cNvPr id="26" name="Text 23"/>
          <p:cNvSpPr txBox="1"/>
          <p:nvPr/>
        </p:nvSpPr>
        <p:spPr>
          <a:xfrm>
            <a:off x="6611112" y="4700016"/>
            <a:ext cx="1417320" cy="548640"/>
          </a:xfrm>
          <a:prstGeom prst="rect">
            <a:avLst/>
          </a:prstGeom>
          <a:noFill/>
          <a:ln/>
        </p:spPr>
        <p:txBody>
          <a:bodyPr wrap="square" lIns="0" tIns="0" rIns="0" bIns="0" rtlCol="0" anchor="t"/>
          <a:lstStyle/>
          <a:p>
            <a:pPr indent="0" marL="0">
              <a:buNone/>
            </a:pPr>
            <a:r>
              <a:rPr lang="en-US" sz="1100" b="1" dirty="0">
                <a:solidFill>
                  <a:srgbClr val="9A6208"/>
                </a:solidFill>
                <a:latin typeface="Calibri" pitchFamily="34" charset="0"/>
                <a:ea typeface="Calibri" pitchFamily="34" charset="-122"/>
                <a:cs typeface="Calibri" pitchFamily="34" charset="-120"/>
              </a:rPr>
              <a:t>USE FOR</a:t>
            </a:r>
            <a:endParaRPr lang="en-US" sz="1100" dirty="0"/>
          </a:p>
        </p:txBody>
      </p:sp>
      <p:sp>
        <p:nvSpPr>
          <p:cNvPr id="27" name="Text 24"/>
          <p:cNvSpPr txBox="1"/>
          <p:nvPr/>
        </p:nvSpPr>
        <p:spPr>
          <a:xfrm>
            <a:off x="8028432" y="4700016"/>
            <a:ext cx="3291840" cy="548640"/>
          </a:xfrm>
          <a:prstGeom prst="rect">
            <a:avLst/>
          </a:prstGeom>
          <a:noFill/>
          <a:ln/>
        </p:spPr>
        <p:txBody>
          <a:bodyPr wrap="square" lIns="0" tIns="0" rIns="0" bIns="0" rtlCol="0" anchor="t"/>
          <a:lstStyle/>
          <a:p>
            <a:pPr indent="0" marL="0">
              <a:buNone/>
            </a:pPr>
            <a:r>
              <a:rPr lang="en-US" sz="1400" dirty="0">
                <a:solidFill>
                  <a:srgbClr val="1E2B2A"/>
                </a:solidFill>
                <a:latin typeface="Calibri" pitchFamily="34" charset="0"/>
                <a:ea typeface="Calibri" pitchFamily="34" charset="-122"/>
                <a:cs typeface="Calibri" pitchFamily="34" charset="-120"/>
              </a:rPr>
              <a:t>Unstructured text, market signals, exceptions, drafting</a:t>
            </a:r>
            <a:endParaRPr lang="en-US" sz="1400" dirty="0"/>
          </a:p>
        </p:txBody>
      </p:sp>
      <p:sp>
        <p:nvSpPr>
          <p:cNvPr id="28" name="Shape 25"/>
          <p:cNvSpPr/>
          <p:nvPr/>
        </p:nvSpPr>
        <p:spPr>
          <a:xfrm>
            <a:off x="548640" y="5532120"/>
            <a:ext cx="11091672" cy="566928"/>
          </a:xfrm>
          <a:prstGeom prst="rect">
            <a:avLst/>
          </a:prstGeom>
          <a:solidFill>
            <a:srgbClr val="F3F6F5"/>
          </a:solidFill>
          <a:ln w="12700">
            <a:solidFill>
              <a:srgbClr val="F3F6F5"/>
            </a:solidFill>
            <a:prstDash val="solid"/>
          </a:ln>
        </p:spPr>
      </p:sp>
      <p:sp>
        <p:nvSpPr>
          <p:cNvPr id="29" name="Text 26"/>
          <p:cNvSpPr txBox="1"/>
          <p:nvPr/>
        </p:nvSpPr>
        <p:spPr>
          <a:xfrm>
            <a:off x="777240" y="553212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Executive test: </a:t>
            </a:r>
            <a:pPr indent="0" marL="0">
              <a:buNone/>
            </a:pPr>
            <a:r>
              <a:rPr lang="en-US" sz="1500" dirty="0">
                <a:solidFill>
                  <a:srgbClr val="1E2B2A"/>
                </a:solidFill>
                <a:latin typeface="Calibri" pitchFamily="34" charset="0"/>
                <a:ea typeface="Calibri" pitchFamily="34" charset="-122"/>
                <a:cs typeface="Calibri" pitchFamily="34" charset="-120"/>
              </a:rPr>
              <a:t>if two top performers always give the same answer, write the rule in code. AI output never executes unchecked; code validates it before capital moves.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THE METHOD</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Seven steps convert a process into a harness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8</a:t>
            </a:r>
            <a:endParaRPr lang="en-US" sz="900" dirty="0"/>
          </a:p>
        </p:txBody>
      </p:sp>
      <p:sp>
        <p:nvSpPr>
          <p:cNvPr id="6" name="Shape 3"/>
          <p:cNvSpPr/>
          <p:nvPr/>
        </p:nvSpPr>
        <p:spPr>
          <a:xfrm>
            <a:off x="3685032" y="1737360"/>
            <a:ext cx="6423660" cy="3429000"/>
          </a:xfrm>
          <a:prstGeom prst="rect">
            <a:avLst/>
          </a:prstGeom>
          <a:solidFill>
            <a:srgbClr val="FCEFD9"/>
          </a:solidFill>
          <a:ln w="12700">
            <a:solidFill>
              <a:srgbClr val="FCEFD9"/>
            </a:solidFill>
            <a:prstDash val="solid"/>
          </a:ln>
        </p:spPr>
      </p:sp>
      <p:sp>
        <p:nvSpPr>
          <p:cNvPr id="7" name="Text 4"/>
          <p:cNvSpPr txBox="1"/>
          <p:nvPr/>
        </p:nvSpPr>
        <p:spPr>
          <a:xfrm>
            <a:off x="3758184" y="1828800"/>
            <a:ext cx="6277356" cy="274320"/>
          </a:xfrm>
          <a:prstGeom prst="rect">
            <a:avLst/>
          </a:prstGeom>
          <a:noFill/>
          <a:ln/>
        </p:spPr>
        <p:txBody>
          <a:bodyPr wrap="square" lIns="0" tIns="0" rIns="0" bIns="0" rtlCol="0" anchor="ctr"/>
          <a:lstStyle/>
          <a:p>
            <a:pPr algn="ctr" indent="0" marL="0">
              <a:buNone/>
            </a:pPr>
            <a:r>
              <a:rPr lang="en-US" sz="1100" b="1" dirty="0">
                <a:solidFill>
                  <a:srgbClr val="9A6208"/>
                </a:solidFill>
                <a:latin typeface="Calibri" pitchFamily="34" charset="0"/>
                <a:ea typeface="Calibri" pitchFamily="34" charset="-122"/>
                <a:cs typeface="Calibri" pitchFamily="34" charset="-120"/>
              </a:rPr>
              <a:t>TODAY'S EXERCISE</a:t>
            </a:r>
            <a:endParaRPr lang="en-US" sz="1100" dirty="0"/>
          </a:p>
        </p:txBody>
      </p:sp>
      <p:sp>
        <p:nvSpPr>
          <p:cNvPr id="8" name="Shape 5"/>
          <p:cNvSpPr/>
          <p:nvPr/>
        </p:nvSpPr>
        <p:spPr>
          <a:xfrm>
            <a:off x="914400" y="2286000"/>
            <a:ext cx="731520" cy="731520"/>
          </a:xfrm>
          <a:prstGeom prst="ellipse">
            <a:avLst/>
          </a:prstGeom>
          <a:solidFill>
            <a:srgbClr val="1F6F6B"/>
          </a:solidFill>
          <a:ln w="12700">
            <a:solidFill>
              <a:srgbClr val="1F6F6B"/>
            </a:solidFill>
            <a:prstDash val="solid"/>
          </a:ln>
        </p:spPr>
      </p:sp>
      <p:sp>
        <p:nvSpPr>
          <p:cNvPr id="9" name="Text 6"/>
          <p:cNvSpPr txBox="1"/>
          <p:nvPr/>
        </p:nvSpPr>
        <p:spPr>
          <a:xfrm>
            <a:off x="914400" y="22860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1</a:t>
            </a:r>
            <a:endParaRPr lang="en-US" sz="2080" dirty="0"/>
          </a:p>
        </p:txBody>
      </p:sp>
      <p:sp>
        <p:nvSpPr>
          <p:cNvPr id="10" name="Text 7"/>
          <p:cNvSpPr txBox="1"/>
          <p:nvPr/>
        </p:nvSpPr>
        <p:spPr>
          <a:xfrm>
            <a:off x="548640"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Map the process</a:t>
            </a:r>
            <a:endParaRPr lang="en-US" sz="1500" dirty="0"/>
          </a:p>
        </p:txBody>
      </p:sp>
      <p:sp>
        <p:nvSpPr>
          <p:cNvPr id="11" name="Text 8"/>
          <p:cNvSpPr txBox="1"/>
          <p:nvPr/>
        </p:nvSpPr>
        <p:spPr>
          <a:xfrm>
            <a:off x="594360"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Inputs, steps, exceptions, manual cost</a:t>
            </a:r>
            <a:endParaRPr lang="en-US" sz="1200" dirty="0"/>
          </a:p>
        </p:txBody>
      </p:sp>
      <p:sp>
        <p:nvSpPr>
          <p:cNvPr id="12" name="Shape 9"/>
          <p:cNvSpPr/>
          <p:nvPr/>
        </p:nvSpPr>
        <p:spPr>
          <a:xfrm>
            <a:off x="2519172" y="2286000"/>
            <a:ext cx="731520" cy="731520"/>
          </a:xfrm>
          <a:prstGeom prst="ellipse">
            <a:avLst/>
          </a:prstGeom>
          <a:solidFill>
            <a:srgbClr val="1F6F6B"/>
          </a:solidFill>
          <a:ln w="12700">
            <a:solidFill>
              <a:srgbClr val="1F6F6B"/>
            </a:solidFill>
            <a:prstDash val="solid"/>
          </a:ln>
        </p:spPr>
      </p:sp>
      <p:sp>
        <p:nvSpPr>
          <p:cNvPr id="13" name="Text 10"/>
          <p:cNvSpPr txBox="1"/>
          <p:nvPr/>
        </p:nvSpPr>
        <p:spPr>
          <a:xfrm>
            <a:off x="2519172" y="22860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2</a:t>
            </a:r>
            <a:endParaRPr lang="en-US" sz="2080" dirty="0"/>
          </a:p>
        </p:txBody>
      </p:sp>
      <p:sp>
        <p:nvSpPr>
          <p:cNvPr id="14" name="Text 11"/>
          <p:cNvSpPr txBox="1"/>
          <p:nvPr/>
        </p:nvSpPr>
        <p:spPr>
          <a:xfrm>
            <a:off x="2153412"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Strip rule-based work</a:t>
            </a:r>
            <a:endParaRPr lang="en-US" sz="1500" dirty="0"/>
          </a:p>
        </p:txBody>
      </p:sp>
      <p:sp>
        <p:nvSpPr>
          <p:cNvPr id="15" name="Text 12"/>
          <p:cNvSpPr txBox="1"/>
          <p:nvPr/>
        </p:nvSpPr>
        <p:spPr>
          <a:xfrm>
            <a:off x="2199132"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Fixed rules move to $0 code</a:t>
            </a:r>
            <a:endParaRPr lang="en-US" sz="1200" dirty="0"/>
          </a:p>
        </p:txBody>
      </p:sp>
      <p:sp>
        <p:nvSpPr>
          <p:cNvPr id="16" name="Shape 13"/>
          <p:cNvSpPr/>
          <p:nvPr/>
        </p:nvSpPr>
        <p:spPr>
          <a:xfrm>
            <a:off x="4123944" y="2286000"/>
            <a:ext cx="731520" cy="731520"/>
          </a:xfrm>
          <a:prstGeom prst="ellipse">
            <a:avLst/>
          </a:prstGeom>
          <a:solidFill>
            <a:srgbClr val="D9901A"/>
          </a:solidFill>
          <a:ln w="12700">
            <a:solidFill>
              <a:srgbClr val="D9901A"/>
            </a:solidFill>
            <a:prstDash val="solid"/>
          </a:ln>
        </p:spPr>
      </p:sp>
      <p:sp>
        <p:nvSpPr>
          <p:cNvPr id="17" name="Text 14"/>
          <p:cNvSpPr txBox="1"/>
          <p:nvPr/>
        </p:nvSpPr>
        <p:spPr>
          <a:xfrm>
            <a:off x="4123944" y="2286000"/>
            <a:ext cx="731520" cy="731520"/>
          </a:xfrm>
          <a:prstGeom prst="rect">
            <a:avLst/>
          </a:prstGeom>
          <a:noFill/>
          <a:ln/>
        </p:spPr>
        <p:txBody>
          <a:bodyPr wrap="square" lIns="0" tIns="0" rIns="0" bIns="0" rtlCol="0" anchor="ctr"/>
          <a:lstStyle/>
          <a:p>
            <a:pPr algn="ctr" indent="0" marL="0">
              <a:buNone/>
            </a:pPr>
            <a:r>
              <a:rPr lang="en-US" sz="2080" b="1" dirty="0">
                <a:solidFill>
                  <a:srgbClr val="12302F"/>
                </a:solidFill>
                <a:latin typeface="Cambria" pitchFamily="34" charset="0"/>
                <a:ea typeface="Cambria" pitchFamily="34" charset="-122"/>
                <a:cs typeface="Cambria" pitchFamily="34" charset="-120"/>
              </a:rPr>
              <a:t>3</a:t>
            </a:r>
            <a:endParaRPr lang="en-US" sz="2080" dirty="0"/>
          </a:p>
        </p:txBody>
      </p:sp>
      <p:sp>
        <p:nvSpPr>
          <p:cNvPr id="18" name="Text 15"/>
          <p:cNvSpPr txBox="1"/>
          <p:nvPr/>
        </p:nvSpPr>
        <p:spPr>
          <a:xfrm>
            <a:off x="3758184"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Define the unit of work</a:t>
            </a:r>
            <a:endParaRPr lang="en-US" sz="1500" dirty="0"/>
          </a:p>
        </p:txBody>
      </p:sp>
      <p:sp>
        <p:nvSpPr>
          <p:cNvPr id="19" name="Text 16"/>
          <p:cNvSpPr txBox="1"/>
          <p:nvPr/>
        </p:nvSpPr>
        <p:spPr>
          <a:xfrm>
            <a:off x="3803904"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The atomic transaction with an outcome</a:t>
            </a:r>
            <a:endParaRPr lang="en-US" sz="1200" dirty="0"/>
          </a:p>
        </p:txBody>
      </p:sp>
      <p:sp>
        <p:nvSpPr>
          <p:cNvPr id="20" name="Shape 17"/>
          <p:cNvSpPr/>
          <p:nvPr/>
        </p:nvSpPr>
        <p:spPr>
          <a:xfrm>
            <a:off x="5728716" y="2286000"/>
            <a:ext cx="731520" cy="731520"/>
          </a:xfrm>
          <a:prstGeom prst="ellipse">
            <a:avLst/>
          </a:prstGeom>
          <a:solidFill>
            <a:srgbClr val="D9901A"/>
          </a:solidFill>
          <a:ln w="12700">
            <a:solidFill>
              <a:srgbClr val="D9901A"/>
            </a:solidFill>
            <a:prstDash val="solid"/>
          </a:ln>
        </p:spPr>
      </p:sp>
      <p:sp>
        <p:nvSpPr>
          <p:cNvPr id="21" name="Text 18"/>
          <p:cNvSpPr txBox="1"/>
          <p:nvPr/>
        </p:nvSpPr>
        <p:spPr>
          <a:xfrm>
            <a:off x="5728716" y="2286000"/>
            <a:ext cx="731520" cy="731520"/>
          </a:xfrm>
          <a:prstGeom prst="rect">
            <a:avLst/>
          </a:prstGeom>
          <a:noFill/>
          <a:ln/>
        </p:spPr>
        <p:txBody>
          <a:bodyPr wrap="square" lIns="0" tIns="0" rIns="0" bIns="0" rtlCol="0" anchor="ctr"/>
          <a:lstStyle/>
          <a:p>
            <a:pPr algn="ctr" indent="0" marL="0">
              <a:buNone/>
            </a:pPr>
            <a:r>
              <a:rPr lang="en-US" sz="2080" b="1" dirty="0">
                <a:solidFill>
                  <a:srgbClr val="12302F"/>
                </a:solidFill>
                <a:latin typeface="Cambria" pitchFamily="34" charset="0"/>
                <a:ea typeface="Cambria" pitchFamily="34" charset="-122"/>
                <a:cs typeface="Cambria" pitchFamily="34" charset="-120"/>
              </a:rPr>
              <a:t>4</a:t>
            </a:r>
            <a:endParaRPr lang="en-US" sz="2080" dirty="0"/>
          </a:p>
        </p:txBody>
      </p:sp>
      <p:sp>
        <p:nvSpPr>
          <p:cNvPr id="22" name="Text 19"/>
          <p:cNvSpPr txBox="1"/>
          <p:nvPr/>
        </p:nvSpPr>
        <p:spPr>
          <a:xfrm>
            <a:off x="5362956"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Classify each step</a:t>
            </a:r>
            <a:endParaRPr lang="en-US" sz="1500" dirty="0"/>
          </a:p>
        </p:txBody>
      </p:sp>
      <p:sp>
        <p:nvSpPr>
          <p:cNvPr id="23" name="Text 20"/>
          <p:cNvSpPr txBox="1"/>
          <p:nvPr/>
        </p:nvSpPr>
        <p:spPr>
          <a:xfrm>
            <a:off x="5408676"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Orchestration, mechanics, reasoning, verification</a:t>
            </a:r>
            <a:endParaRPr lang="en-US" sz="1200" dirty="0"/>
          </a:p>
        </p:txBody>
      </p:sp>
      <p:sp>
        <p:nvSpPr>
          <p:cNvPr id="24" name="Shape 21"/>
          <p:cNvSpPr/>
          <p:nvPr/>
        </p:nvSpPr>
        <p:spPr>
          <a:xfrm>
            <a:off x="7333488" y="2286000"/>
            <a:ext cx="731520" cy="731520"/>
          </a:xfrm>
          <a:prstGeom prst="ellipse">
            <a:avLst/>
          </a:prstGeom>
          <a:solidFill>
            <a:srgbClr val="D9901A"/>
          </a:solidFill>
          <a:ln w="12700">
            <a:solidFill>
              <a:srgbClr val="D9901A"/>
            </a:solidFill>
            <a:prstDash val="solid"/>
          </a:ln>
        </p:spPr>
      </p:sp>
      <p:sp>
        <p:nvSpPr>
          <p:cNvPr id="25" name="Text 22"/>
          <p:cNvSpPr txBox="1"/>
          <p:nvPr/>
        </p:nvSpPr>
        <p:spPr>
          <a:xfrm>
            <a:off x="7333488" y="2286000"/>
            <a:ext cx="731520" cy="731520"/>
          </a:xfrm>
          <a:prstGeom prst="rect">
            <a:avLst/>
          </a:prstGeom>
          <a:noFill/>
          <a:ln/>
        </p:spPr>
        <p:txBody>
          <a:bodyPr wrap="square" lIns="0" tIns="0" rIns="0" bIns="0" rtlCol="0" anchor="ctr"/>
          <a:lstStyle/>
          <a:p>
            <a:pPr algn="ctr" indent="0" marL="0">
              <a:buNone/>
            </a:pPr>
            <a:r>
              <a:rPr lang="en-US" sz="2080" b="1" dirty="0">
                <a:solidFill>
                  <a:srgbClr val="12302F"/>
                </a:solidFill>
                <a:latin typeface="Cambria" pitchFamily="34" charset="0"/>
                <a:ea typeface="Cambria" pitchFamily="34" charset="-122"/>
                <a:cs typeface="Cambria" pitchFamily="34" charset="-120"/>
              </a:rPr>
              <a:t>5</a:t>
            </a:r>
            <a:endParaRPr lang="en-US" sz="2080" dirty="0"/>
          </a:p>
        </p:txBody>
      </p:sp>
      <p:sp>
        <p:nvSpPr>
          <p:cNvPr id="26" name="Text 23"/>
          <p:cNvSpPr txBox="1"/>
          <p:nvPr/>
        </p:nvSpPr>
        <p:spPr>
          <a:xfrm>
            <a:off x="6967728"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Isolate judgment</a:t>
            </a:r>
            <a:endParaRPr lang="en-US" sz="1500" dirty="0"/>
          </a:p>
        </p:txBody>
      </p:sp>
      <p:sp>
        <p:nvSpPr>
          <p:cNvPr id="27" name="Text 24"/>
          <p:cNvSpPr txBox="1"/>
          <p:nvPr/>
        </p:nvSpPr>
        <p:spPr>
          <a:xfrm>
            <a:off x="7013448"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Reasoning only where the model adds value</a:t>
            </a:r>
            <a:endParaRPr lang="en-US" sz="1200" dirty="0"/>
          </a:p>
        </p:txBody>
      </p:sp>
      <p:sp>
        <p:nvSpPr>
          <p:cNvPr id="28" name="Shape 25"/>
          <p:cNvSpPr/>
          <p:nvPr/>
        </p:nvSpPr>
        <p:spPr>
          <a:xfrm>
            <a:off x="8938260" y="2286000"/>
            <a:ext cx="731520" cy="731520"/>
          </a:xfrm>
          <a:prstGeom prst="ellipse">
            <a:avLst/>
          </a:prstGeom>
          <a:solidFill>
            <a:srgbClr val="D9901A"/>
          </a:solidFill>
          <a:ln w="12700">
            <a:solidFill>
              <a:srgbClr val="D9901A"/>
            </a:solidFill>
            <a:prstDash val="solid"/>
          </a:ln>
        </p:spPr>
      </p:sp>
      <p:sp>
        <p:nvSpPr>
          <p:cNvPr id="29" name="Text 26"/>
          <p:cNvSpPr txBox="1"/>
          <p:nvPr/>
        </p:nvSpPr>
        <p:spPr>
          <a:xfrm>
            <a:off x="8938260" y="2286000"/>
            <a:ext cx="731520" cy="731520"/>
          </a:xfrm>
          <a:prstGeom prst="rect">
            <a:avLst/>
          </a:prstGeom>
          <a:noFill/>
          <a:ln/>
        </p:spPr>
        <p:txBody>
          <a:bodyPr wrap="square" lIns="0" tIns="0" rIns="0" bIns="0" rtlCol="0" anchor="ctr"/>
          <a:lstStyle/>
          <a:p>
            <a:pPr algn="ctr" indent="0" marL="0">
              <a:buNone/>
            </a:pPr>
            <a:r>
              <a:rPr lang="en-US" sz="2080" b="1" dirty="0">
                <a:solidFill>
                  <a:srgbClr val="12302F"/>
                </a:solidFill>
                <a:latin typeface="Cambria" pitchFamily="34" charset="0"/>
                <a:ea typeface="Cambria" pitchFamily="34" charset="-122"/>
                <a:cs typeface="Cambria" pitchFamily="34" charset="-120"/>
              </a:rPr>
              <a:t>6</a:t>
            </a:r>
            <a:endParaRPr lang="en-US" sz="2080" dirty="0"/>
          </a:p>
        </p:txBody>
      </p:sp>
      <p:sp>
        <p:nvSpPr>
          <p:cNvPr id="30" name="Text 27"/>
          <p:cNvSpPr txBox="1"/>
          <p:nvPr/>
        </p:nvSpPr>
        <p:spPr>
          <a:xfrm>
            <a:off x="8572500"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Place guardrails</a:t>
            </a:r>
            <a:endParaRPr lang="en-US" sz="1500" dirty="0"/>
          </a:p>
        </p:txBody>
      </p:sp>
      <p:sp>
        <p:nvSpPr>
          <p:cNvPr id="31" name="Text 28"/>
          <p:cNvSpPr txBox="1"/>
          <p:nvPr/>
        </p:nvSpPr>
        <p:spPr>
          <a:xfrm>
            <a:off x="8618220"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Automated tests and proof packages</a:t>
            </a:r>
            <a:endParaRPr lang="en-US" sz="1200" dirty="0"/>
          </a:p>
        </p:txBody>
      </p:sp>
      <p:sp>
        <p:nvSpPr>
          <p:cNvPr id="32" name="Shape 29"/>
          <p:cNvSpPr/>
          <p:nvPr/>
        </p:nvSpPr>
        <p:spPr>
          <a:xfrm>
            <a:off x="10543032" y="2286000"/>
            <a:ext cx="731520" cy="731520"/>
          </a:xfrm>
          <a:prstGeom prst="ellipse">
            <a:avLst/>
          </a:prstGeom>
          <a:solidFill>
            <a:srgbClr val="1F6F6B"/>
          </a:solidFill>
          <a:ln w="12700">
            <a:solidFill>
              <a:srgbClr val="1F6F6B"/>
            </a:solidFill>
            <a:prstDash val="solid"/>
          </a:ln>
        </p:spPr>
      </p:sp>
      <p:sp>
        <p:nvSpPr>
          <p:cNvPr id="33" name="Text 30"/>
          <p:cNvSpPr txBox="1"/>
          <p:nvPr/>
        </p:nvSpPr>
        <p:spPr>
          <a:xfrm>
            <a:off x="10543032" y="2286000"/>
            <a:ext cx="731520" cy="731520"/>
          </a:xfrm>
          <a:prstGeom prst="rect">
            <a:avLst/>
          </a:prstGeom>
          <a:noFill/>
          <a:ln/>
        </p:spPr>
        <p:txBody>
          <a:bodyPr wrap="square" lIns="0" tIns="0" rIns="0" bIns="0" rtlCol="0" anchor="ctr"/>
          <a:lstStyle/>
          <a:p>
            <a:pPr algn="ctr" indent="0" marL="0">
              <a:buNone/>
            </a:pPr>
            <a:r>
              <a:rPr lang="en-US" sz="2080" b="1" dirty="0">
                <a:solidFill>
                  <a:srgbClr val="FFFFFF"/>
                </a:solidFill>
                <a:latin typeface="Cambria" pitchFamily="34" charset="0"/>
                <a:ea typeface="Cambria" pitchFamily="34" charset="-122"/>
                <a:cs typeface="Cambria" pitchFamily="34" charset="-120"/>
              </a:rPr>
              <a:t>7</a:t>
            </a:r>
            <a:endParaRPr lang="en-US" sz="2080" dirty="0"/>
          </a:p>
        </p:txBody>
      </p:sp>
      <p:sp>
        <p:nvSpPr>
          <p:cNvPr id="34" name="Text 31"/>
          <p:cNvSpPr txBox="1"/>
          <p:nvPr/>
        </p:nvSpPr>
        <p:spPr>
          <a:xfrm>
            <a:off x="10177272" y="3200400"/>
            <a:ext cx="1463040" cy="685800"/>
          </a:xfrm>
          <a:prstGeom prst="rect">
            <a:avLst/>
          </a:prstGeom>
          <a:noFill/>
          <a:ln/>
        </p:spPr>
        <p:txBody>
          <a:bodyPr wrap="square" lIns="0" tIns="0" rIns="0" bIns="0" rtlCol="0" anchor="t"/>
          <a:lstStyle/>
          <a:p>
            <a:pPr algn="ctr" indent="0" marL="0">
              <a:buNone/>
            </a:pPr>
            <a:r>
              <a:rPr lang="en-US" sz="1500" b="1" dirty="0">
                <a:solidFill>
                  <a:srgbClr val="1E2B2A"/>
                </a:solidFill>
                <a:latin typeface="Cambria" pitchFamily="34" charset="0"/>
                <a:ea typeface="Cambria" pitchFamily="34" charset="-122"/>
                <a:cs typeface="Cambria" pitchFamily="34" charset="-120"/>
              </a:rPr>
              <a:t>Name signer and target</a:t>
            </a:r>
            <a:endParaRPr lang="en-US" sz="1500" dirty="0"/>
          </a:p>
        </p:txBody>
      </p:sp>
      <p:sp>
        <p:nvSpPr>
          <p:cNvPr id="35" name="Text 32"/>
          <p:cNvSpPr txBox="1"/>
          <p:nvPr/>
        </p:nvSpPr>
        <p:spPr>
          <a:xfrm>
            <a:off x="10222992" y="3931920"/>
            <a:ext cx="1371600" cy="1005840"/>
          </a:xfrm>
          <a:prstGeom prst="rect">
            <a:avLst/>
          </a:prstGeom>
          <a:noFill/>
          <a:ln/>
        </p:spPr>
        <p:txBody>
          <a:bodyPr wrap="square" lIns="0" tIns="0" rIns="0" bIns="0" rtlCol="0" anchor="t"/>
          <a:lstStyle/>
          <a:p>
            <a:pPr algn="ctr" indent="0" marL="0">
              <a:buNone/>
            </a:pPr>
            <a:r>
              <a:rPr lang="en-US" sz="1200" dirty="0">
                <a:solidFill>
                  <a:srgbClr val="5E6B6A"/>
                </a:solidFill>
                <a:latin typeface="Calibri" pitchFamily="34" charset="0"/>
                <a:ea typeface="Calibri" pitchFamily="34" charset="-122"/>
                <a:cs typeface="Calibri" pitchFamily="34" charset="-120"/>
              </a:rPr>
              <a:t>Owner plus financial benchmark</a:t>
            </a:r>
            <a:endParaRPr lang="en-US" sz="1200" dirty="0"/>
          </a:p>
        </p:txBody>
      </p:sp>
      <p:sp>
        <p:nvSpPr>
          <p:cNvPr id="36" name="Text 33"/>
          <p:cNvSpPr txBox="1"/>
          <p:nvPr/>
        </p:nvSpPr>
        <p:spPr>
          <a:xfrm>
            <a:off x="548640" y="5257800"/>
            <a:ext cx="3067812" cy="274320"/>
          </a:xfrm>
          <a:prstGeom prst="rect">
            <a:avLst/>
          </a:prstGeom>
          <a:noFill/>
          <a:ln/>
        </p:spPr>
        <p:txBody>
          <a:bodyPr wrap="square" lIns="0" tIns="0" rIns="0" bIns="0" rtlCol="0" anchor="ctr"/>
          <a:lstStyle/>
          <a:p>
            <a:pPr algn="ctr" indent="0" marL="0">
              <a:buNone/>
            </a:pPr>
            <a:r>
              <a:rPr lang="en-US" sz="1200" b="1" dirty="0">
                <a:solidFill>
                  <a:srgbClr val="5E6B6A"/>
                </a:solidFill>
                <a:latin typeface="Calibri" pitchFamily="34" charset="0"/>
                <a:ea typeface="Calibri" pitchFamily="34" charset="-122"/>
                <a:cs typeface="Calibri" pitchFamily="34" charset="-120"/>
              </a:rPr>
              <a:t>TCO baseline</a:t>
            </a:r>
            <a:endParaRPr lang="en-US" sz="1200" dirty="0"/>
          </a:p>
        </p:txBody>
      </p:sp>
      <p:sp>
        <p:nvSpPr>
          <p:cNvPr id="37" name="Text 34"/>
          <p:cNvSpPr txBox="1"/>
          <p:nvPr/>
        </p:nvSpPr>
        <p:spPr>
          <a:xfrm>
            <a:off x="3758184" y="5257800"/>
            <a:ext cx="6277356" cy="274320"/>
          </a:xfrm>
          <a:prstGeom prst="rect">
            <a:avLst/>
          </a:prstGeom>
          <a:noFill/>
          <a:ln/>
        </p:spPr>
        <p:txBody>
          <a:bodyPr wrap="square" lIns="0" tIns="0" rIns="0" bIns="0" rtlCol="0" anchor="ctr"/>
          <a:lstStyle/>
          <a:p>
            <a:pPr algn="ctr" indent="0" marL="0">
              <a:buNone/>
            </a:pPr>
            <a:r>
              <a:rPr lang="en-US" sz="1200" b="1" dirty="0">
                <a:solidFill>
                  <a:srgbClr val="5E6B6A"/>
                </a:solidFill>
                <a:latin typeface="Calibri" pitchFamily="34" charset="0"/>
                <a:ea typeface="Calibri" pitchFamily="34" charset="-122"/>
                <a:cs typeface="Calibri" pitchFamily="34" charset="-120"/>
              </a:rPr>
              <a:t>Builds artifact 6</a:t>
            </a:r>
            <a:endParaRPr lang="en-US" sz="1200" dirty="0"/>
          </a:p>
        </p:txBody>
      </p:sp>
      <p:sp>
        <p:nvSpPr>
          <p:cNvPr id="38" name="Text 35"/>
          <p:cNvSpPr txBox="1"/>
          <p:nvPr/>
        </p:nvSpPr>
        <p:spPr>
          <a:xfrm>
            <a:off x="10177272" y="5257800"/>
            <a:ext cx="1463040" cy="274320"/>
          </a:xfrm>
          <a:prstGeom prst="rect">
            <a:avLst/>
          </a:prstGeom>
          <a:noFill/>
          <a:ln/>
        </p:spPr>
        <p:txBody>
          <a:bodyPr wrap="square" lIns="0" tIns="0" rIns="0" bIns="0" rtlCol="0" anchor="ctr"/>
          <a:lstStyle/>
          <a:p>
            <a:pPr algn="ctr" indent="0" marL="0">
              <a:buNone/>
            </a:pPr>
            <a:r>
              <a:rPr lang="en-US" sz="1200" b="1" dirty="0">
                <a:solidFill>
                  <a:srgbClr val="5E6B6A"/>
                </a:solidFill>
                <a:latin typeface="Calibri" pitchFamily="34" charset="0"/>
                <a:ea typeface="Calibri" pitchFamily="34" charset="-122"/>
                <a:cs typeface="Calibri" pitchFamily="34" charset="-120"/>
              </a:rPr>
              <a:t>Sets up artifact 4</a:t>
            </a:r>
            <a:endParaRPr lang="en-US" sz="1200" dirty="0"/>
          </a:p>
        </p:txBody>
      </p:sp>
      <p:sp>
        <p:nvSpPr>
          <p:cNvPr id="39" name="Shape 36"/>
          <p:cNvSpPr/>
          <p:nvPr/>
        </p:nvSpPr>
        <p:spPr>
          <a:xfrm>
            <a:off x="548640" y="5669280"/>
            <a:ext cx="11091672" cy="566928"/>
          </a:xfrm>
          <a:prstGeom prst="rect">
            <a:avLst/>
          </a:prstGeom>
          <a:solidFill>
            <a:srgbClr val="F3F6F5"/>
          </a:solidFill>
          <a:ln w="12700">
            <a:solidFill>
              <a:srgbClr val="F3F6F5"/>
            </a:solidFill>
            <a:prstDash val="solid"/>
          </a:ln>
        </p:spPr>
      </p:sp>
      <p:sp>
        <p:nvSpPr>
          <p:cNvPr id="40" name="Text 37"/>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Step 3 is the highest-leverage decision. </a:t>
            </a:r>
            <a:pPr indent="0" marL="0">
              <a:buNone/>
            </a:pPr>
            <a:r>
              <a:rPr lang="en-US" sz="1500" dirty="0">
                <a:solidFill>
                  <a:srgbClr val="1E2B2A"/>
                </a:solidFill>
                <a:latin typeface="Calibri" pitchFamily="34" charset="0"/>
                <a:ea typeface="Calibri" pitchFamily="34" charset="-122"/>
                <a:cs typeface="Calibri" pitchFamily="34" charset="-120"/>
              </a:rPr>
              <a:t>The unit of work sets what you measure, price, and sign.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THE OPERATING STANDARD  |  ORGANIZATIONAL IP</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The operating standard is the IP</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9</a:t>
            </a:r>
            <a:endParaRPr lang="en-US" sz="900" dirty="0"/>
          </a:p>
        </p:txBody>
      </p:sp>
      <p:sp>
        <p:nvSpPr>
          <p:cNvPr id="6" name="Shape 3"/>
          <p:cNvSpPr/>
          <p:nvPr/>
        </p:nvSpPr>
        <p:spPr>
          <a:xfrm>
            <a:off x="548640" y="1737360"/>
            <a:ext cx="3383280" cy="3611880"/>
          </a:xfrm>
          <a:prstGeom prst="rect">
            <a:avLst/>
          </a:prstGeom>
          <a:solidFill>
            <a:srgbClr val="F3F6F5"/>
          </a:solidFill>
          <a:ln w="12700">
            <a:solidFill>
              <a:srgbClr val="F3F6F5"/>
            </a:solidFill>
            <a:prstDash val="solid"/>
          </a:ln>
        </p:spPr>
      </p:sp>
      <p:sp>
        <p:nvSpPr>
          <p:cNvPr id="7" name="Text 4"/>
          <p:cNvSpPr txBox="1"/>
          <p:nvPr/>
        </p:nvSpPr>
        <p:spPr>
          <a:xfrm>
            <a:off x="777240" y="1874520"/>
            <a:ext cx="3017520" cy="274320"/>
          </a:xfrm>
          <a:prstGeom prst="rect">
            <a:avLst/>
          </a:prstGeom>
          <a:noFill/>
          <a:ln/>
        </p:spPr>
        <p:txBody>
          <a:bodyPr wrap="square" lIns="0" tIns="0" rIns="0" bIns="0" rtlCol="0" anchor="ctr"/>
          <a:lstStyle/>
          <a:p>
            <a:pPr indent="0" marL="0">
              <a:buNone/>
            </a:pPr>
            <a:r>
              <a:rPr lang="en-US" sz="1200" b="1" dirty="0">
                <a:solidFill>
                  <a:srgbClr val="1F6F6B"/>
                </a:solidFill>
                <a:latin typeface="Calibri" pitchFamily="34" charset="0"/>
                <a:ea typeface="Calibri" pitchFamily="34" charset="-122"/>
                <a:cs typeface="Calibri" pitchFamily="34" charset="-120"/>
              </a:rPr>
              <a:t>ORGANIZATIONAL ASSETS</a:t>
            </a:r>
            <a:endParaRPr lang="en-US" sz="1200" dirty="0"/>
          </a:p>
        </p:txBody>
      </p:sp>
      <p:pic>
        <p:nvPicPr>
          <p:cNvPr id="8" name="Image 0" descr="preencoded.png">    </p:cNvPr>
          <p:cNvPicPr>
            <a:picLocks noChangeAspect="1"/>
          </p:cNvPicPr>
          <p:nvPr/>
        </p:nvPicPr>
        <p:blipFill>
          <a:blip r:embed="rId1"/>
          <a:stretch>
            <a:fillRect/>
          </a:stretch>
        </p:blipFill>
        <p:spPr>
          <a:xfrm>
            <a:off x="822960" y="2350008"/>
            <a:ext cx="310896" cy="310896"/>
          </a:xfrm>
          <a:prstGeom prst="rect">
            <a:avLst/>
          </a:prstGeom>
        </p:spPr>
      </p:pic>
      <p:sp>
        <p:nvSpPr>
          <p:cNvPr id="9" name="Text 5"/>
          <p:cNvSpPr txBox="1"/>
          <p:nvPr/>
        </p:nvSpPr>
        <p:spPr>
          <a:xfrm>
            <a:off x="1325880" y="2286000"/>
            <a:ext cx="2468880" cy="438912"/>
          </a:xfrm>
          <a:prstGeom prst="rect">
            <a:avLst/>
          </a:prstGeom>
          <a:noFill/>
          <a:ln/>
        </p:spPr>
        <p:txBody>
          <a:bodyPr wrap="square" lIns="0" tIns="0" rIns="0" bIns="0" rtlCol="0" anchor="ctr"/>
          <a:lstStyle/>
          <a:p>
            <a:pPr indent="0" marL="0">
              <a:buNone/>
            </a:pPr>
            <a:r>
              <a:rPr lang="en-US" sz="1700" dirty="0">
                <a:solidFill>
                  <a:srgbClr val="1E2B2A"/>
                </a:solidFill>
                <a:latin typeface="Calibri" pitchFamily="34" charset="0"/>
                <a:ea typeface="Calibri" pitchFamily="34" charset="-122"/>
                <a:cs typeface="Calibri" pitchFamily="34" charset="-120"/>
              </a:rPr>
              <a:t>Processes</a:t>
            </a:r>
            <a:endParaRPr lang="en-US" sz="1700" dirty="0"/>
          </a:p>
        </p:txBody>
      </p:sp>
      <p:pic>
        <p:nvPicPr>
          <p:cNvPr id="10" name="Image 1" descr="preencoded.png">    </p:cNvPr>
          <p:cNvPicPr>
            <a:picLocks noChangeAspect="1"/>
          </p:cNvPicPr>
          <p:nvPr/>
        </p:nvPicPr>
        <p:blipFill>
          <a:blip r:embed="rId2"/>
          <a:stretch>
            <a:fillRect/>
          </a:stretch>
        </p:blipFill>
        <p:spPr>
          <a:xfrm>
            <a:off x="822960" y="2935224"/>
            <a:ext cx="310896" cy="310896"/>
          </a:xfrm>
          <a:prstGeom prst="rect">
            <a:avLst/>
          </a:prstGeom>
        </p:spPr>
      </p:pic>
      <p:sp>
        <p:nvSpPr>
          <p:cNvPr id="11" name="Text 6"/>
          <p:cNvSpPr txBox="1"/>
          <p:nvPr/>
        </p:nvSpPr>
        <p:spPr>
          <a:xfrm>
            <a:off x="1325880" y="2871216"/>
            <a:ext cx="2468880" cy="438912"/>
          </a:xfrm>
          <a:prstGeom prst="rect">
            <a:avLst/>
          </a:prstGeom>
          <a:noFill/>
          <a:ln/>
        </p:spPr>
        <p:txBody>
          <a:bodyPr wrap="square" lIns="0" tIns="0" rIns="0" bIns="0" rtlCol="0" anchor="ctr"/>
          <a:lstStyle/>
          <a:p>
            <a:pPr indent="0" marL="0">
              <a:buNone/>
            </a:pPr>
            <a:r>
              <a:rPr lang="en-US" sz="1700" dirty="0">
                <a:solidFill>
                  <a:srgbClr val="1E2B2A"/>
                </a:solidFill>
                <a:latin typeface="Calibri" pitchFamily="34" charset="0"/>
                <a:ea typeface="Calibri" pitchFamily="34" charset="-122"/>
                <a:cs typeface="Calibri" pitchFamily="34" charset="-120"/>
              </a:rPr>
              <a:t>KPIs</a:t>
            </a:r>
            <a:endParaRPr lang="en-US" sz="1700" dirty="0"/>
          </a:p>
        </p:txBody>
      </p:sp>
      <p:pic>
        <p:nvPicPr>
          <p:cNvPr id="12" name="Image 2" descr="preencoded.png">    </p:cNvPr>
          <p:cNvPicPr>
            <a:picLocks noChangeAspect="1"/>
          </p:cNvPicPr>
          <p:nvPr/>
        </p:nvPicPr>
        <p:blipFill>
          <a:blip r:embed="rId3"/>
          <a:stretch>
            <a:fillRect/>
          </a:stretch>
        </p:blipFill>
        <p:spPr>
          <a:xfrm>
            <a:off x="822960" y="3520440"/>
            <a:ext cx="310896" cy="310896"/>
          </a:xfrm>
          <a:prstGeom prst="rect">
            <a:avLst/>
          </a:prstGeom>
        </p:spPr>
      </p:pic>
      <p:sp>
        <p:nvSpPr>
          <p:cNvPr id="13" name="Text 7"/>
          <p:cNvSpPr txBox="1"/>
          <p:nvPr/>
        </p:nvSpPr>
        <p:spPr>
          <a:xfrm>
            <a:off x="1325880" y="3456432"/>
            <a:ext cx="2468880" cy="438912"/>
          </a:xfrm>
          <a:prstGeom prst="rect">
            <a:avLst/>
          </a:prstGeom>
          <a:noFill/>
          <a:ln/>
        </p:spPr>
        <p:txBody>
          <a:bodyPr wrap="square" lIns="0" tIns="0" rIns="0" bIns="0" rtlCol="0" anchor="ctr"/>
          <a:lstStyle/>
          <a:p>
            <a:pPr indent="0" marL="0">
              <a:buNone/>
            </a:pPr>
            <a:r>
              <a:rPr lang="en-US" sz="1700" dirty="0">
                <a:solidFill>
                  <a:srgbClr val="1E2B2A"/>
                </a:solidFill>
                <a:latin typeface="Calibri" pitchFamily="34" charset="0"/>
                <a:ea typeface="Calibri" pitchFamily="34" charset="-122"/>
                <a:cs typeface="Calibri" pitchFamily="34" charset="-120"/>
              </a:rPr>
              <a:t>Budgets</a:t>
            </a:r>
            <a:endParaRPr lang="en-US" sz="1700" dirty="0"/>
          </a:p>
        </p:txBody>
      </p:sp>
      <p:pic>
        <p:nvPicPr>
          <p:cNvPr id="14" name="Image 3" descr="preencoded.png">    </p:cNvPr>
          <p:cNvPicPr>
            <a:picLocks noChangeAspect="1"/>
          </p:cNvPicPr>
          <p:nvPr/>
        </p:nvPicPr>
        <p:blipFill>
          <a:blip r:embed="rId4"/>
          <a:stretch>
            <a:fillRect/>
          </a:stretch>
        </p:blipFill>
        <p:spPr>
          <a:xfrm>
            <a:off x="822960" y="4105656"/>
            <a:ext cx="310896" cy="310896"/>
          </a:xfrm>
          <a:prstGeom prst="rect">
            <a:avLst/>
          </a:prstGeom>
        </p:spPr>
      </p:pic>
      <p:sp>
        <p:nvSpPr>
          <p:cNvPr id="15" name="Text 8"/>
          <p:cNvSpPr txBox="1"/>
          <p:nvPr/>
        </p:nvSpPr>
        <p:spPr>
          <a:xfrm>
            <a:off x="1325880" y="4041648"/>
            <a:ext cx="2468880" cy="438912"/>
          </a:xfrm>
          <a:prstGeom prst="rect">
            <a:avLst/>
          </a:prstGeom>
          <a:noFill/>
          <a:ln/>
        </p:spPr>
        <p:txBody>
          <a:bodyPr wrap="square" lIns="0" tIns="0" rIns="0" bIns="0" rtlCol="0" anchor="ctr"/>
          <a:lstStyle/>
          <a:p>
            <a:pPr indent="0" marL="0">
              <a:buNone/>
            </a:pPr>
            <a:r>
              <a:rPr lang="en-US" sz="1700" dirty="0">
                <a:solidFill>
                  <a:srgbClr val="1E2B2A"/>
                </a:solidFill>
                <a:latin typeface="Calibri" pitchFamily="34" charset="0"/>
                <a:ea typeface="Calibri" pitchFamily="34" charset="-122"/>
                <a:cs typeface="Calibri" pitchFamily="34" charset="-120"/>
              </a:rPr>
              <a:t>Risk tolerance</a:t>
            </a:r>
            <a:endParaRPr lang="en-US" sz="1700" dirty="0"/>
          </a:p>
        </p:txBody>
      </p:sp>
      <p:pic>
        <p:nvPicPr>
          <p:cNvPr id="16" name="Image 4" descr="preencoded.png">    </p:cNvPr>
          <p:cNvPicPr>
            <a:picLocks noChangeAspect="1"/>
          </p:cNvPicPr>
          <p:nvPr/>
        </p:nvPicPr>
        <p:blipFill>
          <a:blip r:embed="rId5"/>
          <a:stretch>
            <a:fillRect/>
          </a:stretch>
        </p:blipFill>
        <p:spPr>
          <a:xfrm>
            <a:off x="822960" y="4690872"/>
            <a:ext cx="310896" cy="310896"/>
          </a:xfrm>
          <a:prstGeom prst="rect">
            <a:avLst/>
          </a:prstGeom>
        </p:spPr>
      </p:pic>
      <p:sp>
        <p:nvSpPr>
          <p:cNvPr id="17" name="Text 9"/>
          <p:cNvSpPr txBox="1"/>
          <p:nvPr/>
        </p:nvSpPr>
        <p:spPr>
          <a:xfrm>
            <a:off x="1325880" y="4626864"/>
            <a:ext cx="2468880" cy="438912"/>
          </a:xfrm>
          <a:prstGeom prst="rect">
            <a:avLst/>
          </a:prstGeom>
          <a:noFill/>
          <a:ln/>
        </p:spPr>
        <p:txBody>
          <a:bodyPr wrap="square" lIns="0" tIns="0" rIns="0" bIns="0" rtlCol="0" anchor="ctr"/>
          <a:lstStyle/>
          <a:p>
            <a:pPr indent="0" marL="0">
              <a:buNone/>
            </a:pPr>
            <a:r>
              <a:rPr lang="en-US" sz="1700" dirty="0">
                <a:solidFill>
                  <a:srgbClr val="1E2B2A"/>
                </a:solidFill>
                <a:latin typeface="Calibri" pitchFamily="34" charset="0"/>
                <a:ea typeface="Calibri" pitchFamily="34" charset="-122"/>
                <a:cs typeface="Calibri" pitchFamily="34" charset="-120"/>
              </a:rPr>
              <a:t>Security posture</a:t>
            </a:r>
            <a:endParaRPr lang="en-US" sz="1700" dirty="0"/>
          </a:p>
        </p:txBody>
      </p:sp>
      <p:sp>
        <p:nvSpPr>
          <p:cNvPr id="18" name="Shape 10"/>
          <p:cNvSpPr/>
          <p:nvPr/>
        </p:nvSpPr>
        <p:spPr>
          <a:xfrm>
            <a:off x="4023360" y="3291840"/>
            <a:ext cx="457200" cy="457200"/>
          </a:xfrm>
          <a:prstGeom prst="rightArrow">
            <a:avLst/>
          </a:prstGeom>
          <a:solidFill>
            <a:srgbClr val="B9CBC8"/>
          </a:solidFill>
          <a:ln w="12700">
            <a:solidFill>
              <a:srgbClr val="B9CBC8"/>
            </a:solidFill>
            <a:prstDash val="solid"/>
          </a:ln>
        </p:spPr>
      </p:sp>
      <p:sp>
        <p:nvSpPr>
          <p:cNvPr id="19" name="Shape 11"/>
          <p:cNvSpPr/>
          <p:nvPr/>
        </p:nvSpPr>
        <p:spPr>
          <a:xfrm>
            <a:off x="7708392" y="3291840"/>
            <a:ext cx="457200" cy="457200"/>
          </a:xfrm>
          <a:prstGeom prst="rightArrow">
            <a:avLst/>
          </a:prstGeom>
          <a:solidFill>
            <a:srgbClr val="B9CBC8"/>
          </a:solidFill>
          <a:ln w="12700">
            <a:solidFill>
              <a:srgbClr val="B9CBC8"/>
            </a:solidFill>
            <a:prstDash val="solid"/>
          </a:ln>
        </p:spPr>
      </p:sp>
      <p:sp>
        <p:nvSpPr>
          <p:cNvPr id="20" name="Shape 12"/>
          <p:cNvSpPr/>
          <p:nvPr/>
        </p:nvSpPr>
        <p:spPr>
          <a:xfrm>
            <a:off x="4572000" y="1737360"/>
            <a:ext cx="3044952" cy="3611880"/>
          </a:xfrm>
          <a:prstGeom prst="rect">
            <a:avLst/>
          </a:prstGeom>
          <a:solidFill>
            <a:srgbClr val="FCEFD9"/>
          </a:solidFill>
          <a:ln w="19050">
            <a:solidFill>
              <a:srgbClr val="D9901A"/>
            </a:solidFill>
            <a:prstDash val="solid"/>
          </a:ln>
        </p:spPr>
      </p:sp>
      <p:sp>
        <p:nvSpPr>
          <p:cNvPr id="21" name="Text 13"/>
          <p:cNvSpPr txBox="1"/>
          <p:nvPr/>
        </p:nvSpPr>
        <p:spPr>
          <a:xfrm>
            <a:off x="4572000" y="1874520"/>
            <a:ext cx="3044952" cy="274320"/>
          </a:xfrm>
          <a:prstGeom prst="rect">
            <a:avLst/>
          </a:prstGeom>
          <a:noFill/>
          <a:ln/>
        </p:spPr>
        <p:txBody>
          <a:bodyPr wrap="square" lIns="0" tIns="0" rIns="0" bIns="0" rtlCol="0" anchor="ctr"/>
          <a:lstStyle/>
          <a:p>
            <a:pPr algn="ctr" indent="0" marL="0">
              <a:buNone/>
            </a:pPr>
            <a:r>
              <a:rPr lang="en-US" sz="1200" b="1" dirty="0">
                <a:solidFill>
                  <a:srgbClr val="9A6208"/>
                </a:solidFill>
                <a:latin typeface="Calibri" pitchFamily="34" charset="0"/>
                <a:ea typeface="Calibri" pitchFamily="34" charset="-122"/>
                <a:cs typeface="Calibri" pitchFamily="34" charset="-120"/>
              </a:rPr>
              <a:t>THE IP</a:t>
            </a:r>
            <a:endParaRPr lang="en-US" sz="1200" dirty="0"/>
          </a:p>
        </p:txBody>
      </p:sp>
      <p:sp>
        <p:nvSpPr>
          <p:cNvPr id="22" name="Text 14"/>
          <p:cNvSpPr txBox="1"/>
          <p:nvPr/>
        </p:nvSpPr>
        <p:spPr>
          <a:xfrm>
            <a:off x="4754880" y="2148840"/>
            <a:ext cx="2679192" cy="457200"/>
          </a:xfrm>
          <a:prstGeom prst="rect">
            <a:avLst/>
          </a:prstGeom>
          <a:noFill/>
          <a:ln/>
        </p:spPr>
        <p:txBody>
          <a:bodyPr wrap="square" lIns="0" tIns="0" rIns="0" bIns="0" rtlCol="0" anchor="ctr"/>
          <a:lstStyle/>
          <a:p>
            <a:pPr algn="ctr" indent="0" marL="0">
              <a:buNone/>
            </a:pPr>
            <a:r>
              <a:rPr lang="en-US" sz="2200" b="1" dirty="0">
                <a:solidFill>
                  <a:srgbClr val="1E2B2A"/>
                </a:solidFill>
                <a:latin typeface="Cambria" pitchFamily="34" charset="0"/>
                <a:ea typeface="Cambria" pitchFamily="34" charset="-122"/>
                <a:cs typeface="Cambria" pitchFamily="34" charset="-120"/>
              </a:rPr>
              <a:t>Operating standard</a:t>
            </a:r>
            <a:endParaRPr lang="en-US" sz="2200" dirty="0"/>
          </a:p>
        </p:txBody>
      </p:sp>
      <p:sp>
        <p:nvSpPr>
          <p:cNvPr id="23" name="Text 15"/>
          <p:cNvSpPr txBox="1"/>
          <p:nvPr/>
        </p:nvSpPr>
        <p:spPr>
          <a:xfrm>
            <a:off x="4846320" y="2697480"/>
            <a:ext cx="2560320" cy="329184"/>
          </a:xfrm>
          <a:prstGeom prst="rect">
            <a:avLst/>
          </a:prstGeom>
          <a:noFill/>
          <a:ln/>
        </p:spPr>
        <p:txBody>
          <a:bodyPr wrap="square" lIns="0" tIns="0" rIns="0" bIns="0" rtlCol="0" anchor="ctr"/>
          <a:lstStyle/>
          <a:p>
            <a:pPr indent="0" marL="0">
              <a:buNone/>
            </a:pPr>
            <a:r>
              <a:rPr lang="en-US" sz="1300" b="1" dirty="0">
                <a:solidFill>
                  <a:srgbClr val="1E2B2A"/>
                </a:solidFill>
                <a:latin typeface="Calibri" pitchFamily="34" charset="0"/>
                <a:ea typeface="Calibri" pitchFamily="34" charset="-122"/>
                <a:cs typeface="Calibri" pitchFamily="34" charset="-120"/>
              </a:rPr>
              <a:t>Method: </a:t>
            </a:r>
            <a:pPr indent="0" marL="0">
              <a:buNone/>
            </a:pPr>
            <a:r>
              <a:rPr lang="en-US" sz="1300" dirty="0">
                <a:solidFill>
                  <a:srgbClr val="5E6B6A"/>
                </a:solidFill>
                <a:latin typeface="Calibri" pitchFamily="34" charset="0"/>
                <a:ea typeface="Calibri" pitchFamily="34" charset="-122"/>
                <a:cs typeface="Calibri" pitchFamily="34" charset="-120"/>
              </a:rPr>
              <a:t>how a process is converted</a:t>
            </a:r>
            <a:endParaRPr lang="en-US" sz="1300" dirty="0"/>
          </a:p>
        </p:txBody>
      </p:sp>
      <p:sp>
        <p:nvSpPr>
          <p:cNvPr id="24" name="Text 16"/>
          <p:cNvSpPr txBox="1"/>
          <p:nvPr/>
        </p:nvSpPr>
        <p:spPr>
          <a:xfrm>
            <a:off x="4846320" y="3063240"/>
            <a:ext cx="2560320" cy="329184"/>
          </a:xfrm>
          <a:prstGeom prst="rect">
            <a:avLst/>
          </a:prstGeom>
          <a:noFill/>
          <a:ln/>
        </p:spPr>
        <p:txBody>
          <a:bodyPr wrap="square" lIns="0" tIns="0" rIns="0" bIns="0" rtlCol="0" anchor="ctr"/>
          <a:lstStyle/>
          <a:p>
            <a:pPr indent="0" marL="0">
              <a:buNone/>
            </a:pPr>
            <a:r>
              <a:rPr lang="en-US" sz="1300" b="1" dirty="0">
                <a:solidFill>
                  <a:srgbClr val="1E2B2A"/>
                </a:solidFill>
                <a:latin typeface="Calibri" pitchFamily="34" charset="0"/>
                <a:ea typeface="Calibri" pitchFamily="34" charset="-122"/>
                <a:cs typeface="Calibri" pitchFamily="34" charset="-120"/>
              </a:rPr>
              <a:t>Validator: </a:t>
            </a:r>
            <a:pPr indent="0" marL="0">
              <a:buNone/>
            </a:pPr>
            <a:r>
              <a:rPr lang="en-US" sz="1300" dirty="0">
                <a:solidFill>
                  <a:srgbClr val="5E6B6A"/>
                </a:solidFill>
                <a:latin typeface="Calibri" pitchFamily="34" charset="0"/>
                <a:ea typeface="Calibri" pitchFamily="34" charset="-122"/>
                <a:cs typeface="Calibri" pitchFamily="34" charset="-120"/>
              </a:rPr>
              <a:t>22 rules on every design</a:t>
            </a:r>
            <a:endParaRPr lang="en-US" sz="1300" dirty="0"/>
          </a:p>
        </p:txBody>
      </p:sp>
      <p:sp>
        <p:nvSpPr>
          <p:cNvPr id="25" name="Text 17"/>
          <p:cNvSpPr txBox="1"/>
          <p:nvPr/>
        </p:nvSpPr>
        <p:spPr>
          <a:xfrm>
            <a:off x="4846320" y="3429000"/>
            <a:ext cx="2560320" cy="329184"/>
          </a:xfrm>
          <a:prstGeom prst="rect">
            <a:avLst/>
          </a:prstGeom>
          <a:noFill/>
          <a:ln/>
        </p:spPr>
        <p:txBody>
          <a:bodyPr wrap="square" lIns="0" tIns="0" rIns="0" bIns="0" rtlCol="0" anchor="ctr"/>
          <a:lstStyle/>
          <a:p>
            <a:pPr indent="0" marL="0">
              <a:buNone/>
            </a:pPr>
            <a:r>
              <a:rPr lang="en-US" sz="1300" b="1" dirty="0">
                <a:solidFill>
                  <a:srgbClr val="1E2B2A"/>
                </a:solidFill>
                <a:latin typeface="Calibri" pitchFamily="34" charset="0"/>
                <a:ea typeface="Calibri" pitchFamily="34" charset="-122"/>
                <a:cs typeface="Calibri" pitchFamily="34" charset="-120"/>
              </a:rPr>
              <a:t>Gates: </a:t>
            </a:r>
            <a:pPr indent="0" marL="0">
              <a:buNone/>
            </a:pPr>
            <a:r>
              <a:rPr lang="en-US" sz="1300" dirty="0">
                <a:solidFill>
                  <a:srgbClr val="5E6B6A"/>
                </a:solidFill>
                <a:latin typeface="Calibri" pitchFamily="34" charset="0"/>
                <a:ea typeface="Calibri" pitchFamily="34" charset="-122"/>
                <a:cs typeface="Calibri" pitchFamily="34" charset="-120"/>
              </a:rPr>
              <a:t>your thresholds, in code</a:t>
            </a:r>
            <a:endParaRPr lang="en-US" sz="1300" dirty="0"/>
          </a:p>
        </p:txBody>
      </p:sp>
      <p:sp>
        <p:nvSpPr>
          <p:cNvPr id="26" name="Shape 18"/>
          <p:cNvSpPr/>
          <p:nvPr/>
        </p:nvSpPr>
        <p:spPr>
          <a:xfrm>
            <a:off x="4846320" y="3931920"/>
            <a:ext cx="2496312" cy="1188720"/>
          </a:xfrm>
          <a:prstGeom prst="rect">
            <a:avLst/>
          </a:prstGeom>
          <a:solidFill>
            <a:srgbClr val="1F6F6B"/>
          </a:solidFill>
          <a:ln w="12700">
            <a:solidFill>
              <a:srgbClr val="1F6F6B"/>
            </a:solidFill>
            <a:prstDash val="solid"/>
          </a:ln>
        </p:spPr>
      </p:sp>
      <p:pic>
        <p:nvPicPr>
          <p:cNvPr id="27" name="Image 5" descr="preencoded.png">    </p:cNvPr>
          <p:cNvPicPr>
            <a:picLocks noChangeAspect="1"/>
          </p:cNvPicPr>
          <p:nvPr/>
        </p:nvPicPr>
        <p:blipFill>
          <a:blip r:embed="rId6"/>
          <a:stretch>
            <a:fillRect/>
          </a:stretch>
        </p:blipFill>
        <p:spPr>
          <a:xfrm>
            <a:off x="5010912" y="4297680"/>
            <a:ext cx="411480" cy="411480"/>
          </a:xfrm>
          <a:prstGeom prst="rect">
            <a:avLst/>
          </a:prstGeom>
        </p:spPr>
      </p:pic>
      <p:sp>
        <p:nvSpPr>
          <p:cNvPr id="28" name="Text 19"/>
          <p:cNvSpPr txBox="1"/>
          <p:nvPr/>
        </p:nvSpPr>
        <p:spPr>
          <a:xfrm>
            <a:off x="5532120" y="3931920"/>
            <a:ext cx="1737360" cy="11887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Business leader</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designs the process</a:t>
            </a:r>
            <a:endParaRPr lang="en-US" sz="1400" dirty="0"/>
          </a:p>
        </p:txBody>
      </p:sp>
      <p:sp>
        <p:nvSpPr>
          <p:cNvPr id="29" name="Shape 20"/>
          <p:cNvSpPr/>
          <p:nvPr/>
        </p:nvSpPr>
        <p:spPr>
          <a:xfrm>
            <a:off x="8257032" y="1737360"/>
            <a:ext cx="3383280" cy="3611880"/>
          </a:xfrm>
          <a:prstGeom prst="rect">
            <a:avLst/>
          </a:prstGeom>
          <a:solidFill>
            <a:srgbClr val="F3F6F5"/>
          </a:solidFill>
          <a:ln w="12700">
            <a:solidFill>
              <a:srgbClr val="F3F6F5"/>
            </a:solidFill>
            <a:prstDash val="solid"/>
          </a:ln>
        </p:spPr>
      </p:sp>
      <p:sp>
        <p:nvSpPr>
          <p:cNvPr id="30" name="Text 21"/>
          <p:cNvSpPr txBox="1"/>
          <p:nvPr/>
        </p:nvSpPr>
        <p:spPr>
          <a:xfrm>
            <a:off x="8485632" y="1874520"/>
            <a:ext cx="3017520" cy="274320"/>
          </a:xfrm>
          <a:prstGeom prst="rect">
            <a:avLst/>
          </a:prstGeom>
          <a:noFill/>
          <a:ln/>
        </p:spPr>
        <p:txBody>
          <a:bodyPr wrap="square" lIns="0" tIns="0" rIns="0" bIns="0" rtlCol="0" anchor="ctr"/>
          <a:lstStyle/>
          <a:p>
            <a:pPr indent="0" marL="0">
              <a:buNone/>
            </a:pPr>
            <a:r>
              <a:rPr lang="en-US" sz="1200" b="1" dirty="0">
                <a:solidFill>
                  <a:srgbClr val="9A6208"/>
                </a:solidFill>
                <a:latin typeface="Calibri" pitchFamily="34" charset="0"/>
                <a:ea typeface="Calibri" pitchFamily="34" charset="-122"/>
                <a:cs typeface="Calibri" pitchFamily="34" charset="-120"/>
              </a:rPr>
              <a:t>DISCIPLINES INFUSED</a:t>
            </a:r>
            <a:endParaRPr lang="en-US" sz="1200" dirty="0"/>
          </a:p>
        </p:txBody>
      </p:sp>
      <p:pic>
        <p:nvPicPr>
          <p:cNvPr id="31" name="Image 6" descr="preencoded.png">    </p:cNvPr>
          <p:cNvPicPr>
            <a:picLocks noChangeAspect="1"/>
          </p:cNvPicPr>
          <p:nvPr/>
        </p:nvPicPr>
        <p:blipFill>
          <a:blip r:embed="rId7"/>
          <a:stretch>
            <a:fillRect/>
          </a:stretch>
        </p:blipFill>
        <p:spPr>
          <a:xfrm>
            <a:off x="8531352" y="2404872"/>
            <a:ext cx="329184" cy="329184"/>
          </a:xfrm>
          <a:prstGeom prst="rect">
            <a:avLst/>
          </a:prstGeom>
        </p:spPr>
      </p:pic>
      <p:sp>
        <p:nvSpPr>
          <p:cNvPr id="32" name="Text 22"/>
          <p:cNvSpPr txBox="1"/>
          <p:nvPr/>
        </p:nvSpPr>
        <p:spPr>
          <a:xfrm>
            <a:off x="9052560" y="2331720"/>
            <a:ext cx="2468880" cy="777240"/>
          </a:xfrm>
          <a:prstGeom prst="rect">
            <a:avLst/>
          </a:prstGeom>
          <a:noFill/>
          <a:ln/>
        </p:spPr>
        <p:txBody>
          <a:bodyPr wrap="square" lIns="0" tIns="0" rIns="0" bIns="0" rtlCol="0" anchor="t"/>
          <a:lstStyle/>
          <a:p>
            <a:pPr indent="0" marL="0">
              <a:buNone/>
            </a:pPr>
            <a:r>
              <a:rPr lang="en-US" sz="1700" b="1" dirty="0">
                <a:solidFill>
                  <a:srgbClr val="1E2B2A"/>
                </a:solidFill>
                <a:latin typeface="Calibri" pitchFamily="34" charset="0"/>
                <a:ea typeface="Calibri" pitchFamily="34" charset="-122"/>
                <a:cs typeface="Calibri" pitchFamily="34" charset="-120"/>
              </a:rPr>
              <a:t>SecOps</a:t>
            </a:r>
            <a:endParaRPr lang="en-US" sz="1700" dirty="0"/>
          </a:p>
          <a:p>
            <a:pPr indent="0" marL="0">
              <a:buNone/>
            </a:pPr>
            <a:r>
              <a:rPr lang="en-US" sz="1300" dirty="0">
                <a:solidFill>
                  <a:srgbClr val="5E6B6A"/>
                </a:solidFill>
                <a:latin typeface="Calibri" pitchFamily="34" charset="0"/>
                <a:ea typeface="Calibri" pitchFamily="34" charset="-122"/>
                <a:cs typeface="Calibri" pitchFamily="34" charset="-120"/>
              </a:rPr>
              <a:t>Security controls by default</a:t>
            </a:r>
            <a:endParaRPr lang="en-US" sz="1700" dirty="0"/>
          </a:p>
        </p:txBody>
      </p:sp>
      <p:pic>
        <p:nvPicPr>
          <p:cNvPr id="33" name="Image 7" descr="preencoded.png">    </p:cNvPr>
          <p:cNvPicPr>
            <a:picLocks noChangeAspect="1"/>
          </p:cNvPicPr>
          <p:nvPr/>
        </p:nvPicPr>
        <p:blipFill>
          <a:blip r:embed="rId8"/>
          <a:stretch>
            <a:fillRect/>
          </a:stretch>
        </p:blipFill>
        <p:spPr>
          <a:xfrm>
            <a:off x="8531352" y="3364992"/>
            <a:ext cx="329184" cy="329184"/>
          </a:xfrm>
          <a:prstGeom prst="rect">
            <a:avLst/>
          </a:prstGeom>
        </p:spPr>
      </p:pic>
      <p:sp>
        <p:nvSpPr>
          <p:cNvPr id="34" name="Text 23"/>
          <p:cNvSpPr txBox="1"/>
          <p:nvPr/>
        </p:nvSpPr>
        <p:spPr>
          <a:xfrm>
            <a:off x="9052560" y="3291840"/>
            <a:ext cx="2468880" cy="777240"/>
          </a:xfrm>
          <a:prstGeom prst="rect">
            <a:avLst/>
          </a:prstGeom>
          <a:noFill/>
          <a:ln/>
        </p:spPr>
        <p:txBody>
          <a:bodyPr wrap="square" lIns="0" tIns="0" rIns="0" bIns="0" rtlCol="0" anchor="t"/>
          <a:lstStyle/>
          <a:p>
            <a:pPr indent="0" marL="0">
              <a:buNone/>
            </a:pPr>
            <a:r>
              <a:rPr lang="en-US" sz="1700" b="1" dirty="0">
                <a:solidFill>
                  <a:srgbClr val="1E2B2A"/>
                </a:solidFill>
                <a:latin typeface="Calibri" pitchFamily="34" charset="0"/>
                <a:ea typeface="Calibri" pitchFamily="34" charset="-122"/>
                <a:cs typeface="Calibri" pitchFamily="34" charset="-120"/>
              </a:rPr>
              <a:t>DevOps</a:t>
            </a:r>
            <a:endParaRPr lang="en-US" sz="1700" dirty="0"/>
          </a:p>
          <a:p>
            <a:pPr indent="0" marL="0">
              <a:buNone/>
            </a:pPr>
            <a:r>
              <a:rPr lang="en-US" sz="1300" dirty="0">
                <a:solidFill>
                  <a:srgbClr val="5E6B6A"/>
                </a:solidFill>
                <a:latin typeface="Calibri" pitchFamily="34" charset="0"/>
                <a:ea typeface="Calibri" pitchFamily="34" charset="-122"/>
                <a:cs typeface="Calibri" pitchFamily="34" charset="-120"/>
              </a:rPr>
              <a:t>Build, test, and release practice</a:t>
            </a:r>
            <a:endParaRPr lang="en-US" sz="1700" dirty="0"/>
          </a:p>
        </p:txBody>
      </p:sp>
      <p:pic>
        <p:nvPicPr>
          <p:cNvPr id="35" name="Image 8" descr="preencoded.png">    </p:cNvPr>
          <p:cNvPicPr>
            <a:picLocks noChangeAspect="1"/>
          </p:cNvPicPr>
          <p:nvPr/>
        </p:nvPicPr>
        <p:blipFill>
          <a:blip r:embed="rId9"/>
          <a:stretch>
            <a:fillRect/>
          </a:stretch>
        </p:blipFill>
        <p:spPr>
          <a:xfrm>
            <a:off x="8531352" y="4325112"/>
            <a:ext cx="329184" cy="329184"/>
          </a:xfrm>
          <a:prstGeom prst="rect">
            <a:avLst/>
          </a:prstGeom>
        </p:spPr>
      </p:pic>
      <p:sp>
        <p:nvSpPr>
          <p:cNvPr id="36" name="Text 24"/>
          <p:cNvSpPr txBox="1"/>
          <p:nvPr/>
        </p:nvSpPr>
        <p:spPr>
          <a:xfrm>
            <a:off x="9052560" y="4251960"/>
            <a:ext cx="2468880" cy="777240"/>
          </a:xfrm>
          <a:prstGeom prst="rect">
            <a:avLst/>
          </a:prstGeom>
          <a:noFill/>
          <a:ln/>
        </p:spPr>
        <p:txBody>
          <a:bodyPr wrap="square" lIns="0" tIns="0" rIns="0" bIns="0" rtlCol="0" anchor="t"/>
          <a:lstStyle/>
          <a:p>
            <a:pPr indent="0" marL="0">
              <a:buNone/>
            </a:pPr>
            <a:r>
              <a:rPr lang="en-US" sz="1700" b="1" dirty="0">
                <a:solidFill>
                  <a:srgbClr val="1E2B2A"/>
                </a:solidFill>
                <a:latin typeface="Calibri" pitchFamily="34" charset="0"/>
                <a:ea typeface="Calibri" pitchFamily="34" charset="-122"/>
                <a:cs typeface="Calibri" pitchFamily="34" charset="-120"/>
              </a:rPr>
              <a:t>OpEx</a:t>
            </a:r>
            <a:endParaRPr lang="en-US" sz="1700" dirty="0"/>
          </a:p>
          <a:p>
            <a:pPr indent="0" marL="0">
              <a:buNone/>
            </a:pPr>
            <a:r>
              <a:rPr lang="en-US" sz="1300" dirty="0">
                <a:solidFill>
                  <a:srgbClr val="5E6B6A"/>
                </a:solidFill>
                <a:latin typeface="Calibri" pitchFamily="34" charset="0"/>
                <a:ea typeface="Calibri" pitchFamily="34" charset="-122"/>
                <a:cs typeface="Calibri" pitchFamily="34" charset="-120"/>
              </a:rPr>
              <a:t>Cost metering and budget limits</a:t>
            </a:r>
            <a:endParaRPr lang="en-US" sz="1700" dirty="0"/>
          </a:p>
        </p:txBody>
      </p:sp>
      <p:sp>
        <p:nvSpPr>
          <p:cNvPr id="37" name="Shape 25"/>
          <p:cNvSpPr/>
          <p:nvPr/>
        </p:nvSpPr>
        <p:spPr>
          <a:xfrm>
            <a:off x="548640" y="5669280"/>
            <a:ext cx="11091672" cy="566928"/>
          </a:xfrm>
          <a:prstGeom prst="rect">
            <a:avLst/>
          </a:prstGeom>
          <a:solidFill>
            <a:srgbClr val="F3F6F5"/>
          </a:solidFill>
          <a:ln w="12700">
            <a:solidFill>
              <a:srgbClr val="F3F6F5"/>
            </a:solidFill>
            <a:prstDash val="solid"/>
          </a:ln>
        </p:spPr>
      </p:sp>
      <p:sp>
        <p:nvSpPr>
          <p:cNvPr id="38" name="Text 26"/>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Business leaders stick to process design. </a:t>
            </a:r>
            <a:pPr indent="0" marL="0">
              <a:buNone/>
            </a:pPr>
            <a:r>
              <a:rPr lang="en-US" sz="1500" dirty="0">
                <a:solidFill>
                  <a:srgbClr val="1E2B2A"/>
                </a:solidFill>
                <a:latin typeface="Calibri" pitchFamily="34" charset="0"/>
                <a:ea typeface="Calibri" pitchFamily="34" charset="-122"/>
                <a:cs typeface="Calibri" pitchFamily="34" charset="-120"/>
              </a:rPr>
              <a:t>The operating standard infuses SecOps, DevOps, and OpEx into every conversion.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THE OPERATING STANDARD  |  ENFORCEMENT</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Validators prove the standard is implemented</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10</a:t>
            </a:r>
            <a:endParaRPr lang="en-US" sz="900" dirty="0"/>
          </a:p>
        </p:txBody>
      </p:sp>
      <p:sp>
        <p:nvSpPr>
          <p:cNvPr id="6" name="Shape 3"/>
          <p:cNvSpPr/>
          <p:nvPr/>
        </p:nvSpPr>
        <p:spPr>
          <a:xfrm>
            <a:off x="548640" y="1737360"/>
            <a:ext cx="3520440" cy="3703320"/>
          </a:xfrm>
          <a:prstGeom prst="rect">
            <a:avLst/>
          </a:prstGeom>
          <a:solidFill>
            <a:srgbClr val="F3F6F5"/>
          </a:solidFill>
          <a:ln w="6350">
            <a:solidFill>
              <a:srgbClr val="F3F6F5"/>
            </a:solidFill>
            <a:prstDash val="solid"/>
          </a:ln>
        </p:spPr>
      </p:sp>
      <p:sp>
        <p:nvSpPr>
          <p:cNvPr id="7" name="Shape 4"/>
          <p:cNvSpPr/>
          <p:nvPr/>
        </p:nvSpPr>
        <p:spPr>
          <a:xfrm>
            <a:off x="777240" y="1920240"/>
            <a:ext cx="502920" cy="502920"/>
          </a:xfrm>
          <a:prstGeom prst="ellipse">
            <a:avLst/>
          </a:prstGeom>
          <a:solidFill>
            <a:srgbClr val="1F6F6B"/>
          </a:solidFill>
          <a:ln w="12700">
            <a:solidFill>
              <a:srgbClr val="1F6F6B"/>
            </a:solidFill>
            <a:prstDash val="solid"/>
          </a:ln>
        </p:spPr>
      </p:sp>
      <p:sp>
        <p:nvSpPr>
          <p:cNvPr id="8" name="Text 5"/>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1</a:t>
            </a:r>
            <a:endParaRPr lang="en-US" sz="1430" dirty="0"/>
          </a:p>
        </p:txBody>
      </p:sp>
      <p:sp>
        <p:nvSpPr>
          <p:cNvPr id="9" name="Text 6"/>
          <p:cNvSpPr txBox="1"/>
          <p:nvPr/>
        </p:nvSpPr>
        <p:spPr>
          <a:xfrm>
            <a:off x="1417320" y="1874520"/>
            <a:ext cx="2560320" cy="36576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Screen the input</a:t>
            </a:r>
            <a:endParaRPr lang="en-US" sz="1800" dirty="0"/>
          </a:p>
        </p:txBody>
      </p:sp>
      <p:sp>
        <p:nvSpPr>
          <p:cNvPr id="10" name="Text 7"/>
          <p:cNvSpPr txBox="1"/>
          <p:nvPr/>
        </p:nvSpPr>
        <p:spPr>
          <a:xfrm>
            <a:off x="1417320" y="2221992"/>
            <a:ext cx="2560320" cy="274320"/>
          </a:xfrm>
          <a:prstGeom prst="rect">
            <a:avLst/>
          </a:prstGeom>
          <a:noFill/>
          <a:ln/>
        </p:spPr>
        <p:txBody>
          <a:bodyPr wrap="square" lIns="0" tIns="0" rIns="0" bIns="0" rtlCol="0" anchor="ctr"/>
          <a:lstStyle/>
          <a:p>
            <a:pPr indent="0" marL="0">
              <a:buNone/>
            </a:pPr>
            <a:r>
              <a:rPr lang="en-US" sz="1200" i="1" dirty="0">
                <a:solidFill>
                  <a:srgbClr val="1F6F6B"/>
                </a:solidFill>
                <a:latin typeface="Calibri" pitchFamily="34" charset="0"/>
                <a:ea typeface="Calibri" pitchFamily="34" charset="-122"/>
                <a:cs typeface="Calibri" pitchFamily="34" charset="-120"/>
              </a:rPr>
              <a:t>Before any model reads it</a:t>
            </a:r>
            <a:endParaRPr lang="en-US" sz="1200" dirty="0"/>
          </a:p>
        </p:txBody>
      </p:sp>
      <p:sp>
        <p:nvSpPr>
          <p:cNvPr id="11" name="Text 8"/>
          <p:cNvSpPr txBox="1"/>
          <p:nvPr/>
        </p:nvSpPr>
        <p:spPr>
          <a:xfrm>
            <a:off x="777240" y="2697480"/>
            <a:ext cx="3108960" cy="26517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Too short or too long: refused, next action named</a:t>
            </a:r>
            <a:endParaRPr lang="en-US" sz="1250" dirty="0"/>
          </a:p>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Text addressed to the system: refused</a:t>
            </a:r>
            <a:endParaRPr lang="en-US" sz="1250" dirty="0"/>
          </a:p>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Demo: an invoice memo that told the system to skip a check was refused</a:t>
            </a:r>
            <a:endParaRPr lang="en-US" sz="1250" dirty="0"/>
          </a:p>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Cost: zero tokens</a:t>
            </a:r>
            <a:endParaRPr lang="en-US" sz="1250" dirty="0"/>
          </a:p>
        </p:txBody>
      </p:sp>
      <p:sp>
        <p:nvSpPr>
          <p:cNvPr id="12" name="Shape 9"/>
          <p:cNvSpPr/>
          <p:nvPr/>
        </p:nvSpPr>
        <p:spPr>
          <a:xfrm>
            <a:off x="4370832" y="1737360"/>
            <a:ext cx="3520440" cy="3703320"/>
          </a:xfrm>
          <a:prstGeom prst="rect">
            <a:avLst/>
          </a:prstGeom>
          <a:solidFill>
            <a:srgbClr val="FCEFD9"/>
          </a:solidFill>
          <a:ln w="19050">
            <a:solidFill>
              <a:srgbClr val="D9901A"/>
            </a:solidFill>
            <a:prstDash val="solid"/>
          </a:ln>
        </p:spPr>
      </p:sp>
      <p:sp>
        <p:nvSpPr>
          <p:cNvPr id="13" name="Shape 10"/>
          <p:cNvSpPr/>
          <p:nvPr/>
        </p:nvSpPr>
        <p:spPr>
          <a:xfrm>
            <a:off x="4599432" y="1920240"/>
            <a:ext cx="502920" cy="502920"/>
          </a:xfrm>
          <a:prstGeom prst="ellipse">
            <a:avLst/>
          </a:prstGeom>
          <a:solidFill>
            <a:srgbClr val="D9901A"/>
          </a:solidFill>
          <a:ln w="12700">
            <a:solidFill>
              <a:srgbClr val="D9901A"/>
            </a:solidFill>
            <a:prstDash val="solid"/>
          </a:ln>
        </p:spPr>
      </p:sp>
      <p:sp>
        <p:nvSpPr>
          <p:cNvPr id="14" name="Text 11"/>
          <p:cNvSpPr txBox="1"/>
          <p:nvPr/>
        </p:nvSpPr>
        <p:spPr>
          <a:xfrm>
            <a:off x="4599432" y="1920240"/>
            <a:ext cx="502920" cy="502920"/>
          </a:xfrm>
          <a:prstGeom prst="rect">
            <a:avLst/>
          </a:prstGeom>
          <a:noFill/>
          <a:ln/>
        </p:spPr>
        <p:txBody>
          <a:bodyPr wrap="square" lIns="0" tIns="0" rIns="0" bIns="0" rtlCol="0" anchor="ctr"/>
          <a:lstStyle/>
          <a:p>
            <a:pPr algn="ctr" indent="0" marL="0">
              <a:buNone/>
            </a:pPr>
            <a:r>
              <a:rPr lang="en-US" sz="1430" b="1" dirty="0">
                <a:solidFill>
                  <a:srgbClr val="12302F"/>
                </a:solidFill>
                <a:latin typeface="Cambria" pitchFamily="34" charset="0"/>
                <a:ea typeface="Cambria" pitchFamily="34" charset="-122"/>
                <a:cs typeface="Cambria" pitchFamily="34" charset="-120"/>
              </a:rPr>
              <a:t>2</a:t>
            </a:r>
            <a:endParaRPr lang="en-US" sz="1430" dirty="0"/>
          </a:p>
        </p:txBody>
      </p:sp>
      <p:sp>
        <p:nvSpPr>
          <p:cNvPr id="15" name="Text 12"/>
          <p:cNvSpPr txBox="1"/>
          <p:nvPr/>
        </p:nvSpPr>
        <p:spPr>
          <a:xfrm>
            <a:off x="5239512" y="1874520"/>
            <a:ext cx="2560320" cy="36576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Validate the design</a:t>
            </a:r>
            <a:endParaRPr lang="en-US" sz="1800" dirty="0"/>
          </a:p>
        </p:txBody>
      </p:sp>
      <p:sp>
        <p:nvSpPr>
          <p:cNvPr id="16" name="Text 13"/>
          <p:cNvSpPr txBox="1"/>
          <p:nvPr/>
        </p:nvSpPr>
        <p:spPr>
          <a:xfrm>
            <a:off x="5239512" y="2221992"/>
            <a:ext cx="2560320" cy="274320"/>
          </a:xfrm>
          <a:prstGeom prst="rect">
            <a:avLst/>
          </a:prstGeom>
          <a:noFill/>
          <a:ln/>
        </p:spPr>
        <p:txBody>
          <a:bodyPr wrap="square" lIns="0" tIns="0" rIns="0" bIns="0" rtlCol="0" anchor="ctr"/>
          <a:lstStyle/>
          <a:p>
            <a:pPr indent="0" marL="0">
              <a:buNone/>
            </a:pPr>
            <a:r>
              <a:rPr lang="en-US" sz="1200" i="1" dirty="0">
                <a:solidFill>
                  <a:srgbClr val="9A6208"/>
                </a:solidFill>
                <a:latin typeface="Calibri" pitchFamily="34" charset="0"/>
                <a:ea typeface="Calibri" pitchFamily="34" charset="-122"/>
                <a:cs typeface="Calibri" pitchFamily="34" charset="-120"/>
              </a:rPr>
              <a:t>22 rules; any error blocks</a:t>
            </a:r>
            <a:endParaRPr lang="en-US" sz="1200" dirty="0"/>
          </a:p>
        </p:txBody>
      </p:sp>
      <p:sp>
        <p:nvSpPr>
          <p:cNvPr id="17" name="Text 14"/>
          <p:cNvSpPr txBox="1"/>
          <p:nvPr/>
        </p:nvSpPr>
        <p:spPr>
          <a:xfrm>
            <a:off x="4599432" y="2697480"/>
            <a:ext cx="3108960" cy="2651760"/>
          </a:xfrm>
          <a:prstGeom prst="rect">
            <a:avLst/>
          </a:prstGeom>
          <a:noFill/>
          <a:ln/>
        </p:spPr>
        <p:txBody>
          <a:bodyPr wrap="square" lIns="0" tIns="0" rIns="0" bIns="0" rtlCol="0" anchor="t"/>
          <a:lstStyle/>
          <a:p>
            <a:pPr marL="342900" indent="-342900">
              <a:spcAft>
                <a:spcPts val="400"/>
              </a:spcAft>
              <a:buSzPct val="100000"/>
              <a:buChar char="•"/>
            </a:pPr>
            <a:r>
              <a:rPr lang="en-US" sz="1250" b="1" dirty="0">
                <a:solidFill>
                  <a:srgbClr val="9A6208"/>
                </a:solidFill>
                <a:latin typeface="Calibri" pitchFamily="34" charset="0"/>
                <a:ea typeface="Calibri" pitchFamily="34" charset="-122"/>
                <a:cs typeface="Calibri" pitchFamily="34" charset="-120"/>
              </a:rPr>
              <a:t>V3  </a:t>
            </a:r>
            <a:pPr indent="0" marL="0">
              <a:spcAft>
                <a:spcPts val="400"/>
              </a:spcAft>
              <a:buNone/>
            </a:pPr>
            <a:r>
              <a:rPr lang="en-US" sz="1250" dirty="0">
                <a:solidFill>
                  <a:srgbClr val="1E2B2A"/>
                </a:solidFill>
                <a:latin typeface="Calibri" pitchFamily="34" charset="0"/>
                <a:ea typeface="Calibri" pitchFamily="34" charset="-122"/>
                <a:cs typeface="Calibri" pitchFamily="34" charset="-120"/>
              </a:rPr>
              <a:t>Named approver; the machine never approves its own work</a:t>
            </a:r>
            <a:endParaRPr lang="en-US" sz="1250" dirty="0"/>
          </a:p>
          <a:p>
            <a:pPr marL="342900" indent="-342900">
              <a:spcAft>
                <a:spcPts val="400"/>
              </a:spcAft>
              <a:buSzPct val="100000"/>
              <a:buChar char="•"/>
            </a:pPr>
            <a:r>
              <a:rPr lang="en-US" sz="1250" b="1" dirty="0">
                <a:solidFill>
                  <a:srgbClr val="9A6208"/>
                </a:solidFill>
                <a:latin typeface="Calibri" pitchFamily="34" charset="0"/>
                <a:ea typeface="Calibri" pitchFamily="34" charset="-122"/>
                <a:cs typeface="Calibri" pitchFamily="34" charset="-120"/>
              </a:rPr>
              <a:t>V12  </a:t>
            </a:r>
            <a:pPr indent="0" marL="0">
              <a:spcAft>
                <a:spcPts val="400"/>
              </a:spcAft>
              <a:buNone/>
            </a:pPr>
            <a:r>
              <a:rPr lang="en-US" sz="1250" dirty="0">
                <a:solidFill>
                  <a:srgbClr val="1E2B2A"/>
                </a:solidFill>
                <a:latin typeface="Calibri" pitchFamily="34" charset="0"/>
                <a:ea typeface="Calibri" pitchFamily="34" charset="-122"/>
                <a:cs typeface="Calibri" pitchFamily="34" charset="-120"/>
              </a:rPr>
              <a:t>Exactly one thinking step</a:t>
            </a:r>
            <a:endParaRPr lang="en-US" sz="1250" dirty="0"/>
          </a:p>
          <a:p>
            <a:pPr marL="342900" indent="-342900">
              <a:spcAft>
                <a:spcPts val="400"/>
              </a:spcAft>
              <a:buSzPct val="100000"/>
              <a:buChar char="•"/>
            </a:pPr>
            <a:r>
              <a:rPr lang="en-US" sz="1250" b="1" dirty="0">
                <a:solidFill>
                  <a:srgbClr val="9A6208"/>
                </a:solidFill>
                <a:latin typeface="Calibri" pitchFamily="34" charset="0"/>
                <a:ea typeface="Calibri" pitchFamily="34" charset="-122"/>
                <a:cs typeface="Calibri" pitchFamily="34" charset="-120"/>
              </a:rPr>
              <a:t>V13  </a:t>
            </a:r>
            <a:pPr indent="0" marL="0">
              <a:spcAft>
                <a:spcPts val="400"/>
              </a:spcAft>
              <a:buNone/>
            </a:pPr>
            <a:r>
              <a:rPr lang="en-US" sz="1250" dirty="0">
                <a:solidFill>
                  <a:srgbClr val="1E2B2A"/>
                </a:solidFill>
                <a:latin typeface="Calibri" pitchFamily="34" charset="0"/>
                <a:ea typeface="Calibri" pitchFamily="34" charset="-122"/>
                <a:cs typeface="Calibri" pitchFamily="34" charset="-120"/>
              </a:rPr>
              <a:t>Every judgment followed by a test or gate</a:t>
            </a:r>
            <a:endParaRPr lang="en-US" sz="1250" dirty="0"/>
          </a:p>
          <a:p>
            <a:pPr marL="342900" indent="-342900">
              <a:spcAft>
                <a:spcPts val="400"/>
              </a:spcAft>
              <a:buSzPct val="100000"/>
              <a:buChar char="•"/>
            </a:pPr>
            <a:r>
              <a:rPr lang="en-US" sz="1250" b="1" dirty="0">
                <a:solidFill>
                  <a:srgbClr val="9A6208"/>
                </a:solidFill>
                <a:latin typeface="Calibri" pitchFamily="34" charset="0"/>
                <a:ea typeface="Calibri" pitchFamily="34" charset="-122"/>
                <a:cs typeface="Calibri" pitchFamily="34" charset="-120"/>
              </a:rPr>
              <a:t>V15  </a:t>
            </a:r>
            <a:pPr indent="0" marL="0">
              <a:spcAft>
                <a:spcPts val="400"/>
              </a:spcAft>
              <a:buNone/>
            </a:pPr>
            <a:r>
              <a:rPr lang="en-US" sz="1250" dirty="0">
                <a:solidFill>
                  <a:srgbClr val="1E2B2A"/>
                </a:solidFill>
                <a:latin typeface="Calibri" pitchFamily="34" charset="0"/>
                <a:ea typeface="Calibri" pitchFamily="34" charset="-122"/>
                <a:cs typeface="Calibri" pitchFamily="34" charset="-120"/>
              </a:rPr>
              <a:t>Gate conditions state a number, a comparison, or “never”</a:t>
            </a:r>
            <a:endParaRPr lang="en-US" sz="1250" dirty="0"/>
          </a:p>
          <a:p>
            <a:pPr marL="342900" indent="-342900">
              <a:spcAft>
                <a:spcPts val="400"/>
              </a:spcAft>
              <a:buSzPct val="100000"/>
              <a:buChar char="•"/>
            </a:pPr>
            <a:r>
              <a:rPr lang="en-US" sz="1250" b="1" dirty="0">
                <a:solidFill>
                  <a:srgbClr val="9A6208"/>
                </a:solidFill>
                <a:latin typeface="Calibri" pitchFamily="34" charset="0"/>
                <a:ea typeface="Calibri" pitchFamily="34" charset="-122"/>
                <a:cs typeface="Calibri" pitchFamily="34" charset="-120"/>
              </a:rPr>
              <a:t>V16  </a:t>
            </a:r>
            <a:pPr indent="0" marL="0">
              <a:spcAft>
                <a:spcPts val="400"/>
              </a:spcAft>
              <a:buNone/>
            </a:pPr>
            <a:r>
              <a:rPr lang="en-US" sz="1250" dirty="0">
                <a:solidFill>
                  <a:srgbClr val="1E2B2A"/>
                </a:solidFill>
                <a:latin typeface="Calibri" pitchFamily="34" charset="0"/>
                <a:ea typeface="Calibri" pitchFamily="34" charset="-122"/>
                <a:cs typeface="Calibri" pitchFamily="34" charset="-120"/>
              </a:rPr>
              <a:t>Every refusal names a next human action</a:t>
            </a:r>
            <a:endParaRPr lang="en-US" sz="1250" dirty="0"/>
          </a:p>
          <a:p>
            <a:pPr marL="342900" indent="-342900">
              <a:spcAft>
                <a:spcPts val="400"/>
              </a:spcAft>
              <a:buSzPct val="100000"/>
              <a:buChar char="•"/>
            </a:pPr>
            <a:r>
              <a:rPr lang="en-US" sz="1250" b="1" dirty="0">
                <a:solidFill>
                  <a:srgbClr val="9A6208"/>
                </a:solidFill>
                <a:latin typeface="Calibri" pitchFamily="34" charset="0"/>
                <a:ea typeface="Calibri" pitchFamily="34" charset="-122"/>
                <a:cs typeface="Calibri" pitchFamily="34" charset="-120"/>
              </a:rPr>
              <a:t>V17  </a:t>
            </a:r>
            <a:pPr indent="0" marL="0">
              <a:spcAft>
                <a:spcPts val="400"/>
              </a:spcAft>
              <a:buNone/>
            </a:pPr>
            <a:r>
              <a:rPr lang="en-US" sz="1250" dirty="0">
                <a:solidFill>
                  <a:srgbClr val="1E2B2A"/>
                </a:solidFill>
                <a:latin typeface="Calibri" pitchFamily="34" charset="0"/>
                <a:ea typeface="Calibri" pitchFamily="34" charset="-122"/>
                <a:cs typeface="Calibri" pitchFamily="34" charset="-120"/>
              </a:rPr>
              <a:t>Code writes the proof; the model never does</a:t>
            </a:r>
            <a:endParaRPr lang="en-US" sz="1250" dirty="0"/>
          </a:p>
        </p:txBody>
      </p:sp>
      <p:sp>
        <p:nvSpPr>
          <p:cNvPr id="18" name="Shape 15"/>
          <p:cNvSpPr/>
          <p:nvPr/>
        </p:nvSpPr>
        <p:spPr>
          <a:xfrm>
            <a:off x="8193024" y="1737360"/>
            <a:ext cx="3520440" cy="3703320"/>
          </a:xfrm>
          <a:prstGeom prst="rect">
            <a:avLst/>
          </a:prstGeom>
          <a:solidFill>
            <a:srgbClr val="F3F6F5"/>
          </a:solidFill>
          <a:ln w="6350">
            <a:solidFill>
              <a:srgbClr val="F3F6F5"/>
            </a:solidFill>
            <a:prstDash val="solid"/>
          </a:ln>
        </p:spPr>
      </p:sp>
      <p:sp>
        <p:nvSpPr>
          <p:cNvPr id="19" name="Shape 16"/>
          <p:cNvSpPr/>
          <p:nvPr/>
        </p:nvSpPr>
        <p:spPr>
          <a:xfrm>
            <a:off x="8421624" y="1920240"/>
            <a:ext cx="502920" cy="502920"/>
          </a:xfrm>
          <a:prstGeom prst="ellipse">
            <a:avLst/>
          </a:prstGeom>
          <a:solidFill>
            <a:srgbClr val="1F6F6B"/>
          </a:solidFill>
          <a:ln w="12700">
            <a:solidFill>
              <a:srgbClr val="1F6F6B"/>
            </a:solidFill>
            <a:prstDash val="solid"/>
          </a:ln>
        </p:spPr>
      </p:sp>
      <p:sp>
        <p:nvSpPr>
          <p:cNvPr id="20" name="Text 17"/>
          <p:cNvSpPr txBox="1"/>
          <p:nvPr/>
        </p:nvSpPr>
        <p:spPr>
          <a:xfrm>
            <a:off x="8421624" y="192024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mbria" pitchFamily="34" charset="0"/>
                <a:ea typeface="Cambria" pitchFamily="34" charset="-122"/>
                <a:cs typeface="Cambria" pitchFamily="34" charset="-120"/>
              </a:rPr>
              <a:t>3</a:t>
            </a:r>
            <a:endParaRPr lang="en-US" sz="1430" dirty="0"/>
          </a:p>
        </p:txBody>
      </p:sp>
      <p:sp>
        <p:nvSpPr>
          <p:cNvPr id="21" name="Text 18"/>
          <p:cNvSpPr txBox="1"/>
          <p:nvPr/>
        </p:nvSpPr>
        <p:spPr>
          <a:xfrm>
            <a:off x="9061704" y="1874520"/>
            <a:ext cx="2560320" cy="36576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Gate every run</a:t>
            </a:r>
            <a:endParaRPr lang="en-US" sz="1800" dirty="0"/>
          </a:p>
        </p:txBody>
      </p:sp>
      <p:sp>
        <p:nvSpPr>
          <p:cNvPr id="22" name="Text 19"/>
          <p:cNvSpPr txBox="1"/>
          <p:nvPr/>
        </p:nvSpPr>
        <p:spPr>
          <a:xfrm>
            <a:off x="9061704" y="2221992"/>
            <a:ext cx="2560320" cy="274320"/>
          </a:xfrm>
          <a:prstGeom prst="rect">
            <a:avLst/>
          </a:prstGeom>
          <a:noFill/>
          <a:ln/>
        </p:spPr>
        <p:txBody>
          <a:bodyPr wrap="square" lIns="0" tIns="0" rIns="0" bIns="0" rtlCol="0" anchor="ctr"/>
          <a:lstStyle/>
          <a:p>
            <a:pPr indent="0" marL="0">
              <a:buNone/>
            </a:pPr>
            <a:r>
              <a:rPr lang="en-US" sz="1200" i="1" dirty="0">
                <a:solidFill>
                  <a:srgbClr val="1F6F6B"/>
                </a:solidFill>
                <a:latin typeface="Calibri" pitchFamily="34" charset="0"/>
                <a:ea typeface="Calibri" pitchFamily="34" charset="-122"/>
                <a:cs typeface="Calibri" pitchFamily="34" charset="-120"/>
              </a:rPr>
              <a:t>Company thresholds, in code</a:t>
            </a:r>
            <a:endParaRPr lang="en-US" sz="1200" dirty="0"/>
          </a:p>
        </p:txBody>
      </p:sp>
      <p:sp>
        <p:nvSpPr>
          <p:cNvPr id="23" name="Text 20"/>
          <p:cNvSpPr txBox="1"/>
          <p:nvPr/>
        </p:nvSpPr>
        <p:spPr>
          <a:xfrm>
            <a:off x="8421624" y="2697480"/>
            <a:ext cx="3108960" cy="265176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Variance ≤ $50 and ≤ 2% closes by arithmetic</a:t>
            </a:r>
            <a:endParaRPr lang="en-US" sz="1250" dirty="0"/>
          </a:p>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Exposure above $2,000 needs a second approver</a:t>
            </a:r>
            <a:endParaRPr lang="en-US" sz="1250" dirty="0"/>
          </a:p>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No purchase order or supervised supplier: refused</a:t>
            </a:r>
            <a:endParaRPr lang="en-US" sz="1250" dirty="0"/>
          </a:p>
          <a:p>
            <a:pPr marL="342900" indent="-342900">
              <a:spcAft>
                <a:spcPts val="400"/>
              </a:spcAft>
              <a:buSzPct val="100000"/>
              <a:buChar char="•"/>
            </a:pPr>
            <a:r>
              <a:rPr lang="en-US" sz="1250" dirty="0">
                <a:solidFill>
                  <a:srgbClr val="1E2B2A"/>
                </a:solidFill>
                <a:latin typeface="Calibri" pitchFamily="34" charset="0"/>
                <a:ea typeface="Calibri" pitchFamily="34" charset="-122"/>
                <a:cs typeface="Calibri" pitchFamily="34" charset="-120"/>
              </a:rPr>
              <a:t>Judgment arithmetic recomputed; demo caught −72.00 claimed against −720.00</a:t>
            </a:r>
            <a:endParaRPr lang="en-US" sz="1250" dirty="0"/>
          </a:p>
        </p:txBody>
      </p:sp>
      <p:sp>
        <p:nvSpPr>
          <p:cNvPr id="24" name="Shape 21"/>
          <p:cNvSpPr/>
          <p:nvPr/>
        </p:nvSpPr>
        <p:spPr>
          <a:xfrm>
            <a:off x="548640" y="5623560"/>
            <a:ext cx="11091672" cy="566928"/>
          </a:xfrm>
          <a:prstGeom prst="rect">
            <a:avLst/>
          </a:prstGeom>
          <a:solidFill>
            <a:srgbClr val="F3F6F5"/>
          </a:solidFill>
          <a:ln w="12700">
            <a:solidFill>
              <a:srgbClr val="F3F6F5"/>
            </a:solidFill>
            <a:prstDash val="solid"/>
          </a:ln>
        </p:spPr>
      </p:sp>
      <p:sp>
        <p:nvSpPr>
          <p:cNvPr id="25" name="Text 22"/>
          <p:cNvSpPr txBox="1"/>
          <p:nvPr/>
        </p:nvSpPr>
        <p:spPr>
          <a:xfrm>
            <a:off x="777240" y="562356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Why validate: </a:t>
            </a:r>
            <a:pPr indent="0" marL="0">
              <a:buNone/>
            </a:pPr>
            <a:r>
              <a:rPr lang="en-US" sz="1500" dirty="0">
                <a:solidFill>
                  <a:srgbClr val="1E2B2A"/>
                </a:solidFill>
                <a:latin typeface="Calibri" pitchFamily="34" charset="0"/>
                <a:ea typeface="Calibri" pitchFamily="34" charset="-122"/>
                <a:cs typeface="Calibri" pitchFamily="34" charset="-120"/>
              </a:rPr>
              <a:t>certainty that your specifics are implemented, every design and every run. Discussion: what are your approver, thresholds, and single decision point?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02F"/>
        </a:solidFill>
      </p:bgPr>
    </p:bg>
    <p:spTree>
      <p:nvGrpSpPr>
        <p:cNvPr id="1" name=""/>
        <p:cNvGrpSpPr/>
        <p:nvPr/>
      </p:nvGrpSpPr>
      <p:grpSpPr>
        <a:xfrm>
          <a:off x="0" y="0"/>
          <a:ext cx="0" cy="0"/>
          <a:chOff x="0" y="0"/>
          <a:chExt cx="0" cy="0"/>
        </a:xfrm>
      </p:grpSpPr>
      <p:sp>
        <p:nvSpPr>
          <p:cNvPr id="2" name="Text 0"/>
          <p:cNvSpPr txBox="1"/>
          <p:nvPr/>
        </p:nvSpPr>
        <p:spPr>
          <a:xfrm>
            <a:off x="731520" y="1188720"/>
            <a:ext cx="7315200" cy="320040"/>
          </a:xfrm>
          <a:prstGeom prst="rect">
            <a:avLst/>
          </a:prstGeom>
          <a:noFill/>
          <a:ln/>
        </p:spPr>
        <p:txBody>
          <a:bodyPr wrap="square" lIns="0" tIns="0" rIns="0" bIns="0" rtlCol="0" anchor="ctr"/>
          <a:lstStyle/>
          <a:p>
            <a:pPr indent="0" marL="0">
              <a:buNone/>
            </a:pPr>
            <a:r>
              <a:rPr lang="en-US" sz="1300" b="1" spc="300" kern="0" dirty="0">
                <a:solidFill>
                  <a:srgbClr val="D9901A"/>
                </a:solidFill>
                <a:latin typeface="Calibri" pitchFamily="34" charset="0"/>
                <a:ea typeface="Calibri" pitchFamily="34" charset="-122"/>
                <a:cs typeface="Calibri" pitchFamily="34" charset="-120"/>
              </a:rPr>
              <a:t>LIVE SYSTEM</a:t>
            </a:r>
            <a:endParaRPr lang="en-US" sz="1300" dirty="0"/>
          </a:p>
        </p:txBody>
      </p:sp>
      <p:sp>
        <p:nvSpPr>
          <p:cNvPr id="3" name="Text 1"/>
          <p:cNvSpPr txBox="1"/>
          <p:nvPr/>
        </p:nvSpPr>
        <p:spPr>
          <a:xfrm>
            <a:off x="731520" y="1554480"/>
            <a:ext cx="7315200" cy="118872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Demo</a:t>
            </a:r>
            <a:endParaRPr lang="en-US" sz="7200" dirty="0"/>
          </a:p>
        </p:txBody>
      </p:sp>
      <p:sp>
        <p:nvSpPr>
          <p:cNvPr id="4" name="Text 2"/>
          <p:cNvSpPr txBox="1"/>
          <p:nvPr/>
        </p:nvSpPr>
        <p:spPr>
          <a:xfrm>
            <a:off x="731520" y="2743200"/>
            <a:ext cx="10058400" cy="457200"/>
          </a:xfrm>
          <a:prstGeom prst="rect">
            <a:avLst/>
          </a:prstGeom>
          <a:noFill/>
          <a:ln/>
        </p:spPr>
        <p:txBody>
          <a:bodyPr wrap="square" lIns="0" tIns="0" rIns="0" bIns="0" rtlCol="0" anchor="ctr"/>
          <a:lstStyle/>
          <a:p>
            <a:pPr indent="0" marL="0">
              <a:buNone/>
            </a:pPr>
            <a:r>
              <a:rPr lang="en-US" sz="2200" dirty="0">
                <a:solidFill>
                  <a:srgbClr val="C9DAD7"/>
                </a:solidFill>
                <a:latin typeface="Calibri" pitchFamily="34" charset="0"/>
                <a:ea typeface="Calibri" pitchFamily="34" charset="-122"/>
                <a:cs typeface="Calibri" pitchFamily="34" charset="-120"/>
              </a:rPr>
              <a:t>A described process becomes an executing harness</a:t>
            </a:r>
            <a:endParaRPr lang="en-US" sz="2200" dirty="0"/>
          </a:p>
        </p:txBody>
      </p:sp>
      <p:sp>
        <p:nvSpPr>
          <p:cNvPr id="5" name="Shape 3"/>
          <p:cNvSpPr/>
          <p:nvPr/>
        </p:nvSpPr>
        <p:spPr>
          <a:xfrm>
            <a:off x="731520" y="3931920"/>
            <a:ext cx="640080" cy="640080"/>
          </a:xfrm>
          <a:prstGeom prst="ellipse">
            <a:avLst/>
          </a:prstGeom>
          <a:solidFill>
            <a:srgbClr val="1F6F6B"/>
          </a:solidFill>
          <a:ln w="12700">
            <a:solidFill>
              <a:srgbClr val="1F6F6B"/>
            </a:solidFill>
            <a:prstDash val="solid"/>
          </a:ln>
        </p:spPr>
      </p:sp>
      <p:sp>
        <p:nvSpPr>
          <p:cNvPr id="6" name="Text 4"/>
          <p:cNvSpPr txBox="1"/>
          <p:nvPr/>
        </p:nvSpPr>
        <p:spPr>
          <a:xfrm>
            <a:off x="731520" y="3931920"/>
            <a:ext cx="640080" cy="64008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1</a:t>
            </a:r>
            <a:endParaRPr lang="en-US" sz="1820" dirty="0"/>
          </a:p>
        </p:txBody>
      </p:sp>
      <p:sp>
        <p:nvSpPr>
          <p:cNvPr id="7" name="Text 5"/>
          <p:cNvSpPr txBox="1"/>
          <p:nvPr/>
        </p:nvSpPr>
        <p:spPr>
          <a:xfrm>
            <a:off x="1554480" y="3886200"/>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Describe</a:t>
            </a:r>
            <a:endParaRPr lang="en-US" sz="2000" dirty="0"/>
          </a:p>
        </p:txBody>
      </p:sp>
      <p:sp>
        <p:nvSpPr>
          <p:cNvPr id="8" name="Text 6"/>
          <p:cNvSpPr txBox="1"/>
          <p:nvPr/>
        </p:nvSpPr>
        <p:spPr>
          <a:xfrm>
            <a:off x="1554480" y="4251960"/>
            <a:ext cx="2651760" cy="548640"/>
          </a:xfrm>
          <a:prstGeom prst="rect">
            <a:avLst/>
          </a:prstGeom>
          <a:noFill/>
          <a:ln/>
        </p:spPr>
        <p:txBody>
          <a:bodyPr wrap="square" lIns="0" tIns="0" rIns="0" bIns="0" rtlCol="0" anchor="t"/>
          <a:lstStyle/>
          <a:p>
            <a:pPr indent="0" marL="0">
              <a:buNone/>
            </a:pPr>
            <a:r>
              <a:rPr lang="en-US" sz="1400" dirty="0">
                <a:solidFill>
                  <a:srgbClr val="A9BEBB"/>
                </a:solidFill>
                <a:latin typeface="Calibri" pitchFamily="34" charset="0"/>
                <a:ea typeface="Calibri" pitchFamily="34" charset="-122"/>
                <a:cs typeface="Calibri" pitchFamily="34" charset="-120"/>
              </a:rPr>
              <a:t>A business process in plain language</a:t>
            </a:r>
            <a:endParaRPr lang="en-US" sz="1400" dirty="0"/>
          </a:p>
        </p:txBody>
      </p:sp>
      <p:sp>
        <p:nvSpPr>
          <p:cNvPr id="9" name="Shape 7"/>
          <p:cNvSpPr/>
          <p:nvPr/>
        </p:nvSpPr>
        <p:spPr>
          <a:xfrm>
            <a:off x="4389120" y="3931920"/>
            <a:ext cx="640080" cy="640080"/>
          </a:xfrm>
          <a:prstGeom prst="ellipse">
            <a:avLst/>
          </a:prstGeom>
          <a:solidFill>
            <a:srgbClr val="D9901A"/>
          </a:solidFill>
          <a:ln w="12700">
            <a:solidFill>
              <a:srgbClr val="D9901A"/>
            </a:solidFill>
            <a:prstDash val="solid"/>
          </a:ln>
        </p:spPr>
      </p:sp>
      <p:sp>
        <p:nvSpPr>
          <p:cNvPr id="10" name="Text 8"/>
          <p:cNvSpPr txBox="1"/>
          <p:nvPr/>
        </p:nvSpPr>
        <p:spPr>
          <a:xfrm>
            <a:off x="4389120" y="3931920"/>
            <a:ext cx="640080" cy="640080"/>
          </a:xfrm>
          <a:prstGeom prst="rect">
            <a:avLst/>
          </a:prstGeom>
          <a:noFill/>
          <a:ln/>
        </p:spPr>
        <p:txBody>
          <a:bodyPr wrap="square" lIns="0" tIns="0" rIns="0" bIns="0" rtlCol="0" anchor="ctr"/>
          <a:lstStyle/>
          <a:p>
            <a:pPr algn="ctr" indent="0" marL="0">
              <a:buNone/>
            </a:pPr>
            <a:r>
              <a:rPr lang="en-US" sz="1820" b="1" dirty="0">
                <a:solidFill>
                  <a:srgbClr val="12302F"/>
                </a:solidFill>
                <a:latin typeface="Cambria" pitchFamily="34" charset="0"/>
                <a:ea typeface="Cambria" pitchFamily="34" charset="-122"/>
                <a:cs typeface="Cambria" pitchFamily="34" charset="-120"/>
              </a:rPr>
              <a:t>2</a:t>
            </a:r>
            <a:endParaRPr lang="en-US" sz="1820" dirty="0"/>
          </a:p>
        </p:txBody>
      </p:sp>
      <p:sp>
        <p:nvSpPr>
          <p:cNvPr id="11" name="Text 9"/>
          <p:cNvSpPr txBox="1"/>
          <p:nvPr/>
        </p:nvSpPr>
        <p:spPr>
          <a:xfrm>
            <a:off x="5212080" y="3886200"/>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Split</a:t>
            </a:r>
            <a:endParaRPr lang="en-US" sz="2000" dirty="0"/>
          </a:p>
        </p:txBody>
      </p:sp>
      <p:sp>
        <p:nvSpPr>
          <p:cNvPr id="12" name="Text 10"/>
          <p:cNvSpPr txBox="1"/>
          <p:nvPr/>
        </p:nvSpPr>
        <p:spPr>
          <a:xfrm>
            <a:off x="5212080" y="4251960"/>
            <a:ext cx="2651760" cy="548640"/>
          </a:xfrm>
          <a:prstGeom prst="rect">
            <a:avLst/>
          </a:prstGeom>
          <a:noFill/>
          <a:ln/>
        </p:spPr>
        <p:txBody>
          <a:bodyPr wrap="square" lIns="0" tIns="0" rIns="0" bIns="0" rtlCol="0" anchor="t"/>
          <a:lstStyle/>
          <a:p>
            <a:pPr indent="0" marL="0">
              <a:buNone/>
            </a:pPr>
            <a:r>
              <a:rPr lang="en-US" sz="1400" dirty="0">
                <a:solidFill>
                  <a:srgbClr val="A9BEBB"/>
                </a:solidFill>
                <a:latin typeface="Calibri" pitchFamily="34" charset="0"/>
                <a:ea typeface="Calibri" pitchFamily="34" charset="-122"/>
                <a:cs typeface="Calibri" pitchFamily="34" charset="-120"/>
              </a:rPr>
              <a:t>Rules to code; judgment to AI</a:t>
            </a:r>
            <a:endParaRPr lang="en-US" sz="1400" dirty="0"/>
          </a:p>
        </p:txBody>
      </p:sp>
      <p:sp>
        <p:nvSpPr>
          <p:cNvPr id="13" name="Shape 11"/>
          <p:cNvSpPr/>
          <p:nvPr/>
        </p:nvSpPr>
        <p:spPr>
          <a:xfrm>
            <a:off x="8046720" y="3931920"/>
            <a:ext cx="640080" cy="640080"/>
          </a:xfrm>
          <a:prstGeom prst="ellipse">
            <a:avLst/>
          </a:prstGeom>
          <a:solidFill>
            <a:srgbClr val="1F6F6B"/>
          </a:solidFill>
          <a:ln w="12700">
            <a:solidFill>
              <a:srgbClr val="1F6F6B"/>
            </a:solidFill>
            <a:prstDash val="solid"/>
          </a:ln>
        </p:spPr>
      </p:sp>
      <p:sp>
        <p:nvSpPr>
          <p:cNvPr id="14" name="Text 12"/>
          <p:cNvSpPr txBox="1"/>
          <p:nvPr/>
        </p:nvSpPr>
        <p:spPr>
          <a:xfrm>
            <a:off x="8046720" y="3931920"/>
            <a:ext cx="640080" cy="640080"/>
          </a:xfrm>
          <a:prstGeom prst="rect">
            <a:avLst/>
          </a:prstGeom>
          <a:noFill/>
          <a:ln/>
        </p:spPr>
        <p:txBody>
          <a:bodyPr wrap="square" lIns="0" tIns="0" rIns="0" bIns="0" rtlCol="0" anchor="ctr"/>
          <a:lstStyle/>
          <a:p>
            <a:pPr algn="ctr" indent="0" marL="0">
              <a:buNone/>
            </a:pPr>
            <a:r>
              <a:rPr lang="en-US" sz="1820" b="1" dirty="0">
                <a:solidFill>
                  <a:srgbClr val="FFFFFF"/>
                </a:solidFill>
                <a:latin typeface="Cambria" pitchFamily="34" charset="0"/>
                <a:ea typeface="Cambria" pitchFamily="34" charset="-122"/>
                <a:cs typeface="Cambria" pitchFamily="34" charset="-120"/>
              </a:rPr>
              <a:t>3</a:t>
            </a:r>
            <a:endParaRPr lang="en-US" sz="1820" dirty="0"/>
          </a:p>
        </p:txBody>
      </p:sp>
      <p:sp>
        <p:nvSpPr>
          <p:cNvPr id="15" name="Text 13"/>
          <p:cNvSpPr txBox="1"/>
          <p:nvPr/>
        </p:nvSpPr>
        <p:spPr>
          <a:xfrm>
            <a:off x="8869680" y="3886200"/>
            <a:ext cx="265176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Run</a:t>
            </a:r>
            <a:endParaRPr lang="en-US" sz="2000" dirty="0"/>
          </a:p>
        </p:txBody>
      </p:sp>
      <p:sp>
        <p:nvSpPr>
          <p:cNvPr id="16" name="Text 14"/>
          <p:cNvSpPr txBox="1"/>
          <p:nvPr/>
        </p:nvSpPr>
        <p:spPr>
          <a:xfrm>
            <a:off x="8869680" y="4251960"/>
            <a:ext cx="2651760" cy="548640"/>
          </a:xfrm>
          <a:prstGeom prst="rect">
            <a:avLst/>
          </a:prstGeom>
          <a:noFill/>
          <a:ln/>
        </p:spPr>
        <p:txBody>
          <a:bodyPr wrap="square" lIns="0" tIns="0" rIns="0" bIns="0" rtlCol="0" anchor="t"/>
          <a:lstStyle/>
          <a:p>
            <a:pPr indent="0" marL="0">
              <a:buNone/>
            </a:pPr>
            <a:r>
              <a:rPr lang="en-US" sz="1400" dirty="0">
                <a:solidFill>
                  <a:srgbClr val="A9BEBB"/>
                </a:solidFill>
                <a:latin typeface="Calibri" pitchFamily="34" charset="0"/>
                <a:ea typeface="Calibri" pitchFamily="34" charset="-122"/>
                <a:cs typeface="Calibri" pitchFamily="34" charset="-120"/>
              </a:rPr>
              <a:t>A nightly batch, fully logged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RESULTS  |  USE CASE: INVOICE SAMPLE</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Code resolved 5 of 9 invoices before any AI call</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12</a:t>
            </a:r>
            <a:endParaRPr lang="en-US" sz="900" dirty="0"/>
          </a:p>
        </p:txBody>
      </p:sp>
      <p:graphicFrame>
        <p:nvGraphicFramePr>
          <p:cNvPr id="6" name="Chart 0" descr=""/>
          <p:cNvGraphicFramePr/>
          <p:nvPr/>
        </p:nvGraphicFramePr>
        <p:xfrm>
          <a:off x="548640" y="1645920"/>
          <a:ext cx="5120640" cy="384048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6217920" y="1783080"/>
            <a:ext cx="2194560" cy="914400"/>
          </a:xfrm>
          <a:prstGeom prst="rect">
            <a:avLst/>
          </a:prstGeom>
          <a:noFill/>
          <a:ln/>
        </p:spPr>
        <p:txBody>
          <a:bodyPr wrap="square" lIns="0" tIns="0" rIns="0" bIns="0" rtlCol="0" anchor="ctr"/>
          <a:lstStyle/>
          <a:p>
            <a:pPr indent="0" marL="0">
              <a:buNone/>
            </a:pPr>
            <a:r>
              <a:rPr lang="en-US" sz="4800" b="1" dirty="0">
                <a:solidFill>
                  <a:srgbClr val="1F6F6B"/>
                </a:solidFill>
                <a:latin typeface="Cambria" pitchFamily="34" charset="0"/>
                <a:ea typeface="Cambria" pitchFamily="34" charset="-122"/>
                <a:cs typeface="Cambria" pitchFamily="34" charset="-120"/>
              </a:rPr>
              <a:t>56%</a:t>
            </a:r>
            <a:endParaRPr lang="en-US" sz="4800" dirty="0"/>
          </a:p>
        </p:txBody>
      </p:sp>
      <p:sp>
        <p:nvSpPr>
          <p:cNvPr id="8" name="Text 4"/>
          <p:cNvSpPr txBox="1"/>
          <p:nvPr/>
        </p:nvSpPr>
        <p:spPr>
          <a:xfrm>
            <a:off x="8503920" y="1783080"/>
            <a:ext cx="3108960" cy="914400"/>
          </a:xfrm>
          <a:prstGeom prst="rect">
            <a:avLst/>
          </a:prstGeom>
          <a:noFill/>
          <a:ln/>
        </p:spPr>
        <p:txBody>
          <a:bodyPr wrap="square" lIns="0" tIns="0" rIns="0" bIns="0" rtlCol="0" anchor="ctr"/>
          <a:lstStyle/>
          <a:p>
            <a:pPr indent="0" marL="0">
              <a:buNone/>
            </a:pPr>
            <a:r>
              <a:rPr lang="en-US" sz="1600" b="1" dirty="0">
                <a:solidFill>
                  <a:srgbClr val="1E2B2A"/>
                </a:solidFill>
                <a:latin typeface="Calibri" pitchFamily="34" charset="0"/>
                <a:ea typeface="Calibri" pitchFamily="34" charset="-122"/>
                <a:cs typeface="Calibri" pitchFamily="34" charset="-120"/>
              </a:rPr>
              <a:t>resolved at $0.00</a:t>
            </a:r>
            <a:endParaRPr lang="en-US" sz="1600" dirty="0"/>
          </a:p>
          <a:p>
            <a:pPr indent="0" marL="0">
              <a:buNone/>
            </a:pPr>
            <a:r>
              <a:rPr lang="en-US" sz="1200" dirty="0">
                <a:solidFill>
                  <a:srgbClr val="5E6B6A"/>
                </a:solidFill>
                <a:latin typeface="Calibri" pitchFamily="34" charset="0"/>
                <a:ea typeface="Calibri" pitchFamily="34" charset="-122"/>
                <a:cs typeface="Calibri" pitchFamily="34" charset="-120"/>
              </a:rPr>
              <a:t>5 of 9 by rules and arithmetic</a:t>
            </a:r>
            <a:endParaRPr lang="en-US" sz="1600" dirty="0"/>
          </a:p>
        </p:txBody>
      </p:sp>
      <p:sp>
        <p:nvSpPr>
          <p:cNvPr id="9" name="Text 5"/>
          <p:cNvSpPr txBox="1"/>
          <p:nvPr/>
        </p:nvSpPr>
        <p:spPr>
          <a:xfrm>
            <a:off x="6217920" y="2971800"/>
            <a:ext cx="2194560" cy="914400"/>
          </a:xfrm>
          <a:prstGeom prst="rect">
            <a:avLst/>
          </a:prstGeom>
          <a:noFill/>
          <a:ln/>
        </p:spPr>
        <p:txBody>
          <a:bodyPr wrap="square" lIns="0" tIns="0" rIns="0" bIns="0" rtlCol="0" anchor="ctr"/>
          <a:lstStyle/>
          <a:p>
            <a:pPr indent="0" marL="0">
              <a:buNone/>
            </a:pPr>
            <a:r>
              <a:rPr lang="en-US" sz="4800" b="1" dirty="0">
                <a:solidFill>
                  <a:srgbClr val="9A6208"/>
                </a:solidFill>
                <a:latin typeface="Cambria" pitchFamily="34" charset="0"/>
                <a:ea typeface="Cambria" pitchFamily="34" charset="-122"/>
                <a:cs typeface="Cambria" pitchFamily="34" charset="-120"/>
              </a:rPr>
              <a:t>4</a:t>
            </a:r>
            <a:endParaRPr lang="en-US" sz="4800" dirty="0"/>
          </a:p>
        </p:txBody>
      </p:sp>
      <p:sp>
        <p:nvSpPr>
          <p:cNvPr id="10" name="Text 6"/>
          <p:cNvSpPr txBox="1"/>
          <p:nvPr/>
        </p:nvSpPr>
        <p:spPr>
          <a:xfrm>
            <a:off x="8503920" y="2971800"/>
            <a:ext cx="3108960" cy="914400"/>
          </a:xfrm>
          <a:prstGeom prst="rect">
            <a:avLst/>
          </a:prstGeom>
          <a:noFill/>
          <a:ln/>
        </p:spPr>
        <p:txBody>
          <a:bodyPr wrap="square" lIns="0" tIns="0" rIns="0" bIns="0" rtlCol="0" anchor="ctr"/>
          <a:lstStyle/>
          <a:p>
            <a:pPr indent="0" marL="0">
              <a:buNone/>
            </a:pPr>
            <a:r>
              <a:rPr lang="en-US" sz="1600" b="1" dirty="0">
                <a:solidFill>
                  <a:srgbClr val="1E2B2A"/>
                </a:solidFill>
                <a:latin typeface="Calibri" pitchFamily="34" charset="0"/>
                <a:ea typeface="Calibri" pitchFamily="34" charset="-122"/>
                <a:cs typeface="Calibri" pitchFamily="34" charset="-120"/>
              </a:rPr>
              <a:t>inference calls</a:t>
            </a:r>
            <a:endParaRPr lang="en-US" sz="1600" dirty="0"/>
          </a:p>
          <a:p>
            <a:pPr indent="0" marL="0">
              <a:buNone/>
            </a:pPr>
            <a:r>
              <a:rPr lang="en-US" sz="1200" dirty="0">
                <a:solidFill>
                  <a:srgbClr val="5E6B6A"/>
                </a:solidFill>
                <a:latin typeface="Calibri" pitchFamily="34" charset="0"/>
                <a:ea typeface="Calibri" pitchFamily="34" charset="-122"/>
                <a:cs typeface="Calibri" pitchFamily="34" charset="-120"/>
              </a:rPr>
              <a:t>only judgment steps reached a model</a:t>
            </a:r>
            <a:endParaRPr lang="en-US" sz="1600" dirty="0"/>
          </a:p>
        </p:txBody>
      </p:sp>
      <p:sp>
        <p:nvSpPr>
          <p:cNvPr id="11" name="Text 7"/>
          <p:cNvSpPr txBox="1"/>
          <p:nvPr/>
        </p:nvSpPr>
        <p:spPr>
          <a:xfrm>
            <a:off x="6217920" y="4160520"/>
            <a:ext cx="2194560" cy="914400"/>
          </a:xfrm>
          <a:prstGeom prst="rect">
            <a:avLst/>
          </a:prstGeom>
          <a:noFill/>
          <a:ln/>
        </p:spPr>
        <p:txBody>
          <a:bodyPr wrap="square" lIns="0" tIns="0" rIns="0" bIns="0" rtlCol="0" anchor="ctr"/>
          <a:lstStyle/>
          <a:p>
            <a:pPr indent="0" marL="0">
              <a:buNone/>
            </a:pPr>
            <a:r>
              <a:rPr lang="en-US" sz="4800" b="1" dirty="0">
                <a:solidFill>
                  <a:srgbClr val="1E2B2A"/>
                </a:solidFill>
                <a:latin typeface="Cambria" pitchFamily="34" charset="0"/>
                <a:ea typeface="Cambria" pitchFamily="34" charset="-122"/>
                <a:cs typeface="Cambria" pitchFamily="34" charset="-120"/>
              </a:rPr>
              <a:t>$0.26</a:t>
            </a:r>
            <a:endParaRPr lang="en-US" sz="4800" dirty="0"/>
          </a:p>
        </p:txBody>
      </p:sp>
      <p:sp>
        <p:nvSpPr>
          <p:cNvPr id="12" name="Text 8"/>
          <p:cNvSpPr txBox="1"/>
          <p:nvPr/>
        </p:nvSpPr>
        <p:spPr>
          <a:xfrm>
            <a:off x="8503920" y="4160520"/>
            <a:ext cx="3108960" cy="914400"/>
          </a:xfrm>
          <a:prstGeom prst="rect">
            <a:avLst/>
          </a:prstGeom>
          <a:noFill/>
          <a:ln/>
        </p:spPr>
        <p:txBody>
          <a:bodyPr wrap="square" lIns="0" tIns="0" rIns="0" bIns="0" rtlCol="0" anchor="ctr"/>
          <a:lstStyle/>
          <a:p>
            <a:pPr indent="0" marL="0">
              <a:buNone/>
            </a:pPr>
            <a:r>
              <a:rPr lang="en-US" sz="1600" b="1" dirty="0">
                <a:solidFill>
                  <a:srgbClr val="1E2B2A"/>
                </a:solidFill>
                <a:latin typeface="Calibri" pitchFamily="34" charset="0"/>
                <a:ea typeface="Calibri" pitchFamily="34" charset="-122"/>
                <a:cs typeface="Calibri" pitchFamily="34" charset="-120"/>
              </a:rPr>
              <a:t>design cost per workflow</a:t>
            </a:r>
            <a:endParaRPr lang="en-US" sz="1600" dirty="0"/>
          </a:p>
          <a:p>
            <a:pPr indent="0" marL="0">
              <a:buNone/>
            </a:pPr>
            <a:r>
              <a:rPr lang="en-US" sz="1200" dirty="0">
                <a:solidFill>
                  <a:srgbClr val="5E6B6A"/>
                </a:solidFill>
                <a:latin typeface="Calibri" pitchFamily="34" charset="0"/>
                <a:ea typeface="Calibri" pitchFamily="34" charset="-122"/>
                <a:cs typeface="Calibri" pitchFamily="34" charset="-120"/>
              </a:rPr>
              <a:t>average of 29 metered runs ($0.2557)</a:t>
            </a:r>
            <a:endParaRPr lang="en-US" sz="1600" dirty="0"/>
          </a:p>
        </p:txBody>
      </p:sp>
      <p:sp>
        <p:nvSpPr>
          <p:cNvPr id="13" name="Shape 9"/>
          <p:cNvSpPr/>
          <p:nvPr/>
        </p:nvSpPr>
        <p:spPr>
          <a:xfrm>
            <a:off x="548640" y="5669280"/>
            <a:ext cx="11091672" cy="566928"/>
          </a:xfrm>
          <a:prstGeom prst="rect">
            <a:avLst/>
          </a:prstGeom>
          <a:solidFill>
            <a:srgbClr val="F3F6F5"/>
          </a:solidFill>
          <a:ln w="12700">
            <a:solidFill>
              <a:srgbClr val="F3F6F5"/>
            </a:solidFill>
            <a:prstDash val="solid"/>
          </a:ln>
        </p:spPr>
      </p:sp>
      <p:sp>
        <p:nvSpPr>
          <p:cNvPr id="14" name="Text 10"/>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Still to meter: </a:t>
            </a:r>
            <a:pPr indent="0" marL="0">
              <a:buNone/>
            </a:pPr>
            <a:r>
              <a:rPr lang="en-US" sz="1500" dirty="0">
                <a:solidFill>
                  <a:srgbClr val="1E2B2A"/>
                </a:solidFill>
                <a:latin typeface="Calibri" pitchFamily="34" charset="0"/>
                <a:ea typeface="Calibri" pitchFamily="34" charset="-122"/>
                <a:cs typeface="Calibri" pitchFamily="34" charset="-120"/>
              </a:rPr>
              <a:t>inference spend for the 4 judgment calls; reviewer time per unit (target under 45 seconds).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ARTIFACT 4  |  STANDING CONTROLS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Five deterministic controls prove the result</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13</a:t>
            </a:r>
            <a:endParaRPr lang="en-US" sz="900" dirty="0"/>
          </a:p>
        </p:txBody>
      </p:sp>
      <p:sp>
        <p:nvSpPr>
          <p:cNvPr id="6" name="Shape 3"/>
          <p:cNvSpPr/>
          <p:nvPr/>
        </p:nvSpPr>
        <p:spPr>
          <a:xfrm>
            <a:off x="548640" y="1783080"/>
            <a:ext cx="2057400" cy="3566160"/>
          </a:xfrm>
          <a:prstGeom prst="rect">
            <a:avLst/>
          </a:prstGeom>
          <a:solidFill>
            <a:srgbClr val="F3F6F5"/>
          </a:solidFill>
          <a:ln w="12700">
            <a:solidFill>
              <a:srgbClr val="F3F6F5"/>
            </a:solidFill>
            <a:prstDash val="solid"/>
          </a:ln>
        </p:spPr>
      </p:sp>
      <p:sp>
        <p:nvSpPr>
          <p:cNvPr id="7" name="Shape 4"/>
          <p:cNvSpPr/>
          <p:nvPr/>
        </p:nvSpPr>
        <p:spPr>
          <a:xfrm>
            <a:off x="1115568" y="2057400"/>
            <a:ext cx="914400" cy="914400"/>
          </a:xfrm>
          <a:prstGeom prst="ellipse">
            <a:avLst/>
          </a:prstGeom>
          <a:solidFill>
            <a:srgbClr val="DCEBE8"/>
          </a:solidFill>
          <a:ln w="12700">
            <a:solidFill>
              <a:srgbClr val="DCEBE8"/>
            </a:solidFill>
            <a:prstDash val="solid"/>
          </a:ln>
        </p:spPr>
      </p:sp>
      <p:pic>
        <p:nvPicPr>
          <p:cNvPr id="8" name="Image 0" descr="preencoded.png">    </p:cNvPr>
          <p:cNvPicPr>
            <a:picLocks noChangeAspect="1"/>
          </p:cNvPicPr>
          <p:nvPr/>
        </p:nvPicPr>
        <p:blipFill>
          <a:blip r:embed="rId1"/>
          <a:stretch>
            <a:fillRect/>
          </a:stretch>
        </p:blipFill>
        <p:spPr>
          <a:xfrm>
            <a:off x="1344168" y="2286000"/>
            <a:ext cx="457200" cy="457200"/>
          </a:xfrm>
          <a:prstGeom prst="rect">
            <a:avLst/>
          </a:prstGeom>
        </p:spPr>
      </p:pic>
      <p:sp>
        <p:nvSpPr>
          <p:cNvPr id="9" name="Text 5"/>
          <p:cNvSpPr txBox="1"/>
          <p:nvPr/>
        </p:nvSpPr>
        <p:spPr>
          <a:xfrm>
            <a:off x="685800" y="3154680"/>
            <a:ext cx="1783080" cy="411480"/>
          </a:xfrm>
          <a:prstGeom prst="rect">
            <a:avLst/>
          </a:prstGeom>
          <a:noFill/>
          <a:ln/>
        </p:spPr>
        <p:txBody>
          <a:bodyPr wrap="square" lIns="0" tIns="0" rIns="0" bIns="0" rtlCol="0" anchor="ctr"/>
          <a:lstStyle/>
          <a:p>
            <a:pPr algn="ctr" indent="0" marL="0">
              <a:buNone/>
            </a:pPr>
            <a:r>
              <a:rPr lang="en-US" sz="1600" b="1" dirty="0">
                <a:solidFill>
                  <a:srgbClr val="1E2B2A"/>
                </a:solidFill>
                <a:latin typeface="Cambria" pitchFamily="34" charset="0"/>
                <a:ea typeface="Cambria" pitchFamily="34" charset="-122"/>
                <a:cs typeface="Cambria" pitchFamily="34" charset="-120"/>
              </a:rPr>
              <a:t>Cost ledger</a:t>
            </a:r>
            <a:endParaRPr lang="en-US" sz="1600" dirty="0"/>
          </a:p>
        </p:txBody>
      </p:sp>
      <p:sp>
        <p:nvSpPr>
          <p:cNvPr id="10" name="Text 6"/>
          <p:cNvSpPr txBox="1"/>
          <p:nvPr/>
        </p:nvSpPr>
        <p:spPr>
          <a:xfrm>
            <a:off x="685800" y="3611880"/>
            <a:ext cx="1783080" cy="914400"/>
          </a:xfrm>
          <a:prstGeom prst="rect">
            <a:avLst/>
          </a:prstGeom>
          <a:noFill/>
          <a:ln/>
        </p:spPr>
        <p:txBody>
          <a:bodyPr wrap="square" lIns="0" tIns="0" rIns="0" bIns="0" rtlCol="0" anchor="t"/>
          <a:lstStyle/>
          <a:p>
            <a:pPr algn="ctr" indent="0" marL="0">
              <a:buNone/>
            </a:pPr>
            <a:r>
              <a:rPr lang="en-US" sz="1300" dirty="0">
                <a:solidFill>
                  <a:srgbClr val="5E6B6A"/>
                </a:solidFill>
                <a:latin typeface="Calibri" pitchFamily="34" charset="0"/>
                <a:ea typeface="Calibri" pitchFamily="34" charset="-122"/>
                <a:cs typeface="Calibri" pitchFamily="34" charset="-120"/>
              </a:rPr>
              <a:t>Every call by model, meter, and price</a:t>
            </a:r>
            <a:endParaRPr lang="en-US" sz="1300" dirty="0"/>
          </a:p>
        </p:txBody>
      </p:sp>
      <p:sp>
        <p:nvSpPr>
          <p:cNvPr id="11" name="Text 7"/>
          <p:cNvSpPr txBox="1"/>
          <p:nvPr/>
        </p:nvSpPr>
        <p:spPr>
          <a:xfrm>
            <a:off x="685800" y="4663440"/>
            <a:ext cx="1783080" cy="411480"/>
          </a:xfrm>
          <a:prstGeom prst="rect">
            <a:avLst/>
          </a:prstGeom>
          <a:noFill/>
          <a:ln/>
        </p:spPr>
        <p:txBody>
          <a:bodyPr wrap="square" lIns="0" tIns="0" rIns="0" bIns="0" rtlCol="0" anchor="ctr"/>
          <a:lstStyle/>
          <a:p>
            <a:pPr algn="ctr" indent="0" marL="0">
              <a:buNone/>
            </a:pPr>
            <a:r>
              <a:rPr lang="en-US" sz="1400" b="1" dirty="0">
                <a:solidFill>
                  <a:srgbClr val="1F6F6B"/>
                </a:solidFill>
                <a:latin typeface="Calibri" pitchFamily="34" charset="0"/>
                <a:ea typeface="Calibri" pitchFamily="34" charset="-122"/>
                <a:cs typeface="Calibri" pitchFamily="34" charset="-120"/>
              </a:rPr>
              <a:t>$0.00</a:t>
            </a:r>
            <a:endParaRPr lang="en-US" sz="1400" dirty="0"/>
          </a:p>
        </p:txBody>
      </p:sp>
      <p:sp>
        <p:nvSpPr>
          <p:cNvPr id="12" name="Shape 8"/>
          <p:cNvSpPr/>
          <p:nvPr/>
        </p:nvSpPr>
        <p:spPr>
          <a:xfrm>
            <a:off x="2807208" y="1783080"/>
            <a:ext cx="2057400" cy="3566160"/>
          </a:xfrm>
          <a:prstGeom prst="rect">
            <a:avLst/>
          </a:prstGeom>
          <a:solidFill>
            <a:srgbClr val="F3F6F5"/>
          </a:solidFill>
          <a:ln w="12700">
            <a:solidFill>
              <a:srgbClr val="F3F6F5"/>
            </a:solidFill>
            <a:prstDash val="solid"/>
          </a:ln>
        </p:spPr>
      </p:sp>
      <p:sp>
        <p:nvSpPr>
          <p:cNvPr id="13" name="Shape 9"/>
          <p:cNvSpPr/>
          <p:nvPr/>
        </p:nvSpPr>
        <p:spPr>
          <a:xfrm>
            <a:off x="3374136" y="2057400"/>
            <a:ext cx="914400" cy="914400"/>
          </a:xfrm>
          <a:prstGeom prst="ellipse">
            <a:avLst/>
          </a:prstGeom>
          <a:solidFill>
            <a:srgbClr val="DCEBE8"/>
          </a:solidFill>
          <a:ln w="12700">
            <a:solidFill>
              <a:srgbClr val="DCEBE8"/>
            </a:solidFill>
            <a:prstDash val="solid"/>
          </a:ln>
        </p:spPr>
      </p:sp>
      <p:pic>
        <p:nvPicPr>
          <p:cNvPr id="14" name="Image 1" descr="preencoded.png">    </p:cNvPr>
          <p:cNvPicPr>
            <a:picLocks noChangeAspect="1"/>
          </p:cNvPicPr>
          <p:nvPr/>
        </p:nvPicPr>
        <p:blipFill>
          <a:blip r:embed="rId2"/>
          <a:stretch>
            <a:fillRect/>
          </a:stretch>
        </p:blipFill>
        <p:spPr>
          <a:xfrm>
            <a:off x="3602736" y="2286000"/>
            <a:ext cx="457200" cy="457200"/>
          </a:xfrm>
          <a:prstGeom prst="rect">
            <a:avLst/>
          </a:prstGeom>
        </p:spPr>
      </p:pic>
      <p:sp>
        <p:nvSpPr>
          <p:cNvPr id="15" name="Text 10"/>
          <p:cNvSpPr txBox="1"/>
          <p:nvPr/>
        </p:nvSpPr>
        <p:spPr>
          <a:xfrm>
            <a:off x="2944368" y="3154680"/>
            <a:ext cx="1783080" cy="411480"/>
          </a:xfrm>
          <a:prstGeom prst="rect">
            <a:avLst/>
          </a:prstGeom>
          <a:noFill/>
          <a:ln/>
        </p:spPr>
        <p:txBody>
          <a:bodyPr wrap="square" lIns="0" tIns="0" rIns="0" bIns="0" rtlCol="0" anchor="ctr"/>
          <a:lstStyle/>
          <a:p>
            <a:pPr algn="ctr" indent="0" marL="0">
              <a:buNone/>
            </a:pPr>
            <a:r>
              <a:rPr lang="en-US" sz="1600" b="1" dirty="0">
                <a:solidFill>
                  <a:srgbClr val="1E2B2A"/>
                </a:solidFill>
                <a:latin typeface="Cambria" pitchFamily="34" charset="0"/>
                <a:ea typeface="Cambria" pitchFamily="34" charset="-122"/>
                <a:cs typeface="Cambria" pitchFamily="34" charset="-120"/>
              </a:rPr>
              <a:t>Unit register</a:t>
            </a:r>
            <a:endParaRPr lang="en-US" sz="1600" dirty="0"/>
          </a:p>
        </p:txBody>
      </p:sp>
      <p:sp>
        <p:nvSpPr>
          <p:cNvPr id="16" name="Text 11"/>
          <p:cNvSpPr txBox="1"/>
          <p:nvPr/>
        </p:nvSpPr>
        <p:spPr>
          <a:xfrm>
            <a:off x="2944368" y="3611880"/>
            <a:ext cx="1783080" cy="914400"/>
          </a:xfrm>
          <a:prstGeom prst="rect">
            <a:avLst/>
          </a:prstGeom>
          <a:noFill/>
          <a:ln/>
        </p:spPr>
        <p:txBody>
          <a:bodyPr wrap="square" lIns="0" tIns="0" rIns="0" bIns="0" rtlCol="0" anchor="t"/>
          <a:lstStyle/>
          <a:p>
            <a:pPr algn="ctr" indent="0" marL="0">
              <a:buNone/>
            </a:pPr>
            <a:r>
              <a:rPr lang="en-US" sz="1300" dirty="0">
                <a:solidFill>
                  <a:srgbClr val="5E6B6A"/>
                </a:solidFill>
                <a:latin typeface="Calibri" pitchFamily="34" charset="0"/>
                <a:ea typeface="Calibri" pitchFamily="34" charset="-122"/>
                <a:cs typeface="Calibri" pitchFamily="34" charset="-120"/>
              </a:rPr>
              <a:t>Every transaction, outcome, and deciding step</a:t>
            </a:r>
            <a:endParaRPr lang="en-US" sz="1300" dirty="0"/>
          </a:p>
        </p:txBody>
      </p:sp>
      <p:sp>
        <p:nvSpPr>
          <p:cNvPr id="17" name="Text 12"/>
          <p:cNvSpPr txBox="1"/>
          <p:nvPr/>
        </p:nvSpPr>
        <p:spPr>
          <a:xfrm>
            <a:off x="2944368" y="4663440"/>
            <a:ext cx="1783080" cy="411480"/>
          </a:xfrm>
          <a:prstGeom prst="rect">
            <a:avLst/>
          </a:prstGeom>
          <a:noFill/>
          <a:ln/>
        </p:spPr>
        <p:txBody>
          <a:bodyPr wrap="square" lIns="0" tIns="0" rIns="0" bIns="0" rtlCol="0" anchor="ctr"/>
          <a:lstStyle/>
          <a:p>
            <a:pPr algn="ctr" indent="0" marL="0">
              <a:buNone/>
            </a:pPr>
            <a:r>
              <a:rPr lang="en-US" sz="1400" b="1" dirty="0">
                <a:solidFill>
                  <a:srgbClr val="1F6F6B"/>
                </a:solidFill>
                <a:latin typeface="Calibri" pitchFamily="34" charset="0"/>
                <a:ea typeface="Calibri" pitchFamily="34" charset="-122"/>
                <a:cs typeface="Calibri" pitchFamily="34" charset="-120"/>
              </a:rPr>
              <a:t>$0.00</a:t>
            </a:r>
            <a:endParaRPr lang="en-US" sz="1400" dirty="0"/>
          </a:p>
        </p:txBody>
      </p:sp>
      <p:sp>
        <p:nvSpPr>
          <p:cNvPr id="18" name="Shape 13"/>
          <p:cNvSpPr/>
          <p:nvPr/>
        </p:nvSpPr>
        <p:spPr>
          <a:xfrm>
            <a:off x="5065776" y="1783080"/>
            <a:ext cx="2057400" cy="3566160"/>
          </a:xfrm>
          <a:prstGeom prst="rect">
            <a:avLst/>
          </a:prstGeom>
          <a:solidFill>
            <a:srgbClr val="F3F6F5"/>
          </a:solidFill>
          <a:ln w="12700">
            <a:solidFill>
              <a:srgbClr val="F3F6F5"/>
            </a:solidFill>
            <a:prstDash val="solid"/>
          </a:ln>
        </p:spPr>
      </p:sp>
      <p:sp>
        <p:nvSpPr>
          <p:cNvPr id="19" name="Shape 14"/>
          <p:cNvSpPr/>
          <p:nvPr/>
        </p:nvSpPr>
        <p:spPr>
          <a:xfrm>
            <a:off x="5632704" y="2057400"/>
            <a:ext cx="914400" cy="914400"/>
          </a:xfrm>
          <a:prstGeom prst="ellipse">
            <a:avLst/>
          </a:prstGeom>
          <a:solidFill>
            <a:srgbClr val="DCEBE8"/>
          </a:solidFill>
          <a:ln w="12700">
            <a:solidFill>
              <a:srgbClr val="DCEBE8"/>
            </a:solidFill>
            <a:prstDash val="solid"/>
          </a:ln>
        </p:spPr>
      </p:sp>
      <p:pic>
        <p:nvPicPr>
          <p:cNvPr id="20" name="Image 2" descr="preencoded.png">    </p:cNvPr>
          <p:cNvPicPr>
            <a:picLocks noChangeAspect="1"/>
          </p:cNvPicPr>
          <p:nvPr/>
        </p:nvPicPr>
        <p:blipFill>
          <a:blip r:embed="rId3"/>
          <a:stretch>
            <a:fillRect/>
          </a:stretch>
        </p:blipFill>
        <p:spPr>
          <a:xfrm>
            <a:off x="5861304" y="2286000"/>
            <a:ext cx="457200" cy="457200"/>
          </a:xfrm>
          <a:prstGeom prst="rect">
            <a:avLst/>
          </a:prstGeom>
        </p:spPr>
      </p:pic>
      <p:sp>
        <p:nvSpPr>
          <p:cNvPr id="21" name="Text 15"/>
          <p:cNvSpPr txBox="1"/>
          <p:nvPr/>
        </p:nvSpPr>
        <p:spPr>
          <a:xfrm>
            <a:off x="5202936" y="3154680"/>
            <a:ext cx="1783080" cy="411480"/>
          </a:xfrm>
          <a:prstGeom prst="rect">
            <a:avLst/>
          </a:prstGeom>
          <a:noFill/>
          <a:ln/>
        </p:spPr>
        <p:txBody>
          <a:bodyPr wrap="square" lIns="0" tIns="0" rIns="0" bIns="0" rtlCol="0" anchor="ctr"/>
          <a:lstStyle/>
          <a:p>
            <a:pPr algn="ctr" indent="0" marL="0">
              <a:buNone/>
            </a:pPr>
            <a:r>
              <a:rPr lang="en-US" sz="1600" b="1" dirty="0">
                <a:solidFill>
                  <a:srgbClr val="1E2B2A"/>
                </a:solidFill>
                <a:latin typeface="Cambria" pitchFamily="34" charset="0"/>
                <a:ea typeface="Cambria" pitchFamily="34" charset="-122"/>
                <a:cs typeface="Cambria" pitchFamily="34" charset="-120"/>
              </a:rPr>
              <a:t>Acceptance log</a:t>
            </a:r>
            <a:endParaRPr lang="en-US" sz="1600" dirty="0"/>
          </a:p>
        </p:txBody>
      </p:sp>
      <p:sp>
        <p:nvSpPr>
          <p:cNvPr id="22" name="Text 16"/>
          <p:cNvSpPr txBox="1"/>
          <p:nvPr/>
        </p:nvSpPr>
        <p:spPr>
          <a:xfrm>
            <a:off x="5202936" y="3611880"/>
            <a:ext cx="1783080" cy="914400"/>
          </a:xfrm>
          <a:prstGeom prst="rect">
            <a:avLst/>
          </a:prstGeom>
          <a:noFill/>
          <a:ln/>
        </p:spPr>
        <p:txBody>
          <a:bodyPr wrap="square" lIns="0" tIns="0" rIns="0" bIns="0" rtlCol="0" anchor="t"/>
          <a:lstStyle/>
          <a:p>
            <a:pPr algn="ctr" indent="0" marL="0">
              <a:buNone/>
            </a:pPr>
            <a:r>
              <a:rPr lang="en-US" sz="1300" dirty="0">
                <a:solidFill>
                  <a:srgbClr val="5E6B6A"/>
                </a:solidFill>
                <a:latin typeface="Calibri" pitchFamily="34" charset="0"/>
                <a:ea typeface="Calibri" pitchFamily="34" charset="-122"/>
                <a:cs typeface="Calibri" pitchFamily="34" charset="-120"/>
              </a:rPr>
              <a:t>Named-owner signature per version</a:t>
            </a:r>
            <a:endParaRPr lang="en-US" sz="1300" dirty="0"/>
          </a:p>
        </p:txBody>
      </p:sp>
      <p:sp>
        <p:nvSpPr>
          <p:cNvPr id="23" name="Text 17"/>
          <p:cNvSpPr txBox="1"/>
          <p:nvPr/>
        </p:nvSpPr>
        <p:spPr>
          <a:xfrm>
            <a:off x="5202936" y="4663440"/>
            <a:ext cx="1783080" cy="411480"/>
          </a:xfrm>
          <a:prstGeom prst="rect">
            <a:avLst/>
          </a:prstGeom>
          <a:noFill/>
          <a:ln/>
        </p:spPr>
        <p:txBody>
          <a:bodyPr wrap="square" lIns="0" tIns="0" rIns="0" bIns="0" rtlCol="0" anchor="ctr"/>
          <a:lstStyle/>
          <a:p>
            <a:pPr algn="ctr" indent="0" marL="0">
              <a:buNone/>
            </a:pPr>
            <a:r>
              <a:rPr lang="en-US" sz="1400" b="1" dirty="0">
                <a:solidFill>
                  <a:srgbClr val="1F6F6B"/>
                </a:solidFill>
                <a:latin typeface="Calibri" pitchFamily="34" charset="0"/>
                <a:ea typeface="Calibri" pitchFamily="34" charset="-122"/>
                <a:cs typeface="Calibri" pitchFamily="34" charset="-120"/>
              </a:rPr>
              <a:t>$0.00</a:t>
            </a:r>
            <a:endParaRPr lang="en-US" sz="1400" dirty="0"/>
          </a:p>
        </p:txBody>
      </p:sp>
      <p:sp>
        <p:nvSpPr>
          <p:cNvPr id="24" name="Shape 18"/>
          <p:cNvSpPr/>
          <p:nvPr/>
        </p:nvSpPr>
        <p:spPr>
          <a:xfrm>
            <a:off x="7324344" y="1783080"/>
            <a:ext cx="2057400" cy="3566160"/>
          </a:xfrm>
          <a:prstGeom prst="rect">
            <a:avLst/>
          </a:prstGeom>
          <a:solidFill>
            <a:srgbClr val="F3F6F5"/>
          </a:solidFill>
          <a:ln w="12700">
            <a:solidFill>
              <a:srgbClr val="F3F6F5"/>
            </a:solidFill>
            <a:prstDash val="solid"/>
          </a:ln>
        </p:spPr>
      </p:sp>
      <p:sp>
        <p:nvSpPr>
          <p:cNvPr id="25" name="Shape 19"/>
          <p:cNvSpPr/>
          <p:nvPr/>
        </p:nvSpPr>
        <p:spPr>
          <a:xfrm>
            <a:off x="7891272" y="2057400"/>
            <a:ext cx="914400" cy="914400"/>
          </a:xfrm>
          <a:prstGeom prst="ellipse">
            <a:avLst/>
          </a:prstGeom>
          <a:solidFill>
            <a:srgbClr val="DCEBE8"/>
          </a:solidFill>
          <a:ln w="12700">
            <a:solidFill>
              <a:srgbClr val="DCEBE8"/>
            </a:solidFill>
            <a:prstDash val="solid"/>
          </a:ln>
        </p:spPr>
      </p:sp>
      <p:pic>
        <p:nvPicPr>
          <p:cNvPr id="26" name="Image 3" descr="preencoded.png">    </p:cNvPr>
          <p:cNvPicPr>
            <a:picLocks noChangeAspect="1"/>
          </p:cNvPicPr>
          <p:nvPr/>
        </p:nvPicPr>
        <p:blipFill>
          <a:blip r:embed="rId4"/>
          <a:stretch>
            <a:fillRect/>
          </a:stretch>
        </p:blipFill>
        <p:spPr>
          <a:xfrm>
            <a:off x="8119872" y="2286000"/>
            <a:ext cx="457200" cy="457200"/>
          </a:xfrm>
          <a:prstGeom prst="rect">
            <a:avLst/>
          </a:prstGeom>
        </p:spPr>
      </p:pic>
      <p:sp>
        <p:nvSpPr>
          <p:cNvPr id="27" name="Text 20"/>
          <p:cNvSpPr txBox="1"/>
          <p:nvPr/>
        </p:nvSpPr>
        <p:spPr>
          <a:xfrm>
            <a:off x="7461504" y="3154680"/>
            <a:ext cx="1783080" cy="411480"/>
          </a:xfrm>
          <a:prstGeom prst="rect">
            <a:avLst/>
          </a:prstGeom>
          <a:noFill/>
          <a:ln/>
        </p:spPr>
        <p:txBody>
          <a:bodyPr wrap="square" lIns="0" tIns="0" rIns="0" bIns="0" rtlCol="0" anchor="ctr"/>
          <a:lstStyle/>
          <a:p>
            <a:pPr algn="ctr" indent="0" marL="0">
              <a:buNone/>
            </a:pPr>
            <a:r>
              <a:rPr lang="en-US" sz="1600" b="1" dirty="0">
                <a:solidFill>
                  <a:srgbClr val="1E2B2A"/>
                </a:solidFill>
                <a:latin typeface="Cambria" pitchFamily="34" charset="0"/>
                <a:ea typeface="Cambria" pitchFamily="34" charset="-122"/>
                <a:cs typeface="Cambria" pitchFamily="34" charset="-120"/>
              </a:rPr>
              <a:t>Evidence store</a:t>
            </a:r>
            <a:endParaRPr lang="en-US" sz="1600" dirty="0"/>
          </a:p>
        </p:txBody>
      </p:sp>
      <p:sp>
        <p:nvSpPr>
          <p:cNvPr id="28" name="Text 21"/>
          <p:cNvSpPr txBox="1"/>
          <p:nvPr/>
        </p:nvSpPr>
        <p:spPr>
          <a:xfrm>
            <a:off x="7461504" y="3611880"/>
            <a:ext cx="1783080" cy="914400"/>
          </a:xfrm>
          <a:prstGeom prst="rect">
            <a:avLst/>
          </a:prstGeom>
          <a:noFill/>
          <a:ln/>
        </p:spPr>
        <p:txBody>
          <a:bodyPr wrap="square" lIns="0" tIns="0" rIns="0" bIns="0" rtlCol="0" anchor="t"/>
          <a:lstStyle/>
          <a:p>
            <a:pPr algn="ctr" indent="0" marL="0">
              <a:buNone/>
            </a:pPr>
            <a:r>
              <a:rPr lang="en-US" sz="1300" dirty="0">
                <a:solidFill>
                  <a:srgbClr val="5E6B6A"/>
                </a:solidFill>
                <a:latin typeface="Calibri" pitchFamily="34" charset="0"/>
                <a:ea typeface="Calibri" pitchFamily="34" charset="-122"/>
                <a:cs typeface="Calibri" pitchFamily="34" charset="-120"/>
              </a:rPr>
              <a:t>Checksummed proof behind every outcome</a:t>
            </a:r>
            <a:endParaRPr lang="en-US" sz="1300" dirty="0"/>
          </a:p>
        </p:txBody>
      </p:sp>
      <p:sp>
        <p:nvSpPr>
          <p:cNvPr id="29" name="Text 22"/>
          <p:cNvSpPr txBox="1"/>
          <p:nvPr/>
        </p:nvSpPr>
        <p:spPr>
          <a:xfrm>
            <a:off x="7461504" y="4663440"/>
            <a:ext cx="1783080" cy="411480"/>
          </a:xfrm>
          <a:prstGeom prst="rect">
            <a:avLst/>
          </a:prstGeom>
          <a:noFill/>
          <a:ln/>
        </p:spPr>
        <p:txBody>
          <a:bodyPr wrap="square" lIns="0" tIns="0" rIns="0" bIns="0" rtlCol="0" anchor="ctr"/>
          <a:lstStyle/>
          <a:p>
            <a:pPr algn="ctr" indent="0" marL="0">
              <a:buNone/>
            </a:pPr>
            <a:r>
              <a:rPr lang="en-US" sz="1400" b="1" dirty="0">
                <a:solidFill>
                  <a:srgbClr val="1F6F6B"/>
                </a:solidFill>
                <a:latin typeface="Calibri" pitchFamily="34" charset="0"/>
                <a:ea typeface="Calibri" pitchFamily="34" charset="-122"/>
                <a:cs typeface="Calibri" pitchFamily="34" charset="-120"/>
              </a:rPr>
              <a:t>Storage only</a:t>
            </a:r>
            <a:endParaRPr lang="en-US" sz="1400" dirty="0"/>
          </a:p>
        </p:txBody>
      </p:sp>
      <p:sp>
        <p:nvSpPr>
          <p:cNvPr id="30" name="Shape 23"/>
          <p:cNvSpPr/>
          <p:nvPr/>
        </p:nvSpPr>
        <p:spPr>
          <a:xfrm>
            <a:off x="9582912" y="1783080"/>
            <a:ext cx="2057400" cy="3566160"/>
          </a:xfrm>
          <a:prstGeom prst="rect">
            <a:avLst/>
          </a:prstGeom>
          <a:solidFill>
            <a:srgbClr val="F3F6F5"/>
          </a:solidFill>
          <a:ln w="12700">
            <a:solidFill>
              <a:srgbClr val="F3F6F5"/>
            </a:solidFill>
            <a:prstDash val="solid"/>
          </a:ln>
        </p:spPr>
      </p:sp>
      <p:sp>
        <p:nvSpPr>
          <p:cNvPr id="31" name="Shape 24"/>
          <p:cNvSpPr/>
          <p:nvPr/>
        </p:nvSpPr>
        <p:spPr>
          <a:xfrm>
            <a:off x="10149840" y="2057400"/>
            <a:ext cx="914400" cy="914400"/>
          </a:xfrm>
          <a:prstGeom prst="ellipse">
            <a:avLst/>
          </a:prstGeom>
          <a:solidFill>
            <a:srgbClr val="DCEBE8"/>
          </a:solidFill>
          <a:ln w="12700">
            <a:solidFill>
              <a:srgbClr val="DCEBE8"/>
            </a:solidFill>
            <a:prstDash val="solid"/>
          </a:ln>
        </p:spPr>
      </p:sp>
      <p:pic>
        <p:nvPicPr>
          <p:cNvPr id="32" name="Image 4" descr="preencoded.png">    </p:cNvPr>
          <p:cNvPicPr>
            <a:picLocks noChangeAspect="1"/>
          </p:cNvPicPr>
          <p:nvPr/>
        </p:nvPicPr>
        <p:blipFill>
          <a:blip r:embed="rId5"/>
          <a:stretch>
            <a:fillRect/>
          </a:stretch>
        </p:blipFill>
        <p:spPr>
          <a:xfrm>
            <a:off x="10378440" y="2286000"/>
            <a:ext cx="457200" cy="457200"/>
          </a:xfrm>
          <a:prstGeom prst="rect">
            <a:avLst/>
          </a:prstGeom>
        </p:spPr>
      </p:pic>
      <p:sp>
        <p:nvSpPr>
          <p:cNvPr id="33" name="Text 25"/>
          <p:cNvSpPr txBox="1"/>
          <p:nvPr/>
        </p:nvSpPr>
        <p:spPr>
          <a:xfrm>
            <a:off x="9720072" y="3154680"/>
            <a:ext cx="1783080" cy="411480"/>
          </a:xfrm>
          <a:prstGeom prst="rect">
            <a:avLst/>
          </a:prstGeom>
          <a:noFill/>
          <a:ln/>
        </p:spPr>
        <p:txBody>
          <a:bodyPr wrap="square" lIns="0" tIns="0" rIns="0" bIns="0" rtlCol="0" anchor="ctr"/>
          <a:lstStyle/>
          <a:p>
            <a:pPr algn="ctr" indent="0" marL="0">
              <a:buNone/>
            </a:pPr>
            <a:r>
              <a:rPr lang="en-US" sz="1600" b="1" dirty="0">
                <a:solidFill>
                  <a:srgbClr val="1E2B2A"/>
                </a:solidFill>
                <a:latin typeface="Cambria" pitchFamily="34" charset="0"/>
                <a:ea typeface="Cambria" pitchFamily="34" charset="-122"/>
                <a:cs typeface="Cambria" pitchFamily="34" charset="-120"/>
              </a:rPr>
              <a:t>Pre-flight check</a:t>
            </a:r>
            <a:endParaRPr lang="en-US" sz="1600" dirty="0"/>
          </a:p>
        </p:txBody>
      </p:sp>
      <p:sp>
        <p:nvSpPr>
          <p:cNvPr id="34" name="Text 26"/>
          <p:cNvSpPr txBox="1"/>
          <p:nvPr/>
        </p:nvSpPr>
        <p:spPr>
          <a:xfrm>
            <a:off x="9720072" y="3611880"/>
            <a:ext cx="1783080" cy="914400"/>
          </a:xfrm>
          <a:prstGeom prst="rect">
            <a:avLst/>
          </a:prstGeom>
          <a:noFill/>
          <a:ln/>
        </p:spPr>
        <p:txBody>
          <a:bodyPr wrap="square" lIns="0" tIns="0" rIns="0" bIns="0" rtlCol="0" anchor="t"/>
          <a:lstStyle/>
          <a:p>
            <a:pPr algn="ctr" indent="0" marL="0">
              <a:buNone/>
            </a:pPr>
            <a:r>
              <a:rPr lang="en-US" sz="1300" dirty="0">
                <a:solidFill>
                  <a:srgbClr val="5E6B6A"/>
                </a:solidFill>
                <a:latin typeface="Calibri" pitchFamily="34" charset="0"/>
                <a:ea typeface="Calibri" pitchFamily="34" charset="-122"/>
                <a:cs typeface="Calibri" pitchFamily="34" charset="-120"/>
              </a:rPr>
              <a:t>One command verifies logic on all paths</a:t>
            </a:r>
            <a:endParaRPr lang="en-US" sz="1300" dirty="0"/>
          </a:p>
        </p:txBody>
      </p:sp>
      <p:sp>
        <p:nvSpPr>
          <p:cNvPr id="35" name="Text 27"/>
          <p:cNvSpPr txBox="1"/>
          <p:nvPr/>
        </p:nvSpPr>
        <p:spPr>
          <a:xfrm>
            <a:off x="9720072" y="4663440"/>
            <a:ext cx="1783080" cy="411480"/>
          </a:xfrm>
          <a:prstGeom prst="rect">
            <a:avLst/>
          </a:prstGeom>
          <a:noFill/>
          <a:ln/>
        </p:spPr>
        <p:txBody>
          <a:bodyPr wrap="square" lIns="0" tIns="0" rIns="0" bIns="0" rtlCol="0" anchor="ctr"/>
          <a:lstStyle/>
          <a:p>
            <a:pPr algn="ctr" indent="0" marL="0">
              <a:buNone/>
            </a:pPr>
            <a:r>
              <a:rPr lang="en-US" sz="1400" b="1" dirty="0">
                <a:solidFill>
                  <a:srgbClr val="1F6F6B"/>
                </a:solidFill>
                <a:latin typeface="Calibri" pitchFamily="34" charset="0"/>
                <a:ea typeface="Calibri" pitchFamily="34" charset="-122"/>
                <a:cs typeface="Calibri" pitchFamily="34" charset="-120"/>
              </a:rPr>
              <a:t>Seconds of compute</a:t>
            </a:r>
            <a:endParaRPr lang="en-US" sz="1400" dirty="0"/>
          </a:p>
        </p:txBody>
      </p:sp>
      <p:sp>
        <p:nvSpPr>
          <p:cNvPr id="36" name="Shape 28"/>
          <p:cNvSpPr/>
          <p:nvPr/>
        </p:nvSpPr>
        <p:spPr>
          <a:xfrm>
            <a:off x="548640" y="5669280"/>
            <a:ext cx="11091672" cy="566928"/>
          </a:xfrm>
          <a:prstGeom prst="rect">
            <a:avLst/>
          </a:prstGeom>
          <a:solidFill>
            <a:srgbClr val="F3F6F5"/>
          </a:solidFill>
          <a:ln w="12700">
            <a:solidFill>
              <a:srgbClr val="F3F6F5"/>
            </a:solidFill>
            <a:prstDash val="solid"/>
          </a:ln>
        </p:spPr>
      </p:sp>
      <p:sp>
        <p:nvSpPr>
          <p:cNvPr id="37" name="Text 29"/>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Build them in stage 2. </a:t>
            </a:r>
            <a:pPr indent="0" marL="0">
              <a:buNone/>
            </a:pPr>
            <a:r>
              <a:rPr lang="en-US" sz="1500" dirty="0">
                <a:solidFill>
                  <a:srgbClr val="1E2B2A"/>
                </a:solidFill>
                <a:latin typeface="Calibri" pitchFamily="34" charset="0"/>
                <a:ea typeface="Calibri" pitchFamily="34" charset="-122"/>
                <a:cs typeface="Calibri" pitchFamily="34" charset="-120"/>
              </a:rPr>
              <a:t>Each records evidence that cannot be reconstructed later.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02F"/>
        </a:solidFill>
      </p:bgPr>
    </p:bg>
    <p:spTree>
      <p:nvGrpSpPr>
        <p:cNvPr id="1" name=""/>
        <p:cNvGrpSpPr/>
        <p:nvPr/>
      </p:nvGrpSpPr>
      <p:grpSpPr>
        <a:xfrm>
          <a:off x="0" y="0"/>
          <a:ext cx="0" cy="0"/>
          <a:chOff x="0" y="0"/>
          <a:chExt cx="0" cy="0"/>
        </a:xfrm>
      </p:grpSpPr>
      <p:sp>
        <p:nvSpPr>
          <p:cNvPr id="2" name="Text 0"/>
          <p:cNvSpPr txBox="1"/>
          <p:nvPr/>
        </p:nvSpPr>
        <p:spPr>
          <a:xfrm>
            <a:off x="731520" y="640080"/>
            <a:ext cx="7315200" cy="320040"/>
          </a:xfrm>
          <a:prstGeom prst="rect">
            <a:avLst/>
          </a:prstGeom>
          <a:noFill/>
          <a:ln/>
        </p:spPr>
        <p:txBody>
          <a:bodyPr wrap="square" lIns="0" tIns="0" rIns="0" bIns="0" rtlCol="0" anchor="ctr"/>
          <a:lstStyle/>
          <a:p>
            <a:pPr indent="0" marL="0">
              <a:buNone/>
            </a:pPr>
            <a:r>
              <a:rPr lang="en-US" sz="1300" b="1" spc="300" kern="0" dirty="0">
                <a:solidFill>
                  <a:srgbClr val="D9901A"/>
                </a:solidFill>
                <a:latin typeface="Calibri" pitchFamily="34" charset="0"/>
                <a:ea typeface="Calibri" pitchFamily="34" charset="-122"/>
                <a:cs typeface="Calibri" pitchFamily="34" charset="-120"/>
              </a:rPr>
              <a:t>DECISIONS FOR LEADERS</a:t>
            </a:r>
            <a:endParaRPr lang="en-US" sz="1300" dirty="0"/>
          </a:p>
        </p:txBody>
      </p:sp>
      <p:sp>
        <p:nvSpPr>
          <p:cNvPr id="3" name="Text 1"/>
          <p:cNvSpPr txBox="1"/>
          <p:nvPr/>
        </p:nvSpPr>
        <p:spPr>
          <a:xfrm>
            <a:off x="731520" y="1005840"/>
            <a:ext cx="105156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Five commitments before you fund a harness</a:t>
            </a:r>
            <a:endParaRPr lang="en-US" sz="3600" dirty="0"/>
          </a:p>
        </p:txBody>
      </p:sp>
      <p:sp>
        <p:nvSpPr>
          <p:cNvPr id="4" name="Shape 2"/>
          <p:cNvSpPr/>
          <p:nvPr/>
        </p:nvSpPr>
        <p:spPr>
          <a:xfrm>
            <a:off x="731520" y="2148840"/>
            <a:ext cx="548640" cy="548640"/>
          </a:xfrm>
          <a:prstGeom prst="ellipse">
            <a:avLst/>
          </a:prstGeom>
          <a:solidFill>
            <a:srgbClr val="1F6F6B"/>
          </a:solidFill>
          <a:ln w="12700">
            <a:solidFill>
              <a:srgbClr val="1F6F6B"/>
            </a:solidFill>
            <a:prstDash val="solid"/>
          </a:ln>
        </p:spPr>
      </p:sp>
      <p:sp>
        <p:nvSpPr>
          <p:cNvPr id="5" name="Text 3"/>
          <p:cNvSpPr txBox="1"/>
          <p:nvPr/>
        </p:nvSpPr>
        <p:spPr>
          <a:xfrm>
            <a:off x="731520" y="214884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1</a:t>
            </a:r>
            <a:endParaRPr lang="en-US" sz="1560" dirty="0"/>
          </a:p>
        </p:txBody>
      </p:sp>
      <p:sp>
        <p:nvSpPr>
          <p:cNvPr id="6" name="Text 4"/>
          <p:cNvSpPr txBox="1"/>
          <p:nvPr/>
        </p:nvSpPr>
        <p:spPr>
          <a:xfrm>
            <a:off x="1508760" y="2148840"/>
            <a:ext cx="96012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Baseline today's manual cost before you deploy</a:t>
            </a:r>
            <a:endParaRPr lang="en-US" sz="2000" dirty="0"/>
          </a:p>
        </p:txBody>
      </p:sp>
      <p:sp>
        <p:nvSpPr>
          <p:cNvPr id="7" name="Shape 5"/>
          <p:cNvSpPr/>
          <p:nvPr/>
        </p:nvSpPr>
        <p:spPr>
          <a:xfrm>
            <a:off x="731520" y="2926080"/>
            <a:ext cx="548640" cy="548640"/>
          </a:xfrm>
          <a:prstGeom prst="ellipse">
            <a:avLst/>
          </a:prstGeom>
          <a:solidFill>
            <a:srgbClr val="1F6F6B"/>
          </a:solidFill>
          <a:ln w="12700">
            <a:solidFill>
              <a:srgbClr val="1F6F6B"/>
            </a:solidFill>
            <a:prstDash val="solid"/>
          </a:ln>
        </p:spPr>
      </p:sp>
      <p:sp>
        <p:nvSpPr>
          <p:cNvPr id="8" name="Text 6"/>
          <p:cNvSpPr txBox="1"/>
          <p:nvPr/>
        </p:nvSpPr>
        <p:spPr>
          <a:xfrm>
            <a:off x="731520" y="2926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2</a:t>
            </a:r>
            <a:endParaRPr lang="en-US" sz="1560" dirty="0"/>
          </a:p>
        </p:txBody>
      </p:sp>
      <p:sp>
        <p:nvSpPr>
          <p:cNvPr id="9" name="Text 7"/>
          <p:cNvSpPr txBox="1"/>
          <p:nvPr/>
        </p:nvSpPr>
        <p:spPr>
          <a:xfrm>
            <a:off x="1508760" y="2926080"/>
            <a:ext cx="96012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Fund one stage at a time against written exit gates</a:t>
            </a:r>
            <a:endParaRPr lang="en-US" sz="2000" dirty="0"/>
          </a:p>
        </p:txBody>
      </p:sp>
      <p:sp>
        <p:nvSpPr>
          <p:cNvPr id="10" name="Shape 8"/>
          <p:cNvSpPr/>
          <p:nvPr/>
        </p:nvSpPr>
        <p:spPr>
          <a:xfrm>
            <a:off x="731520" y="3703320"/>
            <a:ext cx="548640" cy="548640"/>
          </a:xfrm>
          <a:prstGeom prst="ellipse">
            <a:avLst/>
          </a:prstGeom>
          <a:solidFill>
            <a:srgbClr val="1F6F6B"/>
          </a:solidFill>
          <a:ln w="12700">
            <a:solidFill>
              <a:srgbClr val="1F6F6B"/>
            </a:solidFill>
            <a:prstDash val="solid"/>
          </a:ln>
        </p:spPr>
      </p:sp>
      <p:sp>
        <p:nvSpPr>
          <p:cNvPr id="11" name="Text 9"/>
          <p:cNvSpPr txBox="1"/>
          <p:nvPr/>
        </p:nvSpPr>
        <p:spPr>
          <a:xfrm>
            <a:off x="731520" y="370332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3</a:t>
            </a:r>
            <a:endParaRPr lang="en-US" sz="1560" dirty="0"/>
          </a:p>
        </p:txBody>
      </p:sp>
      <p:sp>
        <p:nvSpPr>
          <p:cNvPr id="12" name="Text 10"/>
          <p:cNvSpPr txBox="1"/>
          <p:nvPr/>
        </p:nvSpPr>
        <p:spPr>
          <a:xfrm>
            <a:off x="1508760" y="3703320"/>
            <a:ext cx="96012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Name a single accountable approver, by name</a:t>
            </a:r>
            <a:endParaRPr lang="en-US" sz="2000" dirty="0"/>
          </a:p>
        </p:txBody>
      </p:sp>
      <p:sp>
        <p:nvSpPr>
          <p:cNvPr id="13" name="Shape 11"/>
          <p:cNvSpPr/>
          <p:nvPr/>
        </p:nvSpPr>
        <p:spPr>
          <a:xfrm>
            <a:off x="731520" y="4480560"/>
            <a:ext cx="548640" cy="548640"/>
          </a:xfrm>
          <a:prstGeom prst="ellipse">
            <a:avLst/>
          </a:prstGeom>
          <a:solidFill>
            <a:srgbClr val="1F6F6B"/>
          </a:solidFill>
          <a:ln w="12700">
            <a:solidFill>
              <a:srgbClr val="1F6F6B"/>
            </a:solidFill>
            <a:prstDash val="solid"/>
          </a:ln>
        </p:spPr>
      </p:sp>
      <p:sp>
        <p:nvSpPr>
          <p:cNvPr id="14" name="Text 12"/>
          <p:cNvSpPr txBox="1"/>
          <p:nvPr/>
        </p:nvSpPr>
        <p:spPr>
          <a:xfrm>
            <a:off x="731520" y="448056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4</a:t>
            </a:r>
            <a:endParaRPr lang="en-US" sz="1560" dirty="0"/>
          </a:p>
        </p:txBody>
      </p:sp>
      <p:sp>
        <p:nvSpPr>
          <p:cNvPr id="15" name="Text 13"/>
          <p:cNvSpPr txBox="1"/>
          <p:nvPr/>
        </p:nvSpPr>
        <p:spPr>
          <a:xfrm>
            <a:off x="1508760" y="4480560"/>
            <a:ext cx="96012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Set the exit threshold in writing before launch</a:t>
            </a:r>
            <a:endParaRPr lang="en-US" sz="2000" dirty="0"/>
          </a:p>
        </p:txBody>
      </p:sp>
      <p:sp>
        <p:nvSpPr>
          <p:cNvPr id="16" name="Shape 14"/>
          <p:cNvSpPr/>
          <p:nvPr/>
        </p:nvSpPr>
        <p:spPr>
          <a:xfrm>
            <a:off x="731520" y="5257800"/>
            <a:ext cx="548640" cy="548640"/>
          </a:xfrm>
          <a:prstGeom prst="ellipse">
            <a:avLst/>
          </a:prstGeom>
          <a:solidFill>
            <a:srgbClr val="D9901A"/>
          </a:solidFill>
          <a:ln w="12700">
            <a:solidFill>
              <a:srgbClr val="D9901A"/>
            </a:solidFill>
            <a:prstDash val="solid"/>
          </a:ln>
        </p:spPr>
      </p:sp>
      <p:sp>
        <p:nvSpPr>
          <p:cNvPr id="17" name="Text 15"/>
          <p:cNvSpPr txBox="1"/>
          <p:nvPr/>
        </p:nvSpPr>
        <p:spPr>
          <a:xfrm>
            <a:off x="731520" y="5257800"/>
            <a:ext cx="548640" cy="548640"/>
          </a:xfrm>
          <a:prstGeom prst="rect">
            <a:avLst/>
          </a:prstGeom>
          <a:noFill/>
          <a:ln/>
        </p:spPr>
        <p:txBody>
          <a:bodyPr wrap="square" lIns="0" tIns="0" rIns="0" bIns="0" rtlCol="0" anchor="ctr"/>
          <a:lstStyle/>
          <a:p>
            <a:pPr algn="ctr" indent="0" marL="0">
              <a:buNone/>
            </a:pPr>
            <a:r>
              <a:rPr lang="en-US" sz="1560" b="1" dirty="0">
                <a:solidFill>
                  <a:srgbClr val="12302F"/>
                </a:solidFill>
                <a:latin typeface="Cambria" pitchFamily="34" charset="0"/>
                <a:ea typeface="Cambria" pitchFamily="34" charset="-122"/>
                <a:cs typeface="Cambria" pitchFamily="34" charset="-120"/>
              </a:rPr>
              <a:t>5</a:t>
            </a:r>
            <a:endParaRPr lang="en-US" sz="1560" dirty="0"/>
          </a:p>
        </p:txBody>
      </p:sp>
      <p:sp>
        <p:nvSpPr>
          <p:cNvPr id="18" name="Text 16"/>
          <p:cNvSpPr txBox="1"/>
          <p:nvPr/>
        </p:nvSpPr>
        <p:spPr>
          <a:xfrm>
            <a:off x="1508760" y="5257800"/>
            <a:ext cx="9601200" cy="5486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Require cost per completed decision from every vendor and team</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CEBE8"/>
        </a:solidFill>
      </p:bgPr>
    </p:bg>
    <p:spTree>
      <p:nvGrpSpPr>
        <p:cNvPr id="1" name=""/>
        <p:cNvGrpSpPr/>
        <p:nvPr/>
      </p:nvGrpSpPr>
      <p:grpSpPr>
        <a:xfrm>
          <a:off x="0" y="0"/>
          <a:ext cx="0" cy="0"/>
          <a:chOff x="0" y="0"/>
          <a:chExt cx="0" cy="0"/>
        </a:xfrm>
      </p:grpSpPr>
      <p:sp>
        <p:nvSpPr>
          <p:cNvPr id="2" name="Text 0"/>
          <p:cNvSpPr txBox="1"/>
          <p:nvPr/>
        </p:nvSpPr>
        <p:spPr>
          <a:xfrm>
            <a:off x="731520" y="1645920"/>
            <a:ext cx="5486400" cy="320040"/>
          </a:xfrm>
          <a:prstGeom prst="rect">
            <a:avLst/>
          </a:prstGeom>
          <a:noFill/>
          <a:ln/>
        </p:spPr>
        <p:txBody>
          <a:bodyPr wrap="square" lIns="0" tIns="0" rIns="0" bIns="0" rtlCol="0" anchor="ctr"/>
          <a:lstStyle/>
          <a:p>
            <a:pPr indent="0" marL="0">
              <a:buNone/>
            </a:pPr>
            <a:r>
              <a:rPr lang="en-US" sz="1300" b="1" spc="300" kern="0" dirty="0">
                <a:solidFill>
                  <a:srgbClr val="1F6F6B"/>
                </a:solidFill>
                <a:latin typeface="Calibri" pitchFamily="34" charset="0"/>
                <a:ea typeface="Calibri" pitchFamily="34" charset="-122"/>
                <a:cs typeface="Calibri" pitchFamily="34" charset="-120"/>
              </a:rPr>
              <a:t>APPENDIX</a:t>
            </a:r>
            <a:endParaRPr lang="en-US" sz="1300" dirty="0"/>
          </a:p>
        </p:txBody>
      </p:sp>
      <p:sp>
        <p:nvSpPr>
          <p:cNvPr id="3" name="Text 1"/>
          <p:cNvSpPr txBox="1"/>
          <p:nvPr/>
        </p:nvSpPr>
        <p:spPr>
          <a:xfrm>
            <a:off x="731520" y="2011680"/>
            <a:ext cx="10058400" cy="822960"/>
          </a:xfrm>
          <a:prstGeom prst="rect">
            <a:avLst/>
          </a:prstGeom>
          <a:noFill/>
          <a:ln/>
        </p:spPr>
        <p:txBody>
          <a:bodyPr wrap="square" lIns="0" tIns="0" rIns="0" bIns="0" rtlCol="0" anchor="ctr"/>
          <a:lstStyle/>
          <a:p>
            <a:pPr indent="0" marL="0">
              <a:buNone/>
            </a:pPr>
            <a:r>
              <a:rPr lang="en-US" sz="4000" b="1" dirty="0">
                <a:solidFill>
                  <a:srgbClr val="1E2B2A"/>
                </a:solidFill>
                <a:latin typeface="Cambria" pitchFamily="34" charset="0"/>
                <a:ea typeface="Cambria" pitchFamily="34" charset="-122"/>
                <a:cs typeface="Cambria" pitchFamily="34" charset="-120"/>
              </a:rPr>
              <a:t>Reserve slides for questions</a:t>
            </a:r>
            <a:endParaRPr lang="en-US" sz="4000" dirty="0"/>
          </a:p>
        </p:txBody>
      </p:sp>
      <p:sp>
        <p:nvSpPr>
          <p:cNvPr id="4" name="Text 2"/>
          <p:cNvSpPr txBox="1"/>
          <p:nvPr/>
        </p:nvSpPr>
        <p:spPr>
          <a:xfrm>
            <a:off x="731520" y="329184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A1  NRE roadmap</a:t>
            </a:r>
            <a:endParaRPr lang="en-US" sz="1800" dirty="0"/>
          </a:p>
        </p:txBody>
      </p:sp>
      <p:sp>
        <p:nvSpPr>
          <p:cNvPr id="5" name="Text 3"/>
          <p:cNvSpPr txBox="1"/>
          <p:nvPr/>
        </p:nvSpPr>
        <p:spPr>
          <a:xfrm>
            <a:off x="731520" y="379476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A2  Engineering J-curve</a:t>
            </a:r>
            <a:endParaRPr lang="en-US" sz="1800" dirty="0"/>
          </a:p>
        </p:txBody>
      </p:sp>
      <p:sp>
        <p:nvSpPr>
          <p:cNvPr id="6" name="Text 4"/>
          <p:cNvSpPr txBox="1"/>
          <p:nvPr/>
        </p:nvSpPr>
        <p:spPr>
          <a:xfrm>
            <a:off x="731520" y="429768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A3  Expected OpEx</a:t>
            </a:r>
            <a:endParaRPr lang="en-US" sz="1800" dirty="0"/>
          </a:p>
        </p:txBody>
      </p:sp>
      <p:sp>
        <p:nvSpPr>
          <p:cNvPr id="7" name="Text 5"/>
          <p:cNvSpPr txBox="1"/>
          <p:nvPr/>
        </p:nvSpPr>
        <p:spPr>
          <a:xfrm>
            <a:off x="731520" y="480060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A4  Cost per completed decision</a:t>
            </a:r>
            <a:endParaRPr lang="en-US" sz="1800" dirty="0"/>
          </a:p>
        </p:txBody>
      </p:sp>
      <p:sp>
        <p:nvSpPr>
          <p:cNvPr id="8" name="Text 6"/>
          <p:cNvSpPr txBox="1"/>
          <p:nvPr/>
        </p:nvSpPr>
        <p:spPr>
          <a:xfrm>
            <a:off x="5760720" y="329184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A5  Stage gates as commands</a:t>
            </a:r>
            <a:endParaRPr lang="en-US" sz="1800" dirty="0"/>
          </a:p>
        </p:txBody>
      </p:sp>
      <p:sp>
        <p:nvSpPr>
          <p:cNvPr id="9" name="Text 7"/>
          <p:cNvSpPr txBox="1"/>
          <p:nvPr/>
        </p:nvSpPr>
        <p:spPr>
          <a:xfrm>
            <a:off x="5760720" y="379476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A6  Auditability</a:t>
            </a:r>
            <a:endParaRPr lang="en-US" sz="1800" dirty="0"/>
          </a:p>
        </p:txBody>
      </p:sp>
      <p:sp>
        <p:nvSpPr>
          <p:cNvPr id="10" name="Text 8"/>
          <p:cNvSpPr txBox="1"/>
          <p:nvPr/>
        </p:nvSpPr>
        <p:spPr>
          <a:xfrm>
            <a:off x="5760720" y="429768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A7  Executive scorecard</a:t>
            </a:r>
            <a:endParaRPr lang="en-US" sz="1800" dirty="0"/>
          </a:p>
        </p:txBody>
      </p:sp>
      <p:sp>
        <p:nvSpPr>
          <p:cNvPr id="11" name="Text 9"/>
          <p:cNvSpPr txBox="1"/>
          <p:nvPr/>
        </p:nvSpPr>
        <p:spPr>
          <a:xfrm>
            <a:off x="5760720" y="4800600"/>
            <a:ext cx="4754880" cy="411480"/>
          </a:xfrm>
          <a:prstGeom prst="rect">
            <a:avLst/>
          </a:prstGeom>
          <a:noFill/>
          <a:ln/>
        </p:spPr>
        <p:txBody>
          <a:bodyPr wrap="square" lIns="0" tIns="0" rIns="0" bIns="0" rtlCol="0" anchor="ctr"/>
          <a:lstStyle/>
          <a:p>
            <a:pPr indent="0" marL="0">
              <a:buNone/>
            </a:pPr>
            <a:r>
              <a:rPr lang="en-US" sz="1800" dirty="0">
                <a:solidFill>
                  <a:srgbClr val="1E2B2A"/>
                </a:solidFill>
                <a:latin typeface="Calibri" pitchFamily="34" charset="0"/>
                <a:ea typeface="Calibri" pitchFamily="34" charset="-122"/>
                <a:cs typeface="Calibri" pitchFamily="34" charset="-120"/>
              </a:rPr>
              <a:t>A8  Review cadence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A1  |  ARTIFACT 2</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Fund the build one stage at a time</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16</a:t>
            </a:r>
            <a:endParaRPr lang="en-US" sz="900" dirty="0"/>
          </a:p>
        </p:txBody>
      </p:sp>
      <p:sp>
        <p:nvSpPr>
          <p:cNvPr id="6" name="Shape 3"/>
          <p:cNvSpPr/>
          <p:nvPr/>
        </p:nvSpPr>
        <p:spPr>
          <a:xfrm>
            <a:off x="548640" y="1783080"/>
            <a:ext cx="2697480" cy="731520"/>
          </a:xfrm>
          <a:prstGeom prst="chevron">
            <a:avLst/>
          </a:prstGeom>
          <a:solidFill>
            <a:srgbClr val="1F6F6B"/>
          </a:solidFill>
          <a:ln w="12700">
            <a:solidFill>
              <a:srgbClr val="1F6F6B"/>
            </a:solidFill>
            <a:prstDash val="solid"/>
          </a:ln>
        </p:spPr>
      </p:sp>
      <p:sp>
        <p:nvSpPr>
          <p:cNvPr id="7" name="Text 4"/>
          <p:cNvSpPr txBox="1"/>
          <p:nvPr/>
        </p:nvSpPr>
        <p:spPr>
          <a:xfrm>
            <a:off x="822960" y="1783080"/>
            <a:ext cx="21945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STAGE 1</a:t>
            </a:r>
            <a:endParaRPr lang="en-US" sz="1400" dirty="0"/>
          </a:p>
        </p:txBody>
      </p:sp>
      <p:sp>
        <p:nvSpPr>
          <p:cNvPr id="8" name="Text 5"/>
          <p:cNvSpPr txBox="1"/>
          <p:nvPr/>
        </p:nvSpPr>
        <p:spPr>
          <a:xfrm>
            <a:off x="640080" y="2743200"/>
            <a:ext cx="2514600" cy="45720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Map and baseline</a:t>
            </a:r>
            <a:endParaRPr lang="en-US" sz="1800" dirty="0"/>
          </a:p>
        </p:txBody>
      </p:sp>
      <p:sp>
        <p:nvSpPr>
          <p:cNvPr id="9" name="Text 6"/>
          <p:cNvSpPr txBox="1"/>
          <p:nvPr/>
        </p:nvSpPr>
        <p:spPr>
          <a:xfrm>
            <a:off x="640080" y="3246120"/>
            <a:ext cx="2514600" cy="9144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Workflow end to end; today's manual cost</a:t>
            </a:r>
            <a:endParaRPr lang="en-US" sz="1400" dirty="0"/>
          </a:p>
        </p:txBody>
      </p:sp>
      <p:sp>
        <p:nvSpPr>
          <p:cNvPr id="10" name="Shape 7"/>
          <p:cNvSpPr/>
          <p:nvPr/>
        </p:nvSpPr>
        <p:spPr>
          <a:xfrm>
            <a:off x="640080" y="4297680"/>
            <a:ext cx="2514600" cy="914400"/>
          </a:xfrm>
          <a:prstGeom prst="rect">
            <a:avLst/>
          </a:prstGeom>
          <a:solidFill>
            <a:srgbClr val="F3F6F5"/>
          </a:solidFill>
          <a:ln w="12700">
            <a:solidFill>
              <a:srgbClr val="F3F6F5"/>
            </a:solidFill>
            <a:prstDash val="solid"/>
          </a:ln>
        </p:spPr>
      </p:sp>
      <p:sp>
        <p:nvSpPr>
          <p:cNvPr id="11" name="Text 8"/>
          <p:cNvSpPr txBox="1"/>
          <p:nvPr/>
        </p:nvSpPr>
        <p:spPr>
          <a:xfrm>
            <a:off x="777240" y="4297680"/>
            <a:ext cx="2286000" cy="914400"/>
          </a:xfrm>
          <a:prstGeom prst="rect">
            <a:avLst/>
          </a:prstGeom>
          <a:noFill/>
          <a:ln/>
        </p:spPr>
        <p:txBody>
          <a:bodyPr wrap="square" lIns="0" tIns="0" rIns="0" bIns="0" rtlCol="0" anchor="ctr"/>
          <a:lstStyle/>
          <a:p>
            <a:pPr indent="0" marL="0">
              <a:buNone/>
            </a:pPr>
            <a:r>
              <a:rPr lang="en-US" sz="1000" b="1" dirty="0">
                <a:solidFill>
                  <a:srgbClr val="1F6F6B"/>
                </a:solidFill>
                <a:latin typeface="Calibri" pitchFamily="34" charset="0"/>
                <a:ea typeface="Calibri" pitchFamily="34" charset="-122"/>
                <a:cs typeface="Calibri" pitchFamily="34" charset="-120"/>
              </a:rPr>
              <a:t>EXIT GATE</a:t>
            </a:r>
            <a:endParaRPr lang="en-US" sz="1000" dirty="0"/>
          </a:p>
          <a:p>
            <a:pPr indent="0" marL="0">
              <a:buNone/>
            </a:pPr>
            <a:r>
              <a:rPr lang="en-US" sz="1400" dirty="0">
                <a:solidFill>
                  <a:srgbClr val="1E2B2A"/>
                </a:solidFill>
                <a:latin typeface="Calibri" pitchFamily="34" charset="0"/>
                <a:ea typeface="Calibri" pitchFamily="34" charset="-122"/>
                <a:cs typeface="Calibri" pitchFamily="34" charset="-120"/>
              </a:rPr>
              <a:t>An undisputed benchmark</a:t>
            </a:r>
            <a:endParaRPr lang="en-US" sz="1000" dirty="0"/>
          </a:p>
        </p:txBody>
      </p:sp>
      <p:sp>
        <p:nvSpPr>
          <p:cNvPr id="12" name="Shape 9"/>
          <p:cNvSpPr/>
          <p:nvPr/>
        </p:nvSpPr>
        <p:spPr>
          <a:xfrm>
            <a:off x="3383280" y="1783080"/>
            <a:ext cx="2697480" cy="731520"/>
          </a:xfrm>
          <a:prstGeom prst="chevron">
            <a:avLst/>
          </a:prstGeom>
          <a:solidFill>
            <a:srgbClr val="D9901A"/>
          </a:solidFill>
          <a:ln w="12700">
            <a:solidFill>
              <a:srgbClr val="D9901A"/>
            </a:solidFill>
            <a:prstDash val="solid"/>
          </a:ln>
        </p:spPr>
      </p:sp>
      <p:sp>
        <p:nvSpPr>
          <p:cNvPr id="13" name="Text 10"/>
          <p:cNvSpPr txBox="1"/>
          <p:nvPr/>
        </p:nvSpPr>
        <p:spPr>
          <a:xfrm>
            <a:off x="3657600" y="1783080"/>
            <a:ext cx="2194560" cy="731520"/>
          </a:xfrm>
          <a:prstGeom prst="rect">
            <a:avLst/>
          </a:prstGeom>
          <a:noFill/>
          <a:ln/>
        </p:spPr>
        <p:txBody>
          <a:bodyPr wrap="square" lIns="0" tIns="0" rIns="0" bIns="0" rtlCol="0" anchor="ctr"/>
          <a:lstStyle/>
          <a:p>
            <a:pPr algn="ctr" indent="0" marL="0">
              <a:buNone/>
            </a:pPr>
            <a:r>
              <a:rPr lang="en-US" sz="1400" b="1" dirty="0">
                <a:solidFill>
                  <a:srgbClr val="12302F"/>
                </a:solidFill>
                <a:latin typeface="Calibri" pitchFamily="34" charset="0"/>
                <a:ea typeface="Calibri" pitchFamily="34" charset="-122"/>
                <a:cs typeface="Calibri" pitchFamily="34" charset="-120"/>
              </a:rPr>
              <a:t>STAGE 2</a:t>
            </a:r>
            <a:endParaRPr lang="en-US" sz="1400" dirty="0"/>
          </a:p>
        </p:txBody>
      </p:sp>
      <p:sp>
        <p:nvSpPr>
          <p:cNvPr id="14" name="Text 11"/>
          <p:cNvSpPr txBox="1"/>
          <p:nvPr/>
        </p:nvSpPr>
        <p:spPr>
          <a:xfrm>
            <a:off x="3474720" y="2743200"/>
            <a:ext cx="2514600" cy="45720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Decompose the process</a:t>
            </a:r>
            <a:endParaRPr lang="en-US" sz="1800" dirty="0"/>
          </a:p>
        </p:txBody>
      </p:sp>
      <p:sp>
        <p:nvSpPr>
          <p:cNvPr id="15" name="Text 12"/>
          <p:cNvSpPr txBox="1"/>
          <p:nvPr/>
        </p:nvSpPr>
        <p:spPr>
          <a:xfrm>
            <a:off x="3474720" y="3246120"/>
            <a:ext cx="2514600" cy="9144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Rules separated from judgment; guardrails embedded</a:t>
            </a:r>
            <a:endParaRPr lang="en-US" sz="1400" dirty="0"/>
          </a:p>
        </p:txBody>
      </p:sp>
      <p:sp>
        <p:nvSpPr>
          <p:cNvPr id="16" name="Shape 13"/>
          <p:cNvSpPr/>
          <p:nvPr/>
        </p:nvSpPr>
        <p:spPr>
          <a:xfrm>
            <a:off x="3474720" y="4297680"/>
            <a:ext cx="2514600" cy="914400"/>
          </a:xfrm>
          <a:prstGeom prst="rect">
            <a:avLst/>
          </a:prstGeom>
          <a:solidFill>
            <a:srgbClr val="F3F6F5"/>
          </a:solidFill>
          <a:ln w="12700">
            <a:solidFill>
              <a:srgbClr val="F3F6F5"/>
            </a:solidFill>
            <a:prstDash val="solid"/>
          </a:ln>
        </p:spPr>
      </p:sp>
      <p:sp>
        <p:nvSpPr>
          <p:cNvPr id="17" name="Text 14"/>
          <p:cNvSpPr txBox="1"/>
          <p:nvPr/>
        </p:nvSpPr>
        <p:spPr>
          <a:xfrm>
            <a:off x="3611880" y="4297680"/>
            <a:ext cx="2286000" cy="914400"/>
          </a:xfrm>
          <a:prstGeom prst="rect">
            <a:avLst/>
          </a:prstGeom>
          <a:noFill/>
          <a:ln/>
        </p:spPr>
        <p:txBody>
          <a:bodyPr wrap="square" lIns="0" tIns="0" rIns="0" bIns="0" rtlCol="0" anchor="ctr"/>
          <a:lstStyle/>
          <a:p>
            <a:pPr indent="0" marL="0">
              <a:buNone/>
            </a:pPr>
            <a:r>
              <a:rPr lang="en-US" sz="1000" b="1" dirty="0">
                <a:solidFill>
                  <a:srgbClr val="1F6F6B"/>
                </a:solidFill>
                <a:latin typeface="Calibri" pitchFamily="34" charset="0"/>
                <a:ea typeface="Calibri" pitchFamily="34" charset="-122"/>
                <a:cs typeface="Calibri" pitchFamily="34" charset="-120"/>
              </a:rPr>
              <a:t>EXIT GATE</a:t>
            </a:r>
            <a:endParaRPr lang="en-US" sz="1000" dirty="0"/>
          </a:p>
          <a:p>
            <a:pPr indent="0" marL="0">
              <a:buNone/>
            </a:pPr>
            <a:r>
              <a:rPr lang="en-US" sz="1400" dirty="0">
                <a:solidFill>
                  <a:srgbClr val="1E2B2A"/>
                </a:solidFill>
                <a:latin typeface="Calibri" pitchFamily="34" charset="0"/>
                <a:ea typeface="Calibri" pitchFamily="34" charset="-122"/>
                <a:cs typeface="Calibri" pitchFamily="34" charset="-120"/>
              </a:rPr>
              <a:t>A validated architecture</a:t>
            </a:r>
            <a:endParaRPr lang="en-US" sz="1000" dirty="0"/>
          </a:p>
        </p:txBody>
      </p:sp>
      <p:sp>
        <p:nvSpPr>
          <p:cNvPr id="18" name="Shape 15"/>
          <p:cNvSpPr/>
          <p:nvPr/>
        </p:nvSpPr>
        <p:spPr>
          <a:xfrm>
            <a:off x="6217920" y="1783080"/>
            <a:ext cx="2697480" cy="731520"/>
          </a:xfrm>
          <a:prstGeom prst="chevron">
            <a:avLst/>
          </a:prstGeom>
          <a:solidFill>
            <a:srgbClr val="1F6F6B"/>
          </a:solidFill>
          <a:ln w="12700">
            <a:solidFill>
              <a:srgbClr val="1F6F6B"/>
            </a:solidFill>
            <a:prstDash val="solid"/>
          </a:ln>
        </p:spPr>
      </p:sp>
      <p:sp>
        <p:nvSpPr>
          <p:cNvPr id="19" name="Text 16"/>
          <p:cNvSpPr txBox="1"/>
          <p:nvPr/>
        </p:nvSpPr>
        <p:spPr>
          <a:xfrm>
            <a:off x="6492240" y="1783080"/>
            <a:ext cx="21945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STAGE 3</a:t>
            </a:r>
            <a:endParaRPr lang="en-US" sz="1400" dirty="0"/>
          </a:p>
        </p:txBody>
      </p:sp>
      <p:sp>
        <p:nvSpPr>
          <p:cNvPr id="20" name="Text 17"/>
          <p:cNvSpPr txBox="1"/>
          <p:nvPr/>
        </p:nvSpPr>
        <p:spPr>
          <a:xfrm>
            <a:off x="6309360" y="2743200"/>
            <a:ext cx="2514600" cy="45720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Build the harness</a:t>
            </a:r>
            <a:endParaRPr lang="en-US" sz="1800" dirty="0"/>
          </a:p>
        </p:txBody>
      </p:sp>
      <p:sp>
        <p:nvSpPr>
          <p:cNvPr id="21" name="Text 18"/>
          <p:cNvSpPr txBox="1"/>
          <p:nvPr/>
        </p:nvSpPr>
        <p:spPr>
          <a:xfrm>
            <a:off x="6309360" y="3246120"/>
            <a:ext cx="2514600" cy="9144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Automated checks and the evidence store</a:t>
            </a:r>
            <a:endParaRPr lang="en-US" sz="1400" dirty="0"/>
          </a:p>
        </p:txBody>
      </p:sp>
      <p:sp>
        <p:nvSpPr>
          <p:cNvPr id="22" name="Shape 19"/>
          <p:cNvSpPr/>
          <p:nvPr/>
        </p:nvSpPr>
        <p:spPr>
          <a:xfrm>
            <a:off x="6309360" y="4297680"/>
            <a:ext cx="2514600" cy="914400"/>
          </a:xfrm>
          <a:prstGeom prst="rect">
            <a:avLst/>
          </a:prstGeom>
          <a:solidFill>
            <a:srgbClr val="F3F6F5"/>
          </a:solidFill>
          <a:ln w="12700">
            <a:solidFill>
              <a:srgbClr val="F3F6F5"/>
            </a:solidFill>
            <a:prstDash val="solid"/>
          </a:ln>
        </p:spPr>
      </p:sp>
      <p:sp>
        <p:nvSpPr>
          <p:cNvPr id="23" name="Text 20"/>
          <p:cNvSpPr txBox="1"/>
          <p:nvPr/>
        </p:nvSpPr>
        <p:spPr>
          <a:xfrm>
            <a:off x="6446520" y="4297680"/>
            <a:ext cx="2286000" cy="914400"/>
          </a:xfrm>
          <a:prstGeom prst="rect">
            <a:avLst/>
          </a:prstGeom>
          <a:noFill/>
          <a:ln/>
        </p:spPr>
        <p:txBody>
          <a:bodyPr wrap="square" lIns="0" tIns="0" rIns="0" bIns="0" rtlCol="0" anchor="ctr"/>
          <a:lstStyle/>
          <a:p>
            <a:pPr indent="0" marL="0">
              <a:buNone/>
            </a:pPr>
            <a:r>
              <a:rPr lang="en-US" sz="1000" b="1" dirty="0">
                <a:solidFill>
                  <a:srgbClr val="1F6F6B"/>
                </a:solidFill>
                <a:latin typeface="Calibri" pitchFamily="34" charset="0"/>
                <a:ea typeface="Calibri" pitchFamily="34" charset="-122"/>
                <a:cs typeface="Calibri" pitchFamily="34" charset="-120"/>
              </a:rPr>
              <a:t>EXIT GATE</a:t>
            </a:r>
            <a:endParaRPr lang="en-US" sz="1000" dirty="0"/>
          </a:p>
          <a:p>
            <a:pPr indent="0" marL="0">
              <a:buNone/>
            </a:pPr>
            <a:r>
              <a:rPr lang="en-US" sz="1400" dirty="0">
                <a:solidFill>
                  <a:srgbClr val="1E2B2A"/>
                </a:solidFill>
                <a:latin typeface="Calibri" pitchFamily="34" charset="0"/>
                <a:ea typeface="Calibri" pitchFamily="34" charset="-122"/>
                <a:cs typeface="Calibri" pitchFamily="34" charset="-120"/>
              </a:rPr>
              <a:t>It runs and enforces the logic</a:t>
            </a:r>
            <a:endParaRPr lang="en-US" sz="1000" dirty="0"/>
          </a:p>
        </p:txBody>
      </p:sp>
      <p:sp>
        <p:nvSpPr>
          <p:cNvPr id="24" name="Shape 21"/>
          <p:cNvSpPr/>
          <p:nvPr/>
        </p:nvSpPr>
        <p:spPr>
          <a:xfrm>
            <a:off x="9052560" y="1783080"/>
            <a:ext cx="2697480" cy="731520"/>
          </a:xfrm>
          <a:prstGeom prst="chevron">
            <a:avLst/>
          </a:prstGeom>
          <a:solidFill>
            <a:srgbClr val="1F6F6B"/>
          </a:solidFill>
          <a:ln w="12700">
            <a:solidFill>
              <a:srgbClr val="1F6F6B"/>
            </a:solidFill>
            <a:prstDash val="solid"/>
          </a:ln>
        </p:spPr>
      </p:sp>
      <p:sp>
        <p:nvSpPr>
          <p:cNvPr id="25" name="Text 22"/>
          <p:cNvSpPr txBox="1"/>
          <p:nvPr/>
        </p:nvSpPr>
        <p:spPr>
          <a:xfrm>
            <a:off x="9326880" y="1783080"/>
            <a:ext cx="219456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STAGE 4</a:t>
            </a:r>
            <a:endParaRPr lang="en-US" sz="1400" dirty="0"/>
          </a:p>
        </p:txBody>
      </p:sp>
      <p:sp>
        <p:nvSpPr>
          <p:cNvPr id="26" name="Text 23"/>
          <p:cNvSpPr txBox="1"/>
          <p:nvPr/>
        </p:nvSpPr>
        <p:spPr>
          <a:xfrm>
            <a:off x="9144000" y="2743200"/>
            <a:ext cx="2514600" cy="45720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Scale to autonomy</a:t>
            </a:r>
            <a:endParaRPr lang="en-US" sz="1800" dirty="0"/>
          </a:p>
        </p:txBody>
      </p:sp>
      <p:sp>
        <p:nvSpPr>
          <p:cNvPr id="27" name="Text 24"/>
          <p:cNvSpPr txBox="1"/>
          <p:nvPr/>
        </p:nvSpPr>
        <p:spPr>
          <a:xfrm>
            <a:off x="9144000" y="3246120"/>
            <a:ext cx="2514600" cy="9144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Human in the loop, then autonomous execution</a:t>
            </a:r>
            <a:endParaRPr lang="en-US" sz="1400" dirty="0"/>
          </a:p>
        </p:txBody>
      </p:sp>
      <p:sp>
        <p:nvSpPr>
          <p:cNvPr id="28" name="Shape 25"/>
          <p:cNvSpPr/>
          <p:nvPr/>
        </p:nvSpPr>
        <p:spPr>
          <a:xfrm>
            <a:off x="9144000" y="4297680"/>
            <a:ext cx="2514600" cy="914400"/>
          </a:xfrm>
          <a:prstGeom prst="rect">
            <a:avLst/>
          </a:prstGeom>
          <a:solidFill>
            <a:srgbClr val="F3F6F5"/>
          </a:solidFill>
          <a:ln w="12700">
            <a:solidFill>
              <a:srgbClr val="F3F6F5"/>
            </a:solidFill>
            <a:prstDash val="solid"/>
          </a:ln>
        </p:spPr>
      </p:sp>
      <p:sp>
        <p:nvSpPr>
          <p:cNvPr id="29" name="Text 26"/>
          <p:cNvSpPr txBox="1"/>
          <p:nvPr/>
        </p:nvSpPr>
        <p:spPr>
          <a:xfrm>
            <a:off x="9281160" y="4297680"/>
            <a:ext cx="2286000" cy="914400"/>
          </a:xfrm>
          <a:prstGeom prst="rect">
            <a:avLst/>
          </a:prstGeom>
          <a:noFill/>
          <a:ln/>
        </p:spPr>
        <p:txBody>
          <a:bodyPr wrap="square" lIns="0" tIns="0" rIns="0" bIns="0" rtlCol="0" anchor="ctr"/>
          <a:lstStyle/>
          <a:p>
            <a:pPr indent="0" marL="0">
              <a:buNone/>
            </a:pPr>
            <a:r>
              <a:rPr lang="en-US" sz="1000" b="1" dirty="0">
                <a:solidFill>
                  <a:srgbClr val="1F6F6B"/>
                </a:solidFill>
                <a:latin typeface="Calibri" pitchFamily="34" charset="0"/>
                <a:ea typeface="Calibri" pitchFamily="34" charset="-122"/>
                <a:cs typeface="Calibri" pitchFamily="34" charset="-120"/>
              </a:rPr>
              <a:t>EXIT GATE</a:t>
            </a:r>
            <a:endParaRPr lang="en-US" sz="1000" dirty="0"/>
          </a:p>
          <a:p>
            <a:pPr indent="0" marL="0">
              <a:buNone/>
            </a:pPr>
            <a:r>
              <a:rPr lang="en-US" sz="1400" dirty="0">
                <a:solidFill>
                  <a:srgbClr val="1E2B2A"/>
                </a:solidFill>
                <a:latin typeface="Calibri" pitchFamily="34" charset="0"/>
                <a:ea typeface="Calibri" pitchFamily="34" charset="-122"/>
                <a:cs typeface="Calibri" pitchFamily="34" charset="-120"/>
              </a:rPr>
              <a:t>Target throughput reached</a:t>
            </a:r>
            <a:endParaRPr lang="en-US" sz="1000" dirty="0"/>
          </a:p>
        </p:txBody>
      </p:sp>
      <p:sp>
        <p:nvSpPr>
          <p:cNvPr id="30" name="Shape 27"/>
          <p:cNvSpPr/>
          <p:nvPr/>
        </p:nvSpPr>
        <p:spPr>
          <a:xfrm>
            <a:off x="548640" y="5669280"/>
            <a:ext cx="11091672" cy="566928"/>
          </a:xfrm>
          <a:prstGeom prst="rect">
            <a:avLst/>
          </a:prstGeom>
          <a:solidFill>
            <a:srgbClr val="F3F6F5"/>
          </a:solidFill>
          <a:ln w="12700">
            <a:solidFill>
              <a:srgbClr val="F3F6F5"/>
            </a:solidFill>
            <a:prstDash val="solid"/>
          </a:ln>
        </p:spPr>
      </p:sp>
      <p:sp>
        <p:nvSpPr>
          <p:cNvPr id="31" name="Text 28"/>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A market or model change reopens stage 2 </a:t>
            </a:r>
            <a:pPr indent="0" marL="0">
              <a:buNone/>
            </a:pPr>
            <a:r>
              <a:rPr lang="en-US" sz="1500" dirty="0">
                <a:solidFill>
                  <a:srgbClr val="1E2B2A"/>
                </a:solidFill>
                <a:latin typeface="Calibri" pitchFamily="34" charset="0"/>
                <a:ea typeface="Calibri" pitchFamily="34" charset="-122"/>
                <a:cs typeface="Calibri" pitchFamily="34" charset="-120"/>
              </a:rPr>
              <a:t>by design, not by exception.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A2  |  ARTIFACT 2 CONTINUED</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Protect the capacity that builds the harness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17</a:t>
            </a:r>
            <a:endParaRPr lang="en-US" sz="900" dirty="0"/>
          </a:p>
        </p:txBody>
      </p:sp>
      <p:graphicFrame>
        <p:nvGraphicFramePr>
          <p:cNvPr id="6" name="Chart 0" descr=""/>
          <p:cNvGraphicFramePr/>
          <p:nvPr/>
        </p:nvGraphicFramePr>
        <p:xfrm>
          <a:off x="548640" y="1691640"/>
          <a:ext cx="5669280" cy="37490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583680" y="1783080"/>
            <a:ext cx="548640" cy="548640"/>
          </a:xfrm>
          <a:prstGeom prst="ellipse">
            <a:avLst/>
          </a:prstGeom>
          <a:solidFill>
            <a:srgbClr val="1F6F6B"/>
          </a:solidFill>
          <a:ln w="12700">
            <a:solidFill>
              <a:srgbClr val="1F6F6B"/>
            </a:solidFill>
            <a:prstDash val="solid"/>
          </a:ln>
        </p:spPr>
      </p:sp>
      <p:sp>
        <p:nvSpPr>
          <p:cNvPr id="8" name="Text 4"/>
          <p:cNvSpPr txBox="1"/>
          <p:nvPr/>
        </p:nvSpPr>
        <p:spPr>
          <a:xfrm>
            <a:off x="6583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1</a:t>
            </a:r>
            <a:endParaRPr lang="en-US" sz="1560" dirty="0"/>
          </a:p>
        </p:txBody>
      </p:sp>
      <p:sp>
        <p:nvSpPr>
          <p:cNvPr id="9" name="Text 5"/>
          <p:cNvSpPr txBox="1"/>
          <p:nvPr/>
        </p:nvSpPr>
        <p:spPr>
          <a:xfrm>
            <a:off x="7315200" y="1764792"/>
            <a:ext cx="4297680" cy="36576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Invest through the dip</a:t>
            </a:r>
            <a:endParaRPr lang="en-US" sz="1700" dirty="0"/>
          </a:p>
        </p:txBody>
      </p:sp>
      <p:sp>
        <p:nvSpPr>
          <p:cNvPr id="10" name="Text 6"/>
          <p:cNvSpPr txBox="1"/>
          <p:nvPr/>
        </p:nvSpPr>
        <p:spPr>
          <a:xfrm>
            <a:off x="7315200" y="2148840"/>
            <a:ext cx="429768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Learning harness patterns slows short-term features. Win NRE air cover.</a:t>
            </a:r>
            <a:endParaRPr lang="en-US" sz="1300" dirty="0"/>
          </a:p>
        </p:txBody>
      </p:sp>
      <p:sp>
        <p:nvSpPr>
          <p:cNvPr id="11" name="Shape 7"/>
          <p:cNvSpPr/>
          <p:nvPr/>
        </p:nvSpPr>
        <p:spPr>
          <a:xfrm>
            <a:off x="6583680" y="3017520"/>
            <a:ext cx="548640" cy="548640"/>
          </a:xfrm>
          <a:prstGeom prst="ellipse">
            <a:avLst/>
          </a:prstGeom>
          <a:solidFill>
            <a:srgbClr val="1F6F6B"/>
          </a:solidFill>
          <a:ln w="12700">
            <a:solidFill>
              <a:srgbClr val="1F6F6B"/>
            </a:solidFill>
            <a:prstDash val="solid"/>
          </a:ln>
        </p:spPr>
      </p:sp>
      <p:sp>
        <p:nvSpPr>
          <p:cNvPr id="12" name="Text 8"/>
          <p:cNvSpPr txBox="1"/>
          <p:nvPr/>
        </p:nvSpPr>
        <p:spPr>
          <a:xfrm>
            <a:off x="6583680" y="301752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mbria" pitchFamily="34" charset="0"/>
                <a:ea typeface="Cambria" pitchFamily="34" charset="-122"/>
                <a:cs typeface="Cambria" pitchFamily="34" charset="-120"/>
              </a:rPr>
              <a:t>2</a:t>
            </a:r>
            <a:endParaRPr lang="en-US" sz="1560" dirty="0"/>
          </a:p>
        </p:txBody>
      </p:sp>
      <p:sp>
        <p:nvSpPr>
          <p:cNvPr id="13" name="Text 9"/>
          <p:cNvSpPr txBox="1"/>
          <p:nvPr/>
        </p:nvSpPr>
        <p:spPr>
          <a:xfrm>
            <a:off x="7315200" y="2999232"/>
            <a:ext cx="4297680" cy="36576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Fund reusable assets</a:t>
            </a:r>
            <a:endParaRPr lang="en-US" sz="1700" dirty="0"/>
          </a:p>
        </p:txBody>
      </p:sp>
      <p:sp>
        <p:nvSpPr>
          <p:cNvPr id="14" name="Text 10"/>
          <p:cNvSpPr txBox="1"/>
          <p:nvPr/>
        </p:nvSpPr>
        <p:spPr>
          <a:xfrm>
            <a:off x="7315200" y="3383280"/>
            <a:ext cx="429768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Ad hoc scripts create debt. Reusable standards and guardrail harnesses capture IP.</a:t>
            </a:r>
            <a:endParaRPr lang="en-US" sz="1300" dirty="0"/>
          </a:p>
        </p:txBody>
      </p:sp>
      <p:sp>
        <p:nvSpPr>
          <p:cNvPr id="15" name="Shape 11"/>
          <p:cNvSpPr/>
          <p:nvPr/>
        </p:nvSpPr>
        <p:spPr>
          <a:xfrm>
            <a:off x="6583680" y="4251960"/>
            <a:ext cx="548640" cy="548640"/>
          </a:xfrm>
          <a:prstGeom prst="ellipse">
            <a:avLst/>
          </a:prstGeom>
          <a:solidFill>
            <a:srgbClr val="D9901A"/>
          </a:solidFill>
          <a:ln w="12700">
            <a:solidFill>
              <a:srgbClr val="D9901A"/>
            </a:solidFill>
            <a:prstDash val="solid"/>
          </a:ln>
        </p:spPr>
      </p:sp>
      <p:sp>
        <p:nvSpPr>
          <p:cNvPr id="16" name="Text 12"/>
          <p:cNvSpPr txBox="1"/>
          <p:nvPr/>
        </p:nvSpPr>
        <p:spPr>
          <a:xfrm>
            <a:off x="6583680" y="4251960"/>
            <a:ext cx="548640" cy="548640"/>
          </a:xfrm>
          <a:prstGeom prst="rect">
            <a:avLst/>
          </a:prstGeom>
          <a:noFill/>
          <a:ln/>
        </p:spPr>
        <p:txBody>
          <a:bodyPr wrap="square" lIns="0" tIns="0" rIns="0" bIns="0" rtlCol="0" anchor="ctr"/>
          <a:lstStyle/>
          <a:p>
            <a:pPr algn="ctr" indent="0" marL="0">
              <a:buNone/>
            </a:pPr>
            <a:r>
              <a:rPr lang="en-US" sz="1560" b="1" dirty="0">
                <a:solidFill>
                  <a:srgbClr val="12302F"/>
                </a:solidFill>
                <a:latin typeface="Cambria" pitchFamily="34" charset="0"/>
                <a:ea typeface="Cambria" pitchFamily="34" charset="-122"/>
                <a:cs typeface="Cambria" pitchFamily="34" charset="-120"/>
              </a:rPr>
              <a:t>3</a:t>
            </a:r>
            <a:endParaRPr lang="en-US" sz="1560" dirty="0"/>
          </a:p>
        </p:txBody>
      </p:sp>
      <p:sp>
        <p:nvSpPr>
          <p:cNvPr id="17" name="Text 13"/>
          <p:cNvSpPr txBox="1"/>
          <p:nvPr/>
        </p:nvSpPr>
        <p:spPr>
          <a:xfrm>
            <a:off x="7315200" y="4233672"/>
            <a:ext cx="4297680" cy="365760"/>
          </a:xfrm>
          <a:prstGeom prst="rect">
            <a:avLst/>
          </a:prstGeom>
          <a:noFill/>
          <a:ln/>
        </p:spPr>
        <p:txBody>
          <a:bodyPr wrap="square" lIns="0" tIns="0" rIns="0" bIns="0" rtlCol="0" anchor="ctr"/>
          <a:lstStyle/>
          <a:p>
            <a:pPr indent="0" marL="0">
              <a:buNone/>
            </a:pPr>
            <a:r>
              <a:rPr lang="en-US" sz="1700" b="1" dirty="0">
                <a:solidFill>
                  <a:srgbClr val="1E2B2A"/>
                </a:solidFill>
                <a:latin typeface="Cambria" pitchFamily="34" charset="0"/>
                <a:ea typeface="Cambria" pitchFamily="34" charset="-122"/>
                <a:cs typeface="Cambria" pitchFamily="34" charset="-120"/>
              </a:rPr>
              <a:t>Collect the exchange rate</a:t>
            </a:r>
            <a:endParaRPr lang="en-US" sz="1700" dirty="0"/>
          </a:p>
        </p:txBody>
      </p:sp>
      <p:sp>
        <p:nvSpPr>
          <p:cNvPr id="18" name="Text 14"/>
          <p:cNvSpPr txBox="1"/>
          <p:nvPr/>
        </p:nvSpPr>
        <p:spPr>
          <a:xfrm>
            <a:off x="7315200" y="4617720"/>
            <a:ext cx="4297680" cy="685800"/>
          </a:xfrm>
          <a:prstGeom prst="rect">
            <a:avLst/>
          </a:prstGeom>
          <a:noFill/>
          <a:ln/>
        </p:spPr>
        <p:txBody>
          <a:bodyPr wrap="square" lIns="0" tIns="0" rIns="0" bIns="0" rtlCol="0" anchor="t"/>
          <a:lstStyle/>
          <a:p>
            <a:pPr indent="0" marL="0">
              <a:buNone/>
            </a:pPr>
            <a:r>
              <a:rPr lang="en-US" sz="1300" dirty="0">
                <a:solidFill>
                  <a:srgbClr val="5E6B6A"/>
                </a:solidFill>
                <a:latin typeface="Calibri" pitchFamily="34" charset="0"/>
                <a:ea typeface="Calibri" pitchFamily="34" charset="-122"/>
                <a:cs typeface="Calibri" pitchFamily="34" charset="-120"/>
              </a:rPr>
              <a:t>Tooling compresses stages 2 and 3: described process to validated design in seconds.</a:t>
            </a:r>
            <a:endParaRPr lang="en-US" sz="1300" dirty="0"/>
          </a:p>
        </p:txBody>
      </p:sp>
      <p:sp>
        <p:nvSpPr>
          <p:cNvPr id="19" name="Shape 15"/>
          <p:cNvSpPr/>
          <p:nvPr/>
        </p:nvSpPr>
        <p:spPr>
          <a:xfrm>
            <a:off x="548640" y="5669280"/>
            <a:ext cx="11091672" cy="566928"/>
          </a:xfrm>
          <a:prstGeom prst="rect">
            <a:avLst/>
          </a:prstGeom>
          <a:solidFill>
            <a:srgbClr val="F3F6F5"/>
          </a:solidFill>
          <a:ln w="12700">
            <a:solidFill>
              <a:srgbClr val="F3F6F5"/>
            </a:solidFill>
            <a:prstDash val="solid"/>
          </a:ln>
        </p:spPr>
      </p:sp>
      <p:sp>
        <p:nvSpPr>
          <p:cNvPr id="20" name="Text 16"/>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Replace “do more with less” with structural leverage: </a:t>
            </a:r>
            <a:pPr indent="0" marL="0">
              <a:buNone/>
            </a:pPr>
            <a:r>
              <a:rPr lang="en-US" sz="1500" dirty="0">
                <a:solidFill>
                  <a:srgbClr val="1E2B2A"/>
                </a:solidFill>
                <a:latin typeface="Calibri" pitchFamily="34" charset="0"/>
                <a:ea typeface="Calibri" pitchFamily="34" charset="-122"/>
                <a:cs typeface="Calibri" pitchFamily="34" charset="-120"/>
              </a:rPr>
              <a:t>buy the time to build the harness.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A3  |  ARTIFACT 3</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Expected OpEx: tokens and oversight as one equation</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18</a:t>
            </a:r>
            <a:endParaRPr lang="en-US" sz="900" dirty="0"/>
          </a:p>
        </p:txBody>
      </p:sp>
      <p:sp>
        <p:nvSpPr>
          <p:cNvPr id="6" name="Shape 3"/>
          <p:cNvSpPr/>
          <p:nvPr/>
        </p:nvSpPr>
        <p:spPr>
          <a:xfrm>
            <a:off x="548640" y="1737360"/>
            <a:ext cx="11091672" cy="1005840"/>
          </a:xfrm>
          <a:prstGeom prst="rect">
            <a:avLst/>
          </a:prstGeom>
          <a:solidFill>
            <a:srgbClr val="12302F"/>
          </a:solidFill>
          <a:ln w="12700">
            <a:solidFill>
              <a:srgbClr val="12302F"/>
            </a:solidFill>
            <a:prstDash val="solid"/>
          </a:ln>
        </p:spPr>
      </p:sp>
      <p:sp>
        <p:nvSpPr>
          <p:cNvPr id="7" name="Text 4"/>
          <p:cNvSpPr txBox="1"/>
          <p:nvPr/>
        </p:nvSpPr>
        <p:spPr>
          <a:xfrm>
            <a:off x="731520" y="1737360"/>
            <a:ext cx="1069848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units × [ token cost + (review minutes × loaded rate) ] + fixed platform + assurance</a:t>
            </a:r>
            <a:endParaRPr lang="en-US" sz="1600" dirty="0"/>
          </a:p>
        </p:txBody>
      </p:sp>
      <p:sp>
        <p:nvSpPr>
          <p:cNvPr id="8" name="Shape 5"/>
          <p:cNvSpPr/>
          <p:nvPr/>
        </p:nvSpPr>
        <p:spPr>
          <a:xfrm>
            <a:off x="548640" y="3017520"/>
            <a:ext cx="2651760" cy="2331720"/>
          </a:xfrm>
          <a:prstGeom prst="rect">
            <a:avLst/>
          </a:prstGeom>
          <a:solidFill>
            <a:srgbClr val="F3F6F5"/>
          </a:solidFill>
          <a:ln w="12700">
            <a:solidFill>
              <a:srgbClr val="F3F6F5"/>
            </a:solidFill>
            <a:prstDash val="solid"/>
          </a:ln>
        </p:spPr>
      </p:sp>
      <p:sp>
        <p:nvSpPr>
          <p:cNvPr id="9" name="Text 6"/>
          <p:cNvSpPr txBox="1"/>
          <p:nvPr/>
        </p:nvSpPr>
        <p:spPr>
          <a:xfrm>
            <a:off x="777240" y="3200400"/>
            <a:ext cx="219456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Tokens</a:t>
            </a:r>
            <a:endParaRPr lang="en-US" sz="1800" dirty="0"/>
          </a:p>
        </p:txBody>
      </p:sp>
      <p:sp>
        <p:nvSpPr>
          <p:cNvPr id="10" name="Text 7"/>
          <p:cNvSpPr txBox="1"/>
          <p:nvPr/>
        </p:nvSpPr>
        <p:spPr>
          <a:xfrm>
            <a:off x="777240" y="3657600"/>
            <a:ext cx="2194560" cy="155448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Four meters: input, output, reasoning, cached prompt. Precise metering makes the line predictable.</a:t>
            </a:r>
            <a:endParaRPr lang="en-US" sz="1400" dirty="0"/>
          </a:p>
        </p:txBody>
      </p:sp>
      <p:sp>
        <p:nvSpPr>
          <p:cNvPr id="11" name="Shape 8"/>
          <p:cNvSpPr/>
          <p:nvPr/>
        </p:nvSpPr>
        <p:spPr>
          <a:xfrm>
            <a:off x="3383280" y="3017520"/>
            <a:ext cx="2651760" cy="2331720"/>
          </a:xfrm>
          <a:prstGeom prst="rect">
            <a:avLst/>
          </a:prstGeom>
          <a:solidFill>
            <a:srgbClr val="F3F6F5"/>
          </a:solidFill>
          <a:ln w="12700">
            <a:solidFill>
              <a:srgbClr val="F3F6F5"/>
            </a:solidFill>
            <a:prstDash val="solid"/>
          </a:ln>
        </p:spPr>
      </p:sp>
      <p:sp>
        <p:nvSpPr>
          <p:cNvPr id="12" name="Text 9"/>
          <p:cNvSpPr txBox="1"/>
          <p:nvPr/>
        </p:nvSpPr>
        <p:spPr>
          <a:xfrm>
            <a:off x="3611880" y="3200400"/>
            <a:ext cx="219456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Reviewers</a:t>
            </a:r>
            <a:endParaRPr lang="en-US" sz="1800" dirty="0"/>
          </a:p>
        </p:txBody>
      </p:sp>
      <p:sp>
        <p:nvSpPr>
          <p:cNvPr id="13" name="Text 10"/>
          <p:cNvSpPr txBox="1"/>
          <p:nvPr/>
        </p:nvSpPr>
        <p:spPr>
          <a:xfrm>
            <a:off x="3611880" y="3657600"/>
            <a:ext cx="2194560" cy="155448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Reviewers direct throughput rather than perform the work.</a:t>
            </a:r>
            <a:endParaRPr lang="en-US" sz="1400" dirty="0"/>
          </a:p>
        </p:txBody>
      </p:sp>
      <p:sp>
        <p:nvSpPr>
          <p:cNvPr id="14" name="Shape 11"/>
          <p:cNvSpPr/>
          <p:nvPr/>
        </p:nvSpPr>
        <p:spPr>
          <a:xfrm>
            <a:off x="6217920" y="3017520"/>
            <a:ext cx="2651760" cy="2331720"/>
          </a:xfrm>
          <a:prstGeom prst="rect">
            <a:avLst/>
          </a:prstGeom>
          <a:solidFill>
            <a:srgbClr val="F3F6F5"/>
          </a:solidFill>
          <a:ln w="12700">
            <a:solidFill>
              <a:srgbClr val="F3F6F5"/>
            </a:solidFill>
            <a:prstDash val="solid"/>
          </a:ln>
        </p:spPr>
      </p:sp>
      <p:sp>
        <p:nvSpPr>
          <p:cNvPr id="15" name="Text 12"/>
          <p:cNvSpPr txBox="1"/>
          <p:nvPr/>
        </p:nvSpPr>
        <p:spPr>
          <a:xfrm>
            <a:off x="6446520" y="3200400"/>
            <a:ext cx="219456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Volume</a:t>
            </a:r>
            <a:endParaRPr lang="en-US" sz="1800" dirty="0"/>
          </a:p>
        </p:txBody>
      </p:sp>
      <p:sp>
        <p:nvSpPr>
          <p:cNvPr id="16" name="Text 13"/>
          <p:cNvSpPr txBox="1"/>
          <p:nvPr/>
        </p:nvSpPr>
        <p:spPr>
          <a:xfrm>
            <a:off x="6446520" y="3657600"/>
            <a:ext cx="2194560" cy="155448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As unit cost falls, volume rises. Plan for throughput growth, not only the rate.</a:t>
            </a:r>
            <a:endParaRPr lang="en-US" sz="1400" dirty="0"/>
          </a:p>
        </p:txBody>
      </p:sp>
      <p:sp>
        <p:nvSpPr>
          <p:cNvPr id="17" name="Shape 14"/>
          <p:cNvSpPr/>
          <p:nvPr/>
        </p:nvSpPr>
        <p:spPr>
          <a:xfrm>
            <a:off x="9052560" y="3017520"/>
            <a:ext cx="2651760" cy="2331720"/>
          </a:xfrm>
          <a:prstGeom prst="rect">
            <a:avLst/>
          </a:prstGeom>
          <a:solidFill>
            <a:srgbClr val="FCEFD9"/>
          </a:solidFill>
          <a:ln w="12700">
            <a:solidFill>
              <a:srgbClr val="FCEFD9"/>
            </a:solidFill>
            <a:prstDash val="solid"/>
          </a:ln>
        </p:spPr>
      </p:sp>
      <p:sp>
        <p:nvSpPr>
          <p:cNvPr id="18" name="Text 15"/>
          <p:cNvSpPr txBox="1"/>
          <p:nvPr/>
        </p:nvSpPr>
        <p:spPr>
          <a:xfrm>
            <a:off x="9281160" y="3200400"/>
            <a:ext cx="219456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Capacity</a:t>
            </a:r>
            <a:endParaRPr lang="en-US" sz="1800" dirty="0"/>
          </a:p>
        </p:txBody>
      </p:sp>
      <p:sp>
        <p:nvSpPr>
          <p:cNvPr id="19" name="Text 16"/>
          <p:cNvSpPr txBox="1"/>
          <p:nvPr/>
        </p:nvSpPr>
        <p:spPr>
          <a:xfrm>
            <a:off x="9281160" y="3657600"/>
            <a:ext cx="2194560" cy="155448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Review capacity bounds throughput. Balance generation against oversight or build a queue.</a:t>
            </a:r>
            <a:endParaRPr lang="en-US" sz="1400" dirty="0"/>
          </a:p>
        </p:txBody>
      </p:sp>
      <p:sp>
        <p:nvSpPr>
          <p:cNvPr id="20" name="Shape 17"/>
          <p:cNvSpPr/>
          <p:nvPr/>
        </p:nvSpPr>
        <p:spPr>
          <a:xfrm>
            <a:off x="548640" y="5669280"/>
            <a:ext cx="11091672" cy="566928"/>
          </a:xfrm>
          <a:prstGeom prst="rect">
            <a:avLst/>
          </a:prstGeom>
          <a:solidFill>
            <a:srgbClr val="F3F6F5"/>
          </a:solidFill>
          <a:ln w="12700">
            <a:solidFill>
              <a:srgbClr val="F3F6F5"/>
            </a:solidFill>
            <a:prstDash val="solid"/>
          </a:ln>
        </p:spPr>
      </p:sp>
      <p:sp>
        <p:nvSpPr>
          <p:cNvPr id="21" name="Text 18"/>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Throughput is bounded by review capacity.</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A4  |  UNIT ECONOMICS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Measure cost per completed decision, not cost per request</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19</a:t>
            </a:r>
            <a:endParaRPr lang="en-US" sz="900" dirty="0"/>
          </a:p>
        </p:txBody>
      </p:sp>
      <p:sp>
        <p:nvSpPr>
          <p:cNvPr id="6" name="Shape 3"/>
          <p:cNvSpPr/>
          <p:nvPr/>
        </p:nvSpPr>
        <p:spPr>
          <a:xfrm>
            <a:off x="548640" y="1737360"/>
            <a:ext cx="11091672" cy="1005840"/>
          </a:xfrm>
          <a:prstGeom prst="rect">
            <a:avLst/>
          </a:prstGeom>
          <a:solidFill>
            <a:srgbClr val="12302F"/>
          </a:solidFill>
          <a:ln w="12700">
            <a:solidFill>
              <a:srgbClr val="12302F"/>
            </a:solidFill>
            <a:prstDash val="solid"/>
          </a:ln>
        </p:spPr>
      </p:sp>
      <p:sp>
        <p:nvSpPr>
          <p:cNvPr id="7" name="Text 4"/>
          <p:cNvSpPr txBox="1"/>
          <p:nvPr/>
        </p:nvSpPr>
        <p:spPr>
          <a:xfrm>
            <a:off x="731520" y="1737360"/>
            <a:ext cx="1069848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token compute + (review minutes × loaded rate) + (QA rate × exception cost)</a:t>
            </a:r>
            <a:endParaRPr lang="en-US" sz="1600" dirty="0"/>
          </a:p>
        </p:txBody>
      </p:sp>
      <p:sp>
        <p:nvSpPr>
          <p:cNvPr id="8" name="Shape 5"/>
          <p:cNvSpPr/>
          <p:nvPr/>
        </p:nvSpPr>
        <p:spPr>
          <a:xfrm>
            <a:off x="548640" y="3017520"/>
            <a:ext cx="3520440" cy="2103120"/>
          </a:xfrm>
          <a:prstGeom prst="rect">
            <a:avLst/>
          </a:prstGeom>
          <a:solidFill>
            <a:srgbClr val="F3F6F5"/>
          </a:solidFill>
          <a:ln w="12700">
            <a:solidFill>
              <a:srgbClr val="F3F6F5"/>
            </a:solidFill>
            <a:prstDash val="solid"/>
          </a:ln>
        </p:spPr>
      </p:sp>
      <p:sp>
        <p:nvSpPr>
          <p:cNvPr id="9" name="Text 6"/>
          <p:cNvSpPr txBox="1"/>
          <p:nvPr/>
        </p:nvSpPr>
        <p:spPr>
          <a:xfrm>
            <a:off x="822960" y="3200400"/>
            <a:ext cx="301752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Term 1: architecture</a:t>
            </a:r>
            <a:endParaRPr lang="en-US" sz="1800" dirty="0"/>
          </a:p>
        </p:txBody>
      </p:sp>
      <p:sp>
        <p:nvSpPr>
          <p:cNvPr id="10" name="Text 7"/>
          <p:cNvSpPr txBox="1"/>
          <p:nvPr/>
        </p:nvSpPr>
        <p:spPr>
          <a:xfrm>
            <a:off x="822960" y="3657600"/>
            <a:ext cx="3017520" cy="13716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300+ raw alerts into prompts nightly, versus routine data resolved in code and 12 decisions sent to AI.</a:t>
            </a:r>
            <a:endParaRPr lang="en-US" sz="1400" dirty="0"/>
          </a:p>
        </p:txBody>
      </p:sp>
      <p:sp>
        <p:nvSpPr>
          <p:cNvPr id="11" name="Shape 8"/>
          <p:cNvSpPr/>
          <p:nvPr/>
        </p:nvSpPr>
        <p:spPr>
          <a:xfrm>
            <a:off x="4370832" y="3017520"/>
            <a:ext cx="3520440" cy="2103120"/>
          </a:xfrm>
          <a:prstGeom prst="rect">
            <a:avLst/>
          </a:prstGeom>
          <a:solidFill>
            <a:srgbClr val="F3F6F5"/>
          </a:solidFill>
          <a:ln w="12700">
            <a:solidFill>
              <a:srgbClr val="F3F6F5"/>
            </a:solidFill>
            <a:prstDash val="solid"/>
          </a:ln>
        </p:spPr>
      </p:sp>
      <p:sp>
        <p:nvSpPr>
          <p:cNvPr id="12" name="Text 9"/>
          <p:cNvSpPr txBox="1"/>
          <p:nvPr/>
        </p:nvSpPr>
        <p:spPr>
          <a:xfrm>
            <a:off x="4645152" y="3200400"/>
            <a:ext cx="301752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Term 2: productivity</a:t>
            </a:r>
            <a:endParaRPr lang="en-US" sz="1800" dirty="0"/>
          </a:p>
        </p:txBody>
      </p:sp>
      <p:sp>
        <p:nvSpPr>
          <p:cNvPr id="13" name="Text 10"/>
          <p:cNvSpPr txBox="1"/>
          <p:nvPr/>
        </p:nvSpPr>
        <p:spPr>
          <a:xfrm>
            <a:off x="4645152" y="3657600"/>
            <a:ext cx="3017520" cy="13716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Structured evidence packages cut review from 20 minutes to 30 seconds.</a:t>
            </a:r>
            <a:endParaRPr lang="en-US" sz="1400" dirty="0"/>
          </a:p>
        </p:txBody>
      </p:sp>
      <p:sp>
        <p:nvSpPr>
          <p:cNvPr id="14" name="Shape 11"/>
          <p:cNvSpPr/>
          <p:nvPr/>
        </p:nvSpPr>
        <p:spPr>
          <a:xfrm>
            <a:off x="8193024" y="3017520"/>
            <a:ext cx="3520440" cy="2103120"/>
          </a:xfrm>
          <a:prstGeom prst="rect">
            <a:avLst/>
          </a:prstGeom>
          <a:solidFill>
            <a:srgbClr val="F3F6F5"/>
          </a:solidFill>
          <a:ln w="12700">
            <a:solidFill>
              <a:srgbClr val="F3F6F5"/>
            </a:solidFill>
            <a:prstDash val="solid"/>
          </a:ln>
        </p:spPr>
      </p:sp>
      <p:sp>
        <p:nvSpPr>
          <p:cNvPr id="15" name="Text 12"/>
          <p:cNvSpPr txBox="1"/>
          <p:nvPr/>
        </p:nvSpPr>
        <p:spPr>
          <a:xfrm>
            <a:off x="8467344" y="3200400"/>
            <a:ext cx="3017520" cy="411480"/>
          </a:xfrm>
          <a:prstGeom prst="rect">
            <a:avLst/>
          </a:prstGeom>
          <a:noFill/>
          <a:ln/>
        </p:spPr>
        <p:txBody>
          <a:bodyPr wrap="square" lIns="0" tIns="0" rIns="0" bIns="0" rtlCol="0" anchor="ctr"/>
          <a:lstStyle/>
          <a:p>
            <a:pPr indent="0" marL="0">
              <a:buNone/>
            </a:pPr>
            <a:r>
              <a:rPr lang="en-US" sz="1800" b="1" dirty="0">
                <a:solidFill>
                  <a:srgbClr val="1E2B2A"/>
                </a:solidFill>
                <a:latin typeface="Cambria" pitchFamily="34" charset="0"/>
                <a:ea typeface="Cambria" pitchFamily="34" charset="-122"/>
                <a:cs typeface="Cambria" pitchFamily="34" charset="-120"/>
              </a:rPr>
              <a:t>Term 3: compounding</a:t>
            </a:r>
            <a:endParaRPr lang="en-US" sz="1800" dirty="0"/>
          </a:p>
        </p:txBody>
      </p:sp>
      <p:sp>
        <p:nvSpPr>
          <p:cNvPr id="16" name="Text 13"/>
          <p:cNvSpPr txBox="1"/>
          <p:nvPr/>
        </p:nvSpPr>
        <p:spPr>
          <a:xfrm>
            <a:off x="8467344" y="3657600"/>
            <a:ext cx="3017520" cy="1371600"/>
          </a:xfrm>
          <a:prstGeom prst="rect">
            <a:avLst/>
          </a:prstGeom>
          <a:noFill/>
          <a:ln/>
        </p:spPr>
        <p:txBody>
          <a:bodyPr wrap="square" lIns="0" tIns="0" rIns="0" bIns="0" rtlCol="0" anchor="t"/>
          <a:lstStyle/>
          <a:p>
            <a:pPr indent="0" marL="0">
              <a:buNone/>
            </a:pPr>
            <a:r>
              <a:rPr lang="en-US" sz="1400" dirty="0">
                <a:solidFill>
                  <a:srgbClr val="5E6B6A"/>
                </a:solidFill>
                <a:latin typeface="Calibri" pitchFamily="34" charset="0"/>
                <a:ea typeface="Calibri" pitchFamily="34" charset="-122"/>
                <a:cs typeface="Calibri" pitchFamily="34" charset="-120"/>
              </a:rPr>
              <a:t>Verified, defect-free execution earns delegation to higher autonomy.</a:t>
            </a:r>
            <a:endParaRPr lang="en-US" sz="1400" dirty="0"/>
          </a:p>
        </p:txBody>
      </p:sp>
      <p:sp>
        <p:nvSpPr>
          <p:cNvPr id="17" name="Text 14"/>
          <p:cNvSpPr txBox="1"/>
          <p:nvPr/>
        </p:nvSpPr>
        <p:spPr>
          <a:xfrm>
            <a:off x="548640" y="5193792"/>
            <a:ext cx="7315200" cy="274320"/>
          </a:xfrm>
          <a:prstGeom prst="rect">
            <a:avLst/>
          </a:prstGeom>
          <a:noFill/>
          <a:ln/>
        </p:spPr>
        <p:txBody>
          <a:bodyPr wrap="square" lIns="0" tIns="0" rIns="0" bIns="0" rtlCol="0" anchor="ctr"/>
          <a:lstStyle/>
          <a:p>
            <a:pPr indent="0" marL="0">
              <a:buNone/>
            </a:pPr>
            <a:r>
              <a:rPr lang="en-US" sz="1100" i="1" dirty="0">
                <a:solidFill>
                  <a:srgbClr val="5E6B6A"/>
                </a:solidFill>
                <a:latin typeface="Calibri" pitchFamily="34" charset="0"/>
                <a:ea typeface="Calibri" pitchFamily="34" charset="-122"/>
                <a:cs typeface="Calibri" pitchFamily="34" charset="-120"/>
              </a:rPr>
              <a:t>Examples on this slide are illustrative.</a:t>
            </a:r>
            <a:endParaRPr lang="en-US" sz="1100" dirty="0"/>
          </a:p>
        </p:txBody>
      </p:sp>
      <p:sp>
        <p:nvSpPr>
          <p:cNvPr id="18" name="Shape 15"/>
          <p:cNvSpPr/>
          <p:nvPr/>
        </p:nvSpPr>
        <p:spPr>
          <a:xfrm>
            <a:off x="548640" y="5669280"/>
            <a:ext cx="11091672" cy="566928"/>
          </a:xfrm>
          <a:prstGeom prst="rect">
            <a:avLst/>
          </a:prstGeom>
          <a:solidFill>
            <a:srgbClr val="F3F6F5"/>
          </a:solidFill>
          <a:ln w="12700">
            <a:solidFill>
              <a:srgbClr val="F3F6F5"/>
            </a:solidFill>
            <a:prstDash val="solid"/>
          </a:ln>
        </p:spPr>
      </p:sp>
      <p:sp>
        <p:nvSpPr>
          <p:cNvPr id="19" name="Text 16"/>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Diligence standard: </a:t>
            </a:r>
            <a:pPr indent="0" marL="0">
              <a:buNone/>
            </a:pPr>
            <a:r>
              <a:rPr lang="en-US" sz="1500" dirty="0">
                <a:solidFill>
                  <a:srgbClr val="1E2B2A"/>
                </a:solidFill>
                <a:latin typeface="Calibri" pitchFamily="34" charset="0"/>
                <a:ea typeface="Calibri" pitchFamily="34" charset="-122"/>
                <a:cs typeface="Calibri" pitchFamily="34" charset="-120"/>
              </a:rPr>
              <a:t>every vendor and internal team reports cost per completed decision, not API calls.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A5  |  FROM MEETINGS TO CONTROLS</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The five stage gates became commands</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468880"/>
                <a:gridCol w="2834640"/>
                <a:gridCol w="3291840"/>
                <a:gridCol w="2496312"/>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Classic gate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Business question</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 it lives now</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Executed by</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r>
              <a:tr h="566928">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Product requirements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Do we agree on goals and scope?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Process definition and unit-of-work map</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Business leaders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66928">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Preliminary architecture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Is the design sound?</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Workflow visualizer and step classifier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Leader reviewing an AI draft</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Detailed design</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Is the system complete?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22 structural checks, instantly</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Deterministic engine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66928">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Readiness and proof</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Are outputs provably accurate?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Quantitative gate conditions; auto-proof tests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Deterministic engine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Enterprise release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Fit to ship; who accepts it?</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Cryptographic sign-off by a named executive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Named business leader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bl>
          </a:graphicData>
        </a:graphic>
      </p:graphicFrame>
      <p:sp>
        <p:nvSpPr>
          <p:cNvPr id="7" name="Shape 3"/>
          <p:cNvSpPr/>
          <p:nvPr/>
        </p:nvSpPr>
        <p:spPr>
          <a:xfrm>
            <a:off x="548640" y="5669280"/>
            <a:ext cx="11091672" cy="566928"/>
          </a:xfrm>
          <a:prstGeom prst="rect">
            <a:avLst/>
          </a:prstGeom>
          <a:solidFill>
            <a:srgbClr val="F3F6F5"/>
          </a:solidFill>
          <a:ln w="12700">
            <a:solidFill>
              <a:srgbClr val="F3F6F5"/>
            </a:solidFill>
            <a:prstDash val="solid"/>
          </a:ln>
        </p:spPr>
      </p:sp>
      <p:sp>
        <p:nvSpPr>
          <p:cNvPr id="8" name="Text 4"/>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People own requirements and acceptance. </a:t>
            </a:r>
            <a:pPr indent="0" marL="0">
              <a:buNone/>
            </a:pPr>
            <a:r>
              <a:rPr lang="en-US" sz="1500" dirty="0">
                <a:solidFill>
                  <a:srgbClr val="1E2B2A"/>
                </a:solidFill>
                <a:latin typeface="Calibri" pitchFamily="34" charset="0"/>
                <a:ea typeface="Calibri" pitchFamily="34" charset="-122"/>
                <a:cs typeface="Calibri" pitchFamily="34" charset="-120"/>
              </a:rPr>
              <a:t>Machines verify structure on every iteration.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A6  |  AUDITABILITY</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Automated design controls answer the auditor</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926080"/>
                <a:gridCol w="5394960"/>
                <a:gridCol w="2770632"/>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Auditor's question</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Harness answer</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r>
              <a:tr h="512064">
                <a:tc>
                  <a:txBody>
                    <a:bodyPr/>
                    <a:lstStyle/>
                    <a:p>
                      <a:pPr indent="0" marL="0">
                        <a:buNone/>
                      </a:pPr>
                      <a:r>
                        <a:rPr lang="en-US" sz="1300" b="1" dirty="0">
                          <a:solidFill>
                            <a:srgbClr val="1E2B2A"/>
                          </a:solidFill>
                          <a:latin typeface="Calibri" pitchFamily="34" charset="0"/>
                          <a:ea typeface="Calibri" pitchFamily="34" charset="-122"/>
                          <a:cs typeface="Calibri" pitchFamily="34" charset="-120"/>
                        </a:rPr>
                        <a:t>What changed in the logic?</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Version-controlled workflows; unapproved edits block execution</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Diffable history</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300" b="1" dirty="0">
                          <a:solidFill>
                            <a:srgbClr val="1E2B2A"/>
                          </a:solidFill>
                          <a:latin typeface="Calibri" pitchFamily="34" charset="0"/>
                          <a:ea typeface="Calibri" pitchFamily="34" charset="-122"/>
                          <a:cs typeface="Calibri" pitchFamily="34" charset="-120"/>
                        </a:rPr>
                        <a:t>Who authorized it?</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Gate requires a named owner's signature</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Signed acceptance log</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E2B2A"/>
                          </a:solidFill>
                          <a:latin typeface="Calibri" pitchFamily="34" charset="0"/>
                          <a:ea typeface="Calibri" pitchFamily="34" charset="-122"/>
                          <a:cs typeface="Calibri" pitchFamily="34" charset="-120"/>
                        </a:rPr>
                        <a:t>Was approval first?</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Chained ledger; back-dating breaks verification</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Tamper-evident sequence</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300" b="1" dirty="0">
                          <a:solidFill>
                            <a:srgbClr val="1E2B2A"/>
                          </a:solidFill>
                          <a:latin typeface="Calibri" pitchFamily="34" charset="0"/>
                          <a:ea typeface="Calibri" pitchFamily="34" charset="-122"/>
                          <a:cs typeface="Calibri" pitchFamily="34" charset="-120"/>
                        </a:rPr>
                        <a:t>Does execution match design?</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Build verifies live controls against the spec</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Automated parity proof</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E2B2A"/>
                          </a:solidFill>
                          <a:latin typeface="Calibri" pitchFamily="34" charset="0"/>
                          <a:ea typeface="Calibri" pitchFamily="34" charset="-122"/>
                          <a:cs typeface="Calibri" pitchFamily="34" charset="-120"/>
                        </a:rPr>
                        <a:t>Were outputs uncorrupted?</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Checksummed at generation; re-verified continuously</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Cryptographic proof logs</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300" b="1" dirty="0">
                          <a:solidFill>
                            <a:srgbClr val="1E2B2A"/>
                          </a:solidFill>
                          <a:latin typeface="Calibri" pitchFamily="34" charset="0"/>
                          <a:ea typeface="Calibri" pitchFamily="34" charset="-122"/>
                          <a:cs typeface="Calibri" pitchFamily="34" charset="-120"/>
                        </a:rPr>
                        <a:t>Who can modify controls?</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Separation of duties enforced in code</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300" dirty="0">
                          <a:solidFill>
                            <a:srgbClr val="1E2B2A"/>
                          </a:solidFill>
                          <a:latin typeface="Calibri" pitchFamily="34" charset="0"/>
                          <a:ea typeface="Calibri" pitchFamily="34" charset="-122"/>
                          <a:cs typeface="Calibri" pitchFamily="34" charset="-120"/>
                        </a:rPr>
                        <a:t>Role-based audit trail</a:t>
                      </a:r>
                      <a:endParaRPr lang="en-US" sz="13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669280"/>
            <a:ext cx="11091672" cy="566928"/>
          </a:xfrm>
          <a:prstGeom prst="rect">
            <a:avLst/>
          </a:prstGeom>
          <a:solidFill>
            <a:srgbClr val="F3F6F5"/>
          </a:solidFill>
          <a:ln w="12700">
            <a:solidFill>
              <a:srgbClr val="F3F6F5"/>
            </a:solidFill>
            <a:prstDash val="solid"/>
          </a:ln>
        </p:spPr>
      </p:sp>
      <p:sp>
        <p:nvSpPr>
          <p:cNvPr id="8" name="Text 4"/>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SOX §404, 21 CFR Part 11, HIPAA §164.312. </a:t>
            </a:r>
            <a:pPr indent="0" marL="0">
              <a:buNone/>
            </a:pPr>
            <a:r>
              <a:rPr lang="en-US" sz="1500" dirty="0">
                <a:solidFill>
                  <a:srgbClr val="1E2B2A"/>
                </a:solidFill>
                <a:latin typeface="Calibri" pitchFamily="34" charset="0"/>
                <a:ea typeface="Calibri" pitchFamily="34" charset="-122"/>
                <a:cs typeface="Calibri" pitchFamily="34" charset="-120"/>
              </a:rPr>
              <a:t>A vendor model update is a logic change: log the version and re-verify.</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A7  |  ARTIFACT 4 CONTINUED</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The executive scorecard</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3566160"/>
                <a:gridCol w="3291840"/>
                <a:gridCol w="4233672"/>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Decision it drives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Cost per completed decision</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Cost ledger + unit register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Expand, re-scope, or scale the process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Oversight minutes per unit</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Unit register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Reallocate talent to higher-value work</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Verified pass rate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Unit register + evidence store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Promote to a higher autonomy tier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Exception and refusal rate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Unit register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Tune rules and risk parameters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NRE burn against stage exits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Cost ledger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Approve stage funding or adjust build pace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Escaped defects (target: zero)</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Evidence store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Go or no-go quality check</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669280"/>
            <a:ext cx="11091672" cy="566928"/>
          </a:xfrm>
          <a:prstGeom prst="rect">
            <a:avLst/>
          </a:prstGeom>
          <a:solidFill>
            <a:srgbClr val="F3F6F5"/>
          </a:solidFill>
          <a:ln w="12700">
            <a:solidFill>
              <a:srgbClr val="F3F6F5"/>
            </a:solidFill>
            <a:prstDash val="solid"/>
          </a:ln>
        </p:spPr>
      </p:sp>
      <p:sp>
        <p:nvSpPr>
          <p:cNvPr id="8" name="Text 4"/>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Baseline first. </a:t>
            </a:r>
            <a:pPr indent="0" marL="0">
              <a:buNone/>
            </a:pPr>
            <a:r>
              <a:rPr lang="en-US" sz="1500" dirty="0">
                <a:solidFill>
                  <a:srgbClr val="1E2B2A"/>
                </a:solidFill>
                <a:latin typeface="Calibri" pitchFamily="34" charset="0"/>
                <a:ea typeface="Calibri" pitchFamily="34" charset="-122"/>
                <a:cs typeface="Calibri" pitchFamily="34" charset="-120"/>
              </a:rPr>
              <a:t>Without today's manual metrics, the result cannot be proven.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100" b="1" spc="200" kern="0" dirty="0">
                <a:solidFill>
                  <a:srgbClr val="1F6F6B"/>
                </a:solidFill>
                <a:latin typeface="Calibri" pitchFamily="34" charset="0"/>
                <a:ea typeface="Calibri" pitchFamily="34" charset="-122"/>
                <a:cs typeface="Calibri" pitchFamily="34" charset="-120"/>
              </a:rPr>
              <a:t>APPENDIX A8  |  REVIEW CADENCE</a:t>
            </a:r>
            <a:endParaRPr lang="en-US" sz="11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indent="0" marL="0">
              <a:buNone/>
            </a:pPr>
            <a:r>
              <a:rPr lang="en-US" sz="3200" b="1" dirty="0">
                <a:solidFill>
                  <a:srgbClr val="1E2B2A"/>
                </a:solidFill>
                <a:latin typeface="Cambria" pitchFamily="34" charset="0"/>
                <a:ea typeface="Cambria" pitchFamily="34" charset="-122"/>
                <a:cs typeface="Cambria" pitchFamily="34" charset="-120"/>
              </a:rPr>
              <a:t>Continuous review holds the result</a:t>
            </a:r>
            <a:endParaRPr lang="en-US" sz="3200" dirty="0"/>
          </a:p>
        </p:txBody>
      </p:sp>
      <p:sp>
        <p:nvSpPr>
          <p:cNvPr id="4" name="Text 2"/>
          <p:cNvSpPr txBox="1"/>
          <p:nvPr/>
        </p:nvSpPr>
        <p:spPr>
          <a:xfrm>
            <a:off x="548640" y="6400800"/>
            <a:ext cx="4572000" cy="228600"/>
          </a:xfrm>
          <a:prstGeom prst="rect">
            <a:avLst/>
          </a:prstGeom>
          <a:noFill/>
          <a:ln/>
        </p:spPr>
        <p:txBody>
          <a:bodyPr wrap="square" lIns="0" tIns="0" rIns="0" bIns="0" rtlCol="0" anchor="ctr"/>
          <a:lstStyle/>
          <a:p>
            <a:pPr indent="0" marL="0">
              <a:buNone/>
            </a:pPr>
            <a:r>
              <a:rPr lang="en-US" sz="900" dirty="0">
                <a:solidFill>
                  <a:srgbClr val="5E6B6A"/>
                </a:solidFill>
                <a:latin typeface="Calibri" pitchFamily="34" charset="0"/>
                <a:ea typeface="Calibri" pitchFamily="34" charset="-122"/>
                <a:cs typeface="Calibri" pitchFamily="34" charset="-120"/>
              </a:rPr>
              <a:t>The Agentic Harness  |  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377440"/>
                <a:gridCol w="5669280"/>
                <a:gridCol w="3044952"/>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Frequency</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Review focus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1F6F6B"/>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Every run</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Exception flags, refusal logs, guardrail alerts</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Process owner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Monthly</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Cost per completed decision against target</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Business leader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Quarterly</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Oversight time; whether to raise the autonomy tier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Leader and process owner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On model change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Full verification suite re-run</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Lead systems architect</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E2B2A"/>
                          </a:solidFill>
                          <a:latin typeface="Calibri" pitchFamily="34" charset="0"/>
                          <a:ea typeface="Calibri" pitchFamily="34" charset="-122"/>
                          <a:cs typeface="Calibri" pitchFamily="34" charset="-120"/>
                        </a:rPr>
                        <a:t>On process change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Stage 2 reopens: new design, new signature</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c>
                  <a:txBody>
                    <a:bodyPr/>
                    <a:lstStyle/>
                    <a:p>
                      <a:pPr indent="0" marL="0">
                        <a:buNone/>
                      </a:pPr>
                      <a:r>
                        <a:rPr lang="en-US" sz="1400" dirty="0">
                          <a:solidFill>
                            <a:srgbClr val="1E2B2A"/>
                          </a:solidFill>
                          <a:latin typeface="Calibri" pitchFamily="34" charset="0"/>
                          <a:ea typeface="Calibri" pitchFamily="34" charset="-122"/>
                          <a:cs typeface="Calibri" pitchFamily="34" charset="-120"/>
                        </a:rPr>
                        <a:t>Business leader</a:t>
                      </a:r>
                      <a:endParaRPr lang="en-US" sz="1400" dirty="0">
                        <a:latin typeface="Calibri" charset="0"/>
                        <a:ea typeface="Calibri" charset="0"/>
                        <a:cs typeface="Calibri" charset="0"/>
                      </a:endParaRPr>
                    </a:p>
                  </a:txBody>
                  <a:tcPr marL="101600" marR="101600" marT="63500" marB="6350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3F6F5"/>
                    </a:solidFill>
                  </a:tcPr>
                </a:tc>
              </a:tr>
            </a:tbl>
          </a:graphicData>
        </a:graphic>
      </p:graphicFrame>
      <p:sp>
        <p:nvSpPr>
          <p:cNvPr id="7" name="Shape 3"/>
          <p:cNvSpPr/>
          <p:nvPr/>
        </p:nvSpPr>
        <p:spPr>
          <a:xfrm>
            <a:off x="548640" y="5669280"/>
            <a:ext cx="11091672" cy="566928"/>
          </a:xfrm>
          <a:prstGeom prst="rect">
            <a:avLst/>
          </a:prstGeom>
          <a:solidFill>
            <a:srgbClr val="F3F6F5"/>
          </a:solidFill>
          <a:ln w="12700">
            <a:solidFill>
              <a:srgbClr val="F3F6F5"/>
            </a:solidFill>
            <a:prstDash val="solid"/>
          </a:ln>
        </p:spPr>
      </p:sp>
      <p:sp>
        <p:nvSpPr>
          <p:cNvPr id="8" name="Text 4"/>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500" b="1" dirty="0">
                <a:solidFill>
                  <a:srgbClr val="1E2B2A"/>
                </a:solidFill>
                <a:latin typeface="Calibri" pitchFamily="34" charset="0"/>
                <a:ea typeface="Calibri" pitchFamily="34" charset="-122"/>
                <a:cs typeface="Calibri" pitchFamily="34" charset="-120"/>
              </a:rPr>
              <a:t>Name the approver and write the exit threshold </a:t>
            </a:r>
            <a:pPr indent="0" marL="0">
              <a:buNone/>
            </a:pPr>
            <a:r>
              <a:rPr lang="en-US" sz="1500" dirty="0">
                <a:solidFill>
                  <a:srgbClr val="1E2B2A"/>
                </a:solidFill>
                <a:latin typeface="Calibri" pitchFamily="34" charset="0"/>
                <a:ea typeface="Calibri" pitchFamily="34" charset="-122"/>
                <a:cs typeface="Calibri" pitchFamily="34" charset="-120"/>
              </a:rPr>
              <a:t>while enthusiasm is high.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Agentic Harness</dc:title>
  <dc:subject>PptxGenJS Presentation</dc:subject>
  <dc:creator>Chris O'Neil</dc:creator>
  <cp:lastModifiedBy>Chris O'Neil</cp:lastModifiedBy>
  <cp:revision>1</cp:revision>
  <dcterms:created xsi:type="dcterms:W3CDTF">2026-09-23T16:21:30Z</dcterms:created>
  <dcterms:modified xsi:type="dcterms:W3CDTF">2026-09-23T16:21:30Z</dcterms:modified>
</cp:coreProperties>
</file>